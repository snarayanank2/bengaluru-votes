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2B"/>
        </a:solidFill>
      </p:bgPr>
    </p:bg>
    <p:spTree>
      <p:nvGrpSpPr>
        <p:cNvPr id="1" name=""/>
        <p:cNvGrpSpPr/>
        <p:nvPr/>
      </p:nvGrpSpPr>
      <p:grpSpPr>
        <a:xfrm>
          <a:off x="0" y="0"/>
          <a:ext cx="0" cy="0"/>
          <a:chOff x="0" y="0"/>
          <a:chExt cx="0" cy="0"/>
        </a:xfrm>
      </p:grpSpPr>
      <p:sp>
        <p:nvSpPr>
          <p:cNvPr id="2" name="Shape 0"/>
          <p:cNvSpPr/>
          <p:nvPr/>
        </p:nvSpPr>
        <p:spPr>
          <a:xfrm>
            <a:off x="5870448" y="566928"/>
            <a:ext cx="237744" cy="237744"/>
          </a:xfrm>
          <a:prstGeom prst="rect">
            <a:avLst/>
          </a:prstGeom>
          <a:solidFill>
            <a:srgbClr val="3D9A97">
              <a:alpha val="22000"/>
            </a:srgbClr>
          </a:solidFill>
          <a:ln/>
        </p:spPr>
      </p:sp>
      <p:sp>
        <p:nvSpPr>
          <p:cNvPr id="3" name="Shape 1"/>
          <p:cNvSpPr/>
          <p:nvPr/>
        </p:nvSpPr>
        <p:spPr>
          <a:xfrm>
            <a:off x="6176772" y="566928"/>
            <a:ext cx="237744" cy="237744"/>
          </a:xfrm>
          <a:prstGeom prst="rect">
            <a:avLst/>
          </a:prstGeom>
          <a:solidFill>
            <a:srgbClr val="3D9A97">
              <a:alpha val="22000"/>
            </a:srgbClr>
          </a:solidFill>
          <a:ln/>
        </p:spPr>
      </p:sp>
      <p:sp>
        <p:nvSpPr>
          <p:cNvPr id="4" name="Shape 2"/>
          <p:cNvSpPr/>
          <p:nvPr/>
        </p:nvSpPr>
        <p:spPr>
          <a:xfrm>
            <a:off x="6483096" y="566928"/>
            <a:ext cx="237744" cy="237744"/>
          </a:xfrm>
          <a:prstGeom prst="rect">
            <a:avLst/>
          </a:prstGeom>
          <a:solidFill>
            <a:srgbClr val="3D9A97">
              <a:alpha val="22000"/>
            </a:srgbClr>
          </a:solidFill>
          <a:ln/>
        </p:spPr>
      </p:sp>
      <p:sp>
        <p:nvSpPr>
          <p:cNvPr id="5" name="Shape 3"/>
          <p:cNvSpPr/>
          <p:nvPr/>
        </p:nvSpPr>
        <p:spPr>
          <a:xfrm>
            <a:off x="6789420" y="566928"/>
            <a:ext cx="237744" cy="237744"/>
          </a:xfrm>
          <a:prstGeom prst="rect">
            <a:avLst/>
          </a:prstGeom>
          <a:solidFill>
            <a:srgbClr val="3D9A97">
              <a:alpha val="22000"/>
            </a:srgbClr>
          </a:solidFill>
          <a:ln/>
        </p:spPr>
      </p:sp>
      <p:sp>
        <p:nvSpPr>
          <p:cNvPr id="6" name="Shape 4"/>
          <p:cNvSpPr/>
          <p:nvPr/>
        </p:nvSpPr>
        <p:spPr>
          <a:xfrm>
            <a:off x="7095744" y="566928"/>
            <a:ext cx="237744" cy="237744"/>
          </a:xfrm>
          <a:prstGeom prst="rect">
            <a:avLst/>
          </a:prstGeom>
          <a:solidFill>
            <a:srgbClr val="B85416"/>
          </a:solidFill>
          <a:ln/>
        </p:spPr>
      </p:sp>
      <p:sp>
        <p:nvSpPr>
          <p:cNvPr id="7" name="Shape 5"/>
          <p:cNvSpPr/>
          <p:nvPr/>
        </p:nvSpPr>
        <p:spPr>
          <a:xfrm>
            <a:off x="7402068" y="566928"/>
            <a:ext cx="237744" cy="237744"/>
          </a:xfrm>
          <a:prstGeom prst="rect">
            <a:avLst/>
          </a:prstGeom>
          <a:solidFill>
            <a:srgbClr val="3D9A97">
              <a:alpha val="22000"/>
            </a:srgbClr>
          </a:solidFill>
          <a:ln/>
        </p:spPr>
      </p:sp>
      <p:sp>
        <p:nvSpPr>
          <p:cNvPr id="8" name="Shape 6"/>
          <p:cNvSpPr/>
          <p:nvPr/>
        </p:nvSpPr>
        <p:spPr>
          <a:xfrm>
            <a:off x="7708392" y="566928"/>
            <a:ext cx="237744" cy="237744"/>
          </a:xfrm>
          <a:prstGeom prst="rect">
            <a:avLst/>
          </a:prstGeom>
          <a:solidFill>
            <a:srgbClr val="3D9A97">
              <a:alpha val="22000"/>
            </a:srgbClr>
          </a:solidFill>
          <a:ln/>
        </p:spPr>
      </p:sp>
      <p:sp>
        <p:nvSpPr>
          <p:cNvPr id="9" name="Shape 7"/>
          <p:cNvSpPr/>
          <p:nvPr/>
        </p:nvSpPr>
        <p:spPr>
          <a:xfrm>
            <a:off x="8014716" y="566928"/>
            <a:ext cx="237744" cy="237744"/>
          </a:xfrm>
          <a:prstGeom prst="rect">
            <a:avLst/>
          </a:prstGeom>
          <a:solidFill>
            <a:srgbClr val="3D9A97">
              <a:alpha val="22000"/>
            </a:srgbClr>
          </a:solidFill>
          <a:ln/>
        </p:spPr>
      </p:sp>
      <p:sp>
        <p:nvSpPr>
          <p:cNvPr id="10" name="Shape 8"/>
          <p:cNvSpPr/>
          <p:nvPr/>
        </p:nvSpPr>
        <p:spPr>
          <a:xfrm>
            <a:off x="8321040" y="566928"/>
            <a:ext cx="237744" cy="237744"/>
          </a:xfrm>
          <a:prstGeom prst="rect">
            <a:avLst/>
          </a:prstGeom>
          <a:solidFill>
            <a:srgbClr val="3D9A97">
              <a:alpha val="22000"/>
            </a:srgbClr>
          </a:solidFill>
          <a:ln/>
        </p:spPr>
      </p:sp>
      <p:sp>
        <p:nvSpPr>
          <p:cNvPr id="11" name="Shape 9"/>
          <p:cNvSpPr/>
          <p:nvPr/>
        </p:nvSpPr>
        <p:spPr>
          <a:xfrm>
            <a:off x="5870448" y="873252"/>
            <a:ext cx="237744" cy="237744"/>
          </a:xfrm>
          <a:prstGeom prst="rect">
            <a:avLst/>
          </a:prstGeom>
          <a:solidFill>
            <a:srgbClr val="3D9A97">
              <a:alpha val="22000"/>
            </a:srgbClr>
          </a:solidFill>
          <a:ln/>
        </p:spPr>
      </p:sp>
      <p:sp>
        <p:nvSpPr>
          <p:cNvPr id="12" name="Shape 10"/>
          <p:cNvSpPr/>
          <p:nvPr/>
        </p:nvSpPr>
        <p:spPr>
          <a:xfrm>
            <a:off x="6176772" y="873252"/>
            <a:ext cx="237744" cy="237744"/>
          </a:xfrm>
          <a:prstGeom prst="rect">
            <a:avLst/>
          </a:prstGeom>
          <a:solidFill>
            <a:srgbClr val="3D9A97">
              <a:alpha val="22000"/>
            </a:srgbClr>
          </a:solidFill>
          <a:ln/>
        </p:spPr>
      </p:sp>
      <p:sp>
        <p:nvSpPr>
          <p:cNvPr id="13" name="Shape 11"/>
          <p:cNvSpPr/>
          <p:nvPr/>
        </p:nvSpPr>
        <p:spPr>
          <a:xfrm>
            <a:off x="6483096" y="873252"/>
            <a:ext cx="237744" cy="237744"/>
          </a:xfrm>
          <a:prstGeom prst="rect">
            <a:avLst/>
          </a:prstGeom>
          <a:solidFill>
            <a:srgbClr val="3D9A97">
              <a:alpha val="22000"/>
            </a:srgbClr>
          </a:solidFill>
          <a:ln/>
        </p:spPr>
      </p:sp>
      <p:sp>
        <p:nvSpPr>
          <p:cNvPr id="14" name="Shape 12"/>
          <p:cNvSpPr/>
          <p:nvPr/>
        </p:nvSpPr>
        <p:spPr>
          <a:xfrm>
            <a:off x="6789420" y="873252"/>
            <a:ext cx="237744" cy="237744"/>
          </a:xfrm>
          <a:prstGeom prst="rect">
            <a:avLst/>
          </a:prstGeom>
          <a:solidFill>
            <a:srgbClr val="3D9A97">
              <a:alpha val="22000"/>
            </a:srgbClr>
          </a:solidFill>
          <a:ln/>
        </p:spPr>
      </p:sp>
      <p:sp>
        <p:nvSpPr>
          <p:cNvPr id="15" name="Shape 13"/>
          <p:cNvSpPr/>
          <p:nvPr/>
        </p:nvSpPr>
        <p:spPr>
          <a:xfrm>
            <a:off x="7095744" y="873252"/>
            <a:ext cx="237744" cy="237744"/>
          </a:xfrm>
          <a:prstGeom prst="rect">
            <a:avLst/>
          </a:prstGeom>
          <a:solidFill>
            <a:srgbClr val="3D9A97">
              <a:alpha val="22000"/>
            </a:srgbClr>
          </a:solidFill>
          <a:ln/>
        </p:spPr>
      </p:sp>
      <p:sp>
        <p:nvSpPr>
          <p:cNvPr id="16" name="Shape 14"/>
          <p:cNvSpPr/>
          <p:nvPr/>
        </p:nvSpPr>
        <p:spPr>
          <a:xfrm>
            <a:off x="7402068" y="873252"/>
            <a:ext cx="237744" cy="237744"/>
          </a:xfrm>
          <a:prstGeom prst="rect">
            <a:avLst/>
          </a:prstGeom>
          <a:solidFill>
            <a:srgbClr val="3D9A97">
              <a:alpha val="22000"/>
            </a:srgbClr>
          </a:solidFill>
          <a:ln/>
        </p:spPr>
      </p:sp>
      <p:sp>
        <p:nvSpPr>
          <p:cNvPr id="17" name="Shape 15"/>
          <p:cNvSpPr/>
          <p:nvPr/>
        </p:nvSpPr>
        <p:spPr>
          <a:xfrm>
            <a:off x="7708392" y="873252"/>
            <a:ext cx="237744" cy="237744"/>
          </a:xfrm>
          <a:prstGeom prst="rect">
            <a:avLst/>
          </a:prstGeom>
          <a:solidFill>
            <a:srgbClr val="3D9A97">
              <a:alpha val="22000"/>
            </a:srgbClr>
          </a:solidFill>
          <a:ln/>
        </p:spPr>
      </p:sp>
      <p:sp>
        <p:nvSpPr>
          <p:cNvPr id="18" name="Shape 16"/>
          <p:cNvSpPr/>
          <p:nvPr/>
        </p:nvSpPr>
        <p:spPr>
          <a:xfrm>
            <a:off x="8014716" y="873252"/>
            <a:ext cx="237744" cy="237744"/>
          </a:xfrm>
          <a:prstGeom prst="rect">
            <a:avLst/>
          </a:prstGeom>
          <a:solidFill>
            <a:srgbClr val="3D9A97">
              <a:alpha val="22000"/>
            </a:srgbClr>
          </a:solidFill>
          <a:ln/>
        </p:spPr>
      </p:sp>
      <p:sp>
        <p:nvSpPr>
          <p:cNvPr id="19" name="Shape 17"/>
          <p:cNvSpPr/>
          <p:nvPr/>
        </p:nvSpPr>
        <p:spPr>
          <a:xfrm>
            <a:off x="8321040" y="873252"/>
            <a:ext cx="237744" cy="237744"/>
          </a:xfrm>
          <a:prstGeom prst="rect">
            <a:avLst/>
          </a:prstGeom>
          <a:solidFill>
            <a:srgbClr val="3D9A97">
              <a:alpha val="22000"/>
            </a:srgbClr>
          </a:solidFill>
          <a:ln/>
        </p:spPr>
      </p:sp>
      <p:sp>
        <p:nvSpPr>
          <p:cNvPr id="20" name="Shape 18"/>
          <p:cNvSpPr/>
          <p:nvPr/>
        </p:nvSpPr>
        <p:spPr>
          <a:xfrm>
            <a:off x="5870448" y="1179576"/>
            <a:ext cx="237744" cy="237744"/>
          </a:xfrm>
          <a:prstGeom prst="rect">
            <a:avLst/>
          </a:prstGeom>
          <a:solidFill>
            <a:srgbClr val="3D9A97">
              <a:alpha val="22000"/>
            </a:srgbClr>
          </a:solidFill>
          <a:ln/>
        </p:spPr>
      </p:sp>
      <p:sp>
        <p:nvSpPr>
          <p:cNvPr id="21" name="Shape 19"/>
          <p:cNvSpPr/>
          <p:nvPr/>
        </p:nvSpPr>
        <p:spPr>
          <a:xfrm>
            <a:off x="6176772" y="1179576"/>
            <a:ext cx="237744" cy="237744"/>
          </a:xfrm>
          <a:prstGeom prst="rect">
            <a:avLst/>
          </a:prstGeom>
          <a:solidFill>
            <a:srgbClr val="3D9A97">
              <a:alpha val="22000"/>
            </a:srgbClr>
          </a:solidFill>
          <a:ln/>
        </p:spPr>
      </p:sp>
      <p:sp>
        <p:nvSpPr>
          <p:cNvPr id="22" name="Shape 20"/>
          <p:cNvSpPr/>
          <p:nvPr/>
        </p:nvSpPr>
        <p:spPr>
          <a:xfrm>
            <a:off x="6483096" y="1179576"/>
            <a:ext cx="237744" cy="237744"/>
          </a:xfrm>
          <a:prstGeom prst="rect">
            <a:avLst/>
          </a:prstGeom>
          <a:solidFill>
            <a:srgbClr val="3D9A97">
              <a:alpha val="22000"/>
            </a:srgbClr>
          </a:solidFill>
          <a:ln/>
        </p:spPr>
      </p:sp>
      <p:sp>
        <p:nvSpPr>
          <p:cNvPr id="23" name="Shape 21"/>
          <p:cNvSpPr/>
          <p:nvPr/>
        </p:nvSpPr>
        <p:spPr>
          <a:xfrm>
            <a:off x="6789420" y="1179576"/>
            <a:ext cx="237744" cy="237744"/>
          </a:xfrm>
          <a:prstGeom prst="rect">
            <a:avLst/>
          </a:prstGeom>
          <a:solidFill>
            <a:srgbClr val="B85416"/>
          </a:solidFill>
          <a:ln/>
        </p:spPr>
      </p:sp>
      <p:sp>
        <p:nvSpPr>
          <p:cNvPr id="24" name="Shape 22"/>
          <p:cNvSpPr/>
          <p:nvPr/>
        </p:nvSpPr>
        <p:spPr>
          <a:xfrm>
            <a:off x="7095744" y="1179576"/>
            <a:ext cx="237744" cy="237744"/>
          </a:xfrm>
          <a:prstGeom prst="rect">
            <a:avLst/>
          </a:prstGeom>
          <a:solidFill>
            <a:srgbClr val="3D9A97">
              <a:alpha val="22000"/>
            </a:srgbClr>
          </a:solidFill>
          <a:ln/>
        </p:spPr>
      </p:sp>
      <p:sp>
        <p:nvSpPr>
          <p:cNvPr id="25" name="Shape 23"/>
          <p:cNvSpPr/>
          <p:nvPr/>
        </p:nvSpPr>
        <p:spPr>
          <a:xfrm>
            <a:off x="7402068" y="1179576"/>
            <a:ext cx="237744" cy="237744"/>
          </a:xfrm>
          <a:prstGeom prst="rect">
            <a:avLst/>
          </a:prstGeom>
          <a:solidFill>
            <a:srgbClr val="3D9A97">
              <a:alpha val="22000"/>
            </a:srgbClr>
          </a:solidFill>
          <a:ln/>
        </p:spPr>
      </p:sp>
      <p:sp>
        <p:nvSpPr>
          <p:cNvPr id="26" name="Shape 24"/>
          <p:cNvSpPr/>
          <p:nvPr/>
        </p:nvSpPr>
        <p:spPr>
          <a:xfrm>
            <a:off x="7708392" y="1179576"/>
            <a:ext cx="237744" cy="237744"/>
          </a:xfrm>
          <a:prstGeom prst="rect">
            <a:avLst/>
          </a:prstGeom>
          <a:solidFill>
            <a:srgbClr val="3D9A97">
              <a:alpha val="22000"/>
            </a:srgbClr>
          </a:solidFill>
          <a:ln/>
        </p:spPr>
      </p:sp>
      <p:sp>
        <p:nvSpPr>
          <p:cNvPr id="27" name="Shape 25"/>
          <p:cNvSpPr/>
          <p:nvPr/>
        </p:nvSpPr>
        <p:spPr>
          <a:xfrm>
            <a:off x="8014716" y="1179576"/>
            <a:ext cx="237744" cy="237744"/>
          </a:xfrm>
          <a:prstGeom prst="rect">
            <a:avLst/>
          </a:prstGeom>
          <a:solidFill>
            <a:srgbClr val="3D9A97">
              <a:alpha val="22000"/>
            </a:srgbClr>
          </a:solidFill>
          <a:ln/>
        </p:spPr>
      </p:sp>
      <p:sp>
        <p:nvSpPr>
          <p:cNvPr id="28" name="Shape 26"/>
          <p:cNvSpPr/>
          <p:nvPr/>
        </p:nvSpPr>
        <p:spPr>
          <a:xfrm>
            <a:off x="8321040" y="1179576"/>
            <a:ext cx="237744" cy="237744"/>
          </a:xfrm>
          <a:prstGeom prst="rect">
            <a:avLst/>
          </a:prstGeom>
          <a:solidFill>
            <a:srgbClr val="3D9A97">
              <a:alpha val="22000"/>
            </a:srgbClr>
          </a:solidFill>
          <a:ln/>
        </p:spPr>
      </p:sp>
      <p:sp>
        <p:nvSpPr>
          <p:cNvPr id="29" name="Shape 27"/>
          <p:cNvSpPr/>
          <p:nvPr/>
        </p:nvSpPr>
        <p:spPr>
          <a:xfrm>
            <a:off x="5870448" y="1485900"/>
            <a:ext cx="237744" cy="237744"/>
          </a:xfrm>
          <a:prstGeom prst="rect">
            <a:avLst/>
          </a:prstGeom>
          <a:solidFill>
            <a:srgbClr val="3D9A97">
              <a:alpha val="22000"/>
            </a:srgbClr>
          </a:solidFill>
          <a:ln/>
        </p:spPr>
      </p:sp>
      <p:sp>
        <p:nvSpPr>
          <p:cNvPr id="30" name="Shape 28"/>
          <p:cNvSpPr/>
          <p:nvPr/>
        </p:nvSpPr>
        <p:spPr>
          <a:xfrm>
            <a:off x="6176772" y="1485900"/>
            <a:ext cx="237744" cy="237744"/>
          </a:xfrm>
          <a:prstGeom prst="rect">
            <a:avLst/>
          </a:prstGeom>
          <a:solidFill>
            <a:srgbClr val="3D9A97">
              <a:alpha val="22000"/>
            </a:srgbClr>
          </a:solidFill>
          <a:ln/>
        </p:spPr>
      </p:sp>
      <p:sp>
        <p:nvSpPr>
          <p:cNvPr id="31" name="Shape 29"/>
          <p:cNvSpPr/>
          <p:nvPr/>
        </p:nvSpPr>
        <p:spPr>
          <a:xfrm>
            <a:off x="6483096" y="1485900"/>
            <a:ext cx="237744" cy="237744"/>
          </a:xfrm>
          <a:prstGeom prst="rect">
            <a:avLst/>
          </a:prstGeom>
          <a:solidFill>
            <a:srgbClr val="3D9A97">
              <a:alpha val="22000"/>
            </a:srgbClr>
          </a:solidFill>
          <a:ln/>
        </p:spPr>
      </p:sp>
      <p:sp>
        <p:nvSpPr>
          <p:cNvPr id="32" name="Shape 30"/>
          <p:cNvSpPr/>
          <p:nvPr/>
        </p:nvSpPr>
        <p:spPr>
          <a:xfrm>
            <a:off x="6789420" y="1485900"/>
            <a:ext cx="237744" cy="237744"/>
          </a:xfrm>
          <a:prstGeom prst="rect">
            <a:avLst/>
          </a:prstGeom>
          <a:solidFill>
            <a:srgbClr val="3D9A97">
              <a:alpha val="22000"/>
            </a:srgbClr>
          </a:solidFill>
          <a:ln/>
        </p:spPr>
      </p:sp>
      <p:sp>
        <p:nvSpPr>
          <p:cNvPr id="33" name="Shape 31"/>
          <p:cNvSpPr/>
          <p:nvPr/>
        </p:nvSpPr>
        <p:spPr>
          <a:xfrm>
            <a:off x="7095744" y="1485900"/>
            <a:ext cx="237744" cy="237744"/>
          </a:xfrm>
          <a:prstGeom prst="rect">
            <a:avLst/>
          </a:prstGeom>
          <a:solidFill>
            <a:srgbClr val="3D9A97">
              <a:alpha val="22000"/>
            </a:srgbClr>
          </a:solidFill>
          <a:ln/>
        </p:spPr>
      </p:sp>
      <p:sp>
        <p:nvSpPr>
          <p:cNvPr id="34" name="Shape 32"/>
          <p:cNvSpPr/>
          <p:nvPr/>
        </p:nvSpPr>
        <p:spPr>
          <a:xfrm>
            <a:off x="7402068" y="1485900"/>
            <a:ext cx="237744" cy="237744"/>
          </a:xfrm>
          <a:prstGeom prst="rect">
            <a:avLst/>
          </a:prstGeom>
          <a:solidFill>
            <a:srgbClr val="3D9A97">
              <a:alpha val="22000"/>
            </a:srgbClr>
          </a:solidFill>
          <a:ln/>
        </p:spPr>
      </p:sp>
      <p:sp>
        <p:nvSpPr>
          <p:cNvPr id="35" name="Shape 33"/>
          <p:cNvSpPr/>
          <p:nvPr/>
        </p:nvSpPr>
        <p:spPr>
          <a:xfrm>
            <a:off x="7708392" y="1485900"/>
            <a:ext cx="237744" cy="237744"/>
          </a:xfrm>
          <a:prstGeom prst="rect">
            <a:avLst/>
          </a:prstGeom>
          <a:solidFill>
            <a:srgbClr val="3D9A97">
              <a:alpha val="22000"/>
            </a:srgbClr>
          </a:solidFill>
          <a:ln/>
        </p:spPr>
      </p:sp>
      <p:sp>
        <p:nvSpPr>
          <p:cNvPr id="36" name="Shape 34"/>
          <p:cNvSpPr/>
          <p:nvPr/>
        </p:nvSpPr>
        <p:spPr>
          <a:xfrm>
            <a:off x="8014716" y="1485900"/>
            <a:ext cx="237744" cy="237744"/>
          </a:xfrm>
          <a:prstGeom prst="rect">
            <a:avLst/>
          </a:prstGeom>
          <a:solidFill>
            <a:srgbClr val="3D9A97">
              <a:alpha val="22000"/>
            </a:srgbClr>
          </a:solidFill>
          <a:ln/>
        </p:spPr>
      </p:sp>
      <p:sp>
        <p:nvSpPr>
          <p:cNvPr id="37" name="Shape 35"/>
          <p:cNvSpPr/>
          <p:nvPr/>
        </p:nvSpPr>
        <p:spPr>
          <a:xfrm>
            <a:off x="8321040" y="1485900"/>
            <a:ext cx="237744" cy="237744"/>
          </a:xfrm>
          <a:prstGeom prst="rect">
            <a:avLst/>
          </a:prstGeom>
          <a:solidFill>
            <a:srgbClr val="3D9A97">
              <a:alpha val="22000"/>
            </a:srgbClr>
          </a:solidFill>
          <a:ln/>
        </p:spPr>
      </p:sp>
      <p:sp>
        <p:nvSpPr>
          <p:cNvPr id="38" name="Shape 36"/>
          <p:cNvSpPr/>
          <p:nvPr/>
        </p:nvSpPr>
        <p:spPr>
          <a:xfrm>
            <a:off x="5870448" y="1792224"/>
            <a:ext cx="237744" cy="237744"/>
          </a:xfrm>
          <a:prstGeom prst="rect">
            <a:avLst/>
          </a:prstGeom>
          <a:solidFill>
            <a:srgbClr val="3D9A97">
              <a:alpha val="22000"/>
            </a:srgbClr>
          </a:solidFill>
          <a:ln/>
        </p:spPr>
      </p:sp>
      <p:sp>
        <p:nvSpPr>
          <p:cNvPr id="39" name="Shape 37"/>
          <p:cNvSpPr/>
          <p:nvPr/>
        </p:nvSpPr>
        <p:spPr>
          <a:xfrm>
            <a:off x="6176772" y="1792224"/>
            <a:ext cx="237744" cy="237744"/>
          </a:xfrm>
          <a:prstGeom prst="rect">
            <a:avLst/>
          </a:prstGeom>
          <a:solidFill>
            <a:srgbClr val="3D9A97">
              <a:alpha val="22000"/>
            </a:srgbClr>
          </a:solidFill>
          <a:ln/>
        </p:spPr>
      </p:sp>
      <p:sp>
        <p:nvSpPr>
          <p:cNvPr id="40" name="Shape 38"/>
          <p:cNvSpPr/>
          <p:nvPr/>
        </p:nvSpPr>
        <p:spPr>
          <a:xfrm>
            <a:off x="6483096" y="1792224"/>
            <a:ext cx="237744" cy="237744"/>
          </a:xfrm>
          <a:prstGeom prst="rect">
            <a:avLst/>
          </a:prstGeom>
          <a:solidFill>
            <a:srgbClr val="B85416"/>
          </a:solidFill>
          <a:ln/>
        </p:spPr>
      </p:sp>
      <p:sp>
        <p:nvSpPr>
          <p:cNvPr id="41" name="Shape 39"/>
          <p:cNvSpPr/>
          <p:nvPr/>
        </p:nvSpPr>
        <p:spPr>
          <a:xfrm>
            <a:off x="6789420" y="1792224"/>
            <a:ext cx="237744" cy="237744"/>
          </a:xfrm>
          <a:prstGeom prst="rect">
            <a:avLst/>
          </a:prstGeom>
          <a:solidFill>
            <a:srgbClr val="3D9A97">
              <a:alpha val="22000"/>
            </a:srgbClr>
          </a:solidFill>
          <a:ln/>
        </p:spPr>
      </p:sp>
      <p:sp>
        <p:nvSpPr>
          <p:cNvPr id="42" name="Shape 40"/>
          <p:cNvSpPr/>
          <p:nvPr/>
        </p:nvSpPr>
        <p:spPr>
          <a:xfrm>
            <a:off x="7095744" y="1792224"/>
            <a:ext cx="237744" cy="237744"/>
          </a:xfrm>
          <a:prstGeom prst="rect">
            <a:avLst/>
          </a:prstGeom>
          <a:solidFill>
            <a:srgbClr val="3D9A97">
              <a:alpha val="22000"/>
            </a:srgbClr>
          </a:solidFill>
          <a:ln/>
        </p:spPr>
      </p:sp>
      <p:sp>
        <p:nvSpPr>
          <p:cNvPr id="43" name="Shape 41"/>
          <p:cNvSpPr/>
          <p:nvPr/>
        </p:nvSpPr>
        <p:spPr>
          <a:xfrm>
            <a:off x="7402068" y="1792224"/>
            <a:ext cx="237744" cy="237744"/>
          </a:xfrm>
          <a:prstGeom prst="rect">
            <a:avLst/>
          </a:prstGeom>
          <a:solidFill>
            <a:srgbClr val="3D9A97">
              <a:alpha val="22000"/>
            </a:srgbClr>
          </a:solidFill>
          <a:ln/>
        </p:spPr>
      </p:sp>
      <p:sp>
        <p:nvSpPr>
          <p:cNvPr id="44" name="Shape 42"/>
          <p:cNvSpPr/>
          <p:nvPr/>
        </p:nvSpPr>
        <p:spPr>
          <a:xfrm>
            <a:off x="7708392" y="1792224"/>
            <a:ext cx="237744" cy="237744"/>
          </a:xfrm>
          <a:prstGeom prst="rect">
            <a:avLst/>
          </a:prstGeom>
          <a:solidFill>
            <a:srgbClr val="3D9A97">
              <a:alpha val="22000"/>
            </a:srgbClr>
          </a:solidFill>
          <a:ln/>
        </p:spPr>
      </p:sp>
      <p:sp>
        <p:nvSpPr>
          <p:cNvPr id="45" name="Shape 43"/>
          <p:cNvSpPr/>
          <p:nvPr/>
        </p:nvSpPr>
        <p:spPr>
          <a:xfrm>
            <a:off x="8014716" y="1792224"/>
            <a:ext cx="237744" cy="237744"/>
          </a:xfrm>
          <a:prstGeom prst="rect">
            <a:avLst/>
          </a:prstGeom>
          <a:solidFill>
            <a:srgbClr val="3D9A97">
              <a:alpha val="22000"/>
            </a:srgbClr>
          </a:solidFill>
          <a:ln/>
        </p:spPr>
      </p:sp>
      <p:sp>
        <p:nvSpPr>
          <p:cNvPr id="46" name="Shape 44"/>
          <p:cNvSpPr/>
          <p:nvPr/>
        </p:nvSpPr>
        <p:spPr>
          <a:xfrm>
            <a:off x="8321040" y="1792224"/>
            <a:ext cx="237744" cy="237744"/>
          </a:xfrm>
          <a:prstGeom prst="rect">
            <a:avLst/>
          </a:prstGeom>
          <a:solidFill>
            <a:srgbClr val="3D9A97">
              <a:alpha val="22000"/>
            </a:srgbClr>
          </a:solidFill>
          <a:ln/>
        </p:spPr>
      </p:sp>
      <p:sp>
        <p:nvSpPr>
          <p:cNvPr id="47" name="Shape 45"/>
          <p:cNvSpPr/>
          <p:nvPr/>
        </p:nvSpPr>
        <p:spPr>
          <a:xfrm>
            <a:off x="5870448" y="2098548"/>
            <a:ext cx="237744" cy="237744"/>
          </a:xfrm>
          <a:prstGeom prst="rect">
            <a:avLst/>
          </a:prstGeom>
          <a:solidFill>
            <a:srgbClr val="3D9A97">
              <a:alpha val="22000"/>
            </a:srgbClr>
          </a:solidFill>
          <a:ln/>
        </p:spPr>
      </p:sp>
      <p:sp>
        <p:nvSpPr>
          <p:cNvPr id="48" name="Shape 46"/>
          <p:cNvSpPr/>
          <p:nvPr/>
        </p:nvSpPr>
        <p:spPr>
          <a:xfrm>
            <a:off x="6176772" y="2098548"/>
            <a:ext cx="237744" cy="237744"/>
          </a:xfrm>
          <a:prstGeom prst="rect">
            <a:avLst/>
          </a:prstGeom>
          <a:solidFill>
            <a:srgbClr val="3D9A97">
              <a:alpha val="22000"/>
            </a:srgbClr>
          </a:solidFill>
          <a:ln/>
        </p:spPr>
      </p:sp>
      <p:sp>
        <p:nvSpPr>
          <p:cNvPr id="49" name="Shape 47"/>
          <p:cNvSpPr/>
          <p:nvPr/>
        </p:nvSpPr>
        <p:spPr>
          <a:xfrm>
            <a:off x="6483096" y="2098548"/>
            <a:ext cx="237744" cy="237744"/>
          </a:xfrm>
          <a:prstGeom prst="rect">
            <a:avLst/>
          </a:prstGeom>
          <a:solidFill>
            <a:srgbClr val="3D9A97">
              <a:alpha val="22000"/>
            </a:srgbClr>
          </a:solidFill>
          <a:ln/>
        </p:spPr>
      </p:sp>
      <p:sp>
        <p:nvSpPr>
          <p:cNvPr id="50" name="Shape 48"/>
          <p:cNvSpPr/>
          <p:nvPr/>
        </p:nvSpPr>
        <p:spPr>
          <a:xfrm>
            <a:off x="6789420" y="2098548"/>
            <a:ext cx="237744" cy="237744"/>
          </a:xfrm>
          <a:prstGeom prst="rect">
            <a:avLst/>
          </a:prstGeom>
          <a:solidFill>
            <a:srgbClr val="3D9A97">
              <a:alpha val="22000"/>
            </a:srgbClr>
          </a:solidFill>
          <a:ln/>
        </p:spPr>
      </p:sp>
      <p:sp>
        <p:nvSpPr>
          <p:cNvPr id="51" name="Shape 49"/>
          <p:cNvSpPr/>
          <p:nvPr/>
        </p:nvSpPr>
        <p:spPr>
          <a:xfrm>
            <a:off x="7095744" y="2098548"/>
            <a:ext cx="237744" cy="237744"/>
          </a:xfrm>
          <a:prstGeom prst="rect">
            <a:avLst/>
          </a:prstGeom>
          <a:solidFill>
            <a:srgbClr val="3D9A97">
              <a:alpha val="22000"/>
            </a:srgbClr>
          </a:solidFill>
          <a:ln/>
        </p:spPr>
      </p:sp>
      <p:sp>
        <p:nvSpPr>
          <p:cNvPr id="52" name="Shape 50"/>
          <p:cNvSpPr/>
          <p:nvPr/>
        </p:nvSpPr>
        <p:spPr>
          <a:xfrm>
            <a:off x="7402068" y="2098548"/>
            <a:ext cx="237744" cy="237744"/>
          </a:xfrm>
          <a:prstGeom prst="rect">
            <a:avLst/>
          </a:prstGeom>
          <a:solidFill>
            <a:srgbClr val="3D9A97">
              <a:alpha val="22000"/>
            </a:srgbClr>
          </a:solidFill>
          <a:ln/>
        </p:spPr>
      </p:sp>
      <p:sp>
        <p:nvSpPr>
          <p:cNvPr id="53" name="Shape 51"/>
          <p:cNvSpPr/>
          <p:nvPr/>
        </p:nvSpPr>
        <p:spPr>
          <a:xfrm>
            <a:off x="7708392" y="2098548"/>
            <a:ext cx="237744" cy="237744"/>
          </a:xfrm>
          <a:prstGeom prst="rect">
            <a:avLst/>
          </a:prstGeom>
          <a:solidFill>
            <a:srgbClr val="3D9A97">
              <a:alpha val="22000"/>
            </a:srgbClr>
          </a:solidFill>
          <a:ln/>
        </p:spPr>
      </p:sp>
      <p:sp>
        <p:nvSpPr>
          <p:cNvPr id="54" name="Shape 52"/>
          <p:cNvSpPr/>
          <p:nvPr/>
        </p:nvSpPr>
        <p:spPr>
          <a:xfrm>
            <a:off x="8014716" y="2098548"/>
            <a:ext cx="237744" cy="237744"/>
          </a:xfrm>
          <a:prstGeom prst="rect">
            <a:avLst/>
          </a:prstGeom>
          <a:solidFill>
            <a:srgbClr val="B85416"/>
          </a:solidFill>
          <a:ln/>
        </p:spPr>
      </p:sp>
      <p:sp>
        <p:nvSpPr>
          <p:cNvPr id="55" name="Shape 53"/>
          <p:cNvSpPr/>
          <p:nvPr/>
        </p:nvSpPr>
        <p:spPr>
          <a:xfrm>
            <a:off x="8321040" y="2098548"/>
            <a:ext cx="237744" cy="237744"/>
          </a:xfrm>
          <a:prstGeom prst="rect">
            <a:avLst/>
          </a:prstGeom>
          <a:solidFill>
            <a:srgbClr val="3D9A97">
              <a:alpha val="22000"/>
            </a:srgbClr>
          </a:solidFill>
          <a:ln/>
        </p:spPr>
      </p:sp>
      <p:sp>
        <p:nvSpPr>
          <p:cNvPr id="56" name="Shape 54"/>
          <p:cNvSpPr/>
          <p:nvPr/>
        </p:nvSpPr>
        <p:spPr>
          <a:xfrm>
            <a:off x="5870448" y="2404872"/>
            <a:ext cx="237744" cy="237744"/>
          </a:xfrm>
          <a:prstGeom prst="rect">
            <a:avLst/>
          </a:prstGeom>
          <a:solidFill>
            <a:srgbClr val="3D9A97">
              <a:alpha val="22000"/>
            </a:srgbClr>
          </a:solidFill>
          <a:ln/>
        </p:spPr>
      </p:sp>
      <p:sp>
        <p:nvSpPr>
          <p:cNvPr id="57" name="Shape 55"/>
          <p:cNvSpPr/>
          <p:nvPr/>
        </p:nvSpPr>
        <p:spPr>
          <a:xfrm>
            <a:off x="6176772" y="2404872"/>
            <a:ext cx="237744" cy="237744"/>
          </a:xfrm>
          <a:prstGeom prst="rect">
            <a:avLst/>
          </a:prstGeom>
          <a:solidFill>
            <a:srgbClr val="3D9A97">
              <a:alpha val="22000"/>
            </a:srgbClr>
          </a:solidFill>
          <a:ln/>
        </p:spPr>
      </p:sp>
      <p:sp>
        <p:nvSpPr>
          <p:cNvPr id="58" name="Shape 56"/>
          <p:cNvSpPr/>
          <p:nvPr/>
        </p:nvSpPr>
        <p:spPr>
          <a:xfrm>
            <a:off x="6483096" y="2404872"/>
            <a:ext cx="237744" cy="237744"/>
          </a:xfrm>
          <a:prstGeom prst="rect">
            <a:avLst/>
          </a:prstGeom>
          <a:solidFill>
            <a:srgbClr val="3D9A97">
              <a:alpha val="22000"/>
            </a:srgbClr>
          </a:solidFill>
          <a:ln/>
        </p:spPr>
      </p:sp>
      <p:sp>
        <p:nvSpPr>
          <p:cNvPr id="59" name="Shape 57"/>
          <p:cNvSpPr/>
          <p:nvPr/>
        </p:nvSpPr>
        <p:spPr>
          <a:xfrm>
            <a:off x="6789420" y="2404872"/>
            <a:ext cx="237744" cy="237744"/>
          </a:xfrm>
          <a:prstGeom prst="rect">
            <a:avLst/>
          </a:prstGeom>
          <a:solidFill>
            <a:srgbClr val="3D9A97">
              <a:alpha val="22000"/>
            </a:srgbClr>
          </a:solidFill>
          <a:ln/>
        </p:spPr>
      </p:sp>
      <p:sp>
        <p:nvSpPr>
          <p:cNvPr id="60" name="Shape 58"/>
          <p:cNvSpPr/>
          <p:nvPr/>
        </p:nvSpPr>
        <p:spPr>
          <a:xfrm>
            <a:off x="7095744" y="2404872"/>
            <a:ext cx="237744" cy="237744"/>
          </a:xfrm>
          <a:prstGeom prst="rect">
            <a:avLst/>
          </a:prstGeom>
          <a:solidFill>
            <a:srgbClr val="3D9A97">
              <a:alpha val="22000"/>
            </a:srgbClr>
          </a:solidFill>
          <a:ln/>
        </p:spPr>
      </p:sp>
      <p:sp>
        <p:nvSpPr>
          <p:cNvPr id="61" name="Shape 59"/>
          <p:cNvSpPr/>
          <p:nvPr/>
        </p:nvSpPr>
        <p:spPr>
          <a:xfrm>
            <a:off x="7402068" y="2404872"/>
            <a:ext cx="237744" cy="237744"/>
          </a:xfrm>
          <a:prstGeom prst="rect">
            <a:avLst/>
          </a:prstGeom>
          <a:solidFill>
            <a:srgbClr val="3D9A97">
              <a:alpha val="22000"/>
            </a:srgbClr>
          </a:solidFill>
          <a:ln/>
        </p:spPr>
      </p:sp>
      <p:sp>
        <p:nvSpPr>
          <p:cNvPr id="62" name="Shape 60"/>
          <p:cNvSpPr/>
          <p:nvPr/>
        </p:nvSpPr>
        <p:spPr>
          <a:xfrm>
            <a:off x="7708392" y="2404872"/>
            <a:ext cx="237744" cy="237744"/>
          </a:xfrm>
          <a:prstGeom prst="rect">
            <a:avLst/>
          </a:prstGeom>
          <a:solidFill>
            <a:srgbClr val="3D9A97">
              <a:alpha val="22000"/>
            </a:srgbClr>
          </a:solidFill>
          <a:ln/>
        </p:spPr>
      </p:sp>
      <p:sp>
        <p:nvSpPr>
          <p:cNvPr id="63" name="Shape 61"/>
          <p:cNvSpPr/>
          <p:nvPr/>
        </p:nvSpPr>
        <p:spPr>
          <a:xfrm>
            <a:off x="8014716" y="2404872"/>
            <a:ext cx="237744" cy="237744"/>
          </a:xfrm>
          <a:prstGeom prst="rect">
            <a:avLst/>
          </a:prstGeom>
          <a:solidFill>
            <a:srgbClr val="3D9A97">
              <a:alpha val="22000"/>
            </a:srgbClr>
          </a:solidFill>
          <a:ln/>
        </p:spPr>
      </p:sp>
      <p:sp>
        <p:nvSpPr>
          <p:cNvPr id="64" name="Shape 62"/>
          <p:cNvSpPr/>
          <p:nvPr/>
        </p:nvSpPr>
        <p:spPr>
          <a:xfrm>
            <a:off x="8321040" y="2404872"/>
            <a:ext cx="237744" cy="237744"/>
          </a:xfrm>
          <a:prstGeom prst="rect">
            <a:avLst/>
          </a:prstGeom>
          <a:solidFill>
            <a:srgbClr val="3D9A97">
              <a:alpha val="22000"/>
            </a:srgbClr>
          </a:solidFill>
          <a:ln/>
        </p:spPr>
      </p:sp>
      <p:sp>
        <p:nvSpPr>
          <p:cNvPr id="65" name="Shape 63"/>
          <p:cNvSpPr/>
          <p:nvPr/>
        </p:nvSpPr>
        <p:spPr>
          <a:xfrm>
            <a:off x="5870448" y="2711196"/>
            <a:ext cx="237744" cy="237744"/>
          </a:xfrm>
          <a:prstGeom prst="rect">
            <a:avLst/>
          </a:prstGeom>
          <a:solidFill>
            <a:srgbClr val="3D9A97">
              <a:alpha val="22000"/>
            </a:srgbClr>
          </a:solidFill>
          <a:ln/>
        </p:spPr>
      </p:sp>
      <p:sp>
        <p:nvSpPr>
          <p:cNvPr id="66" name="Shape 64"/>
          <p:cNvSpPr/>
          <p:nvPr/>
        </p:nvSpPr>
        <p:spPr>
          <a:xfrm>
            <a:off x="6176772" y="2711196"/>
            <a:ext cx="237744" cy="237744"/>
          </a:xfrm>
          <a:prstGeom prst="rect">
            <a:avLst/>
          </a:prstGeom>
          <a:solidFill>
            <a:srgbClr val="3D9A97">
              <a:alpha val="22000"/>
            </a:srgbClr>
          </a:solidFill>
          <a:ln/>
        </p:spPr>
      </p:sp>
      <p:sp>
        <p:nvSpPr>
          <p:cNvPr id="67" name="Shape 65"/>
          <p:cNvSpPr/>
          <p:nvPr/>
        </p:nvSpPr>
        <p:spPr>
          <a:xfrm>
            <a:off x="6483096" y="2711196"/>
            <a:ext cx="237744" cy="237744"/>
          </a:xfrm>
          <a:prstGeom prst="rect">
            <a:avLst/>
          </a:prstGeom>
          <a:solidFill>
            <a:srgbClr val="3D9A97">
              <a:alpha val="22000"/>
            </a:srgbClr>
          </a:solidFill>
          <a:ln/>
        </p:spPr>
      </p:sp>
      <p:sp>
        <p:nvSpPr>
          <p:cNvPr id="68" name="Shape 66"/>
          <p:cNvSpPr/>
          <p:nvPr/>
        </p:nvSpPr>
        <p:spPr>
          <a:xfrm>
            <a:off x="6789420" y="2711196"/>
            <a:ext cx="237744" cy="237744"/>
          </a:xfrm>
          <a:prstGeom prst="rect">
            <a:avLst/>
          </a:prstGeom>
          <a:solidFill>
            <a:srgbClr val="3D9A97">
              <a:alpha val="22000"/>
            </a:srgbClr>
          </a:solidFill>
          <a:ln/>
        </p:spPr>
      </p:sp>
      <p:sp>
        <p:nvSpPr>
          <p:cNvPr id="69" name="Shape 67"/>
          <p:cNvSpPr/>
          <p:nvPr/>
        </p:nvSpPr>
        <p:spPr>
          <a:xfrm>
            <a:off x="7095744" y="2711196"/>
            <a:ext cx="237744" cy="237744"/>
          </a:xfrm>
          <a:prstGeom prst="rect">
            <a:avLst/>
          </a:prstGeom>
          <a:solidFill>
            <a:srgbClr val="3D9A97">
              <a:alpha val="22000"/>
            </a:srgbClr>
          </a:solidFill>
          <a:ln/>
        </p:spPr>
      </p:sp>
      <p:sp>
        <p:nvSpPr>
          <p:cNvPr id="70" name="Shape 68"/>
          <p:cNvSpPr/>
          <p:nvPr/>
        </p:nvSpPr>
        <p:spPr>
          <a:xfrm>
            <a:off x="7402068" y="2711196"/>
            <a:ext cx="237744" cy="237744"/>
          </a:xfrm>
          <a:prstGeom prst="rect">
            <a:avLst/>
          </a:prstGeom>
          <a:solidFill>
            <a:srgbClr val="B85416"/>
          </a:solidFill>
          <a:ln/>
        </p:spPr>
      </p:sp>
      <p:sp>
        <p:nvSpPr>
          <p:cNvPr id="71" name="Shape 69"/>
          <p:cNvSpPr/>
          <p:nvPr/>
        </p:nvSpPr>
        <p:spPr>
          <a:xfrm>
            <a:off x="7708392" y="2711196"/>
            <a:ext cx="237744" cy="237744"/>
          </a:xfrm>
          <a:prstGeom prst="rect">
            <a:avLst/>
          </a:prstGeom>
          <a:solidFill>
            <a:srgbClr val="3D9A97">
              <a:alpha val="22000"/>
            </a:srgbClr>
          </a:solidFill>
          <a:ln/>
        </p:spPr>
      </p:sp>
      <p:sp>
        <p:nvSpPr>
          <p:cNvPr id="72" name="Shape 70"/>
          <p:cNvSpPr/>
          <p:nvPr/>
        </p:nvSpPr>
        <p:spPr>
          <a:xfrm>
            <a:off x="8014716" y="2711196"/>
            <a:ext cx="237744" cy="237744"/>
          </a:xfrm>
          <a:prstGeom prst="rect">
            <a:avLst/>
          </a:prstGeom>
          <a:solidFill>
            <a:srgbClr val="3D9A97">
              <a:alpha val="22000"/>
            </a:srgbClr>
          </a:solidFill>
          <a:ln/>
        </p:spPr>
      </p:sp>
      <p:sp>
        <p:nvSpPr>
          <p:cNvPr id="73" name="Shape 71"/>
          <p:cNvSpPr/>
          <p:nvPr/>
        </p:nvSpPr>
        <p:spPr>
          <a:xfrm>
            <a:off x="8321040" y="2711196"/>
            <a:ext cx="237744" cy="237744"/>
          </a:xfrm>
          <a:prstGeom prst="rect">
            <a:avLst/>
          </a:prstGeom>
          <a:solidFill>
            <a:srgbClr val="3D9A97">
              <a:alpha val="22000"/>
            </a:srgbClr>
          </a:solidFill>
          <a:ln/>
        </p:spPr>
      </p:sp>
      <p:sp>
        <p:nvSpPr>
          <p:cNvPr id="74" name="Shape 72"/>
          <p:cNvSpPr/>
          <p:nvPr/>
        </p:nvSpPr>
        <p:spPr>
          <a:xfrm>
            <a:off x="5870448" y="3017520"/>
            <a:ext cx="237744" cy="237744"/>
          </a:xfrm>
          <a:prstGeom prst="rect">
            <a:avLst/>
          </a:prstGeom>
          <a:solidFill>
            <a:srgbClr val="3D9A97">
              <a:alpha val="22000"/>
            </a:srgbClr>
          </a:solidFill>
          <a:ln/>
        </p:spPr>
      </p:sp>
      <p:sp>
        <p:nvSpPr>
          <p:cNvPr id="75" name="Shape 73"/>
          <p:cNvSpPr/>
          <p:nvPr/>
        </p:nvSpPr>
        <p:spPr>
          <a:xfrm>
            <a:off x="6176772" y="3017520"/>
            <a:ext cx="237744" cy="237744"/>
          </a:xfrm>
          <a:prstGeom prst="rect">
            <a:avLst/>
          </a:prstGeom>
          <a:solidFill>
            <a:srgbClr val="3D9A97">
              <a:alpha val="22000"/>
            </a:srgbClr>
          </a:solidFill>
          <a:ln/>
        </p:spPr>
      </p:sp>
      <p:sp>
        <p:nvSpPr>
          <p:cNvPr id="76" name="Shape 74"/>
          <p:cNvSpPr/>
          <p:nvPr/>
        </p:nvSpPr>
        <p:spPr>
          <a:xfrm>
            <a:off x="6483096" y="3017520"/>
            <a:ext cx="237744" cy="237744"/>
          </a:xfrm>
          <a:prstGeom prst="rect">
            <a:avLst/>
          </a:prstGeom>
          <a:solidFill>
            <a:srgbClr val="3D9A97">
              <a:alpha val="22000"/>
            </a:srgbClr>
          </a:solidFill>
          <a:ln/>
        </p:spPr>
      </p:sp>
      <p:sp>
        <p:nvSpPr>
          <p:cNvPr id="77" name="Shape 75"/>
          <p:cNvSpPr/>
          <p:nvPr/>
        </p:nvSpPr>
        <p:spPr>
          <a:xfrm>
            <a:off x="6789420" y="3017520"/>
            <a:ext cx="237744" cy="237744"/>
          </a:xfrm>
          <a:prstGeom prst="rect">
            <a:avLst/>
          </a:prstGeom>
          <a:solidFill>
            <a:srgbClr val="3D9A97">
              <a:alpha val="22000"/>
            </a:srgbClr>
          </a:solidFill>
          <a:ln/>
        </p:spPr>
      </p:sp>
      <p:sp>
        <p:nvSpPr>
          <p:cNvPr id="78" name="Shape 76"/>
          <p:cNvSpPr/>
          <p:nvPr/>
        </p:nvSpPr>
        <p:spPr>
          <a:xfrm>
            <a:off x="7095744" y="3017520"/>
            <a:ext cx="237744" cy="237744"/>
          </a:xfrm>
          <a:prstGeom prst="rect">
            <a:avLst/>
          </a:prstGeom>
          <a:solidFill>
            <a:srgbClr val="3D9A97">
              <a:alpha val="22000"/>
            </a:srgbClr>
          </a:solidFill>
          <a:ln/>
        </p:spPr>
      </p:sp>
      <p:sp>
        <p:nvSpPr>
          <p:cNvPr id="79" name="Shape 77"/>
          <p:cNvSpPr/>
          <p:nvPr/>
        </p:nvSpPr>
        <p:spPr>
          <a:xfrm>
            <a:off x="7402068" y="3017520"/>
            <a:ext cx="237744" cy="237744"/>
          </a:xfrm>
          <a:prstGeom prst="rect">
            <a:avLst/>
          </a:prstGeom>
          <a:solidFill>
            <a:srgbClr val="3D9A97">
              <a:alpha val="22000"/>
            </a:srgbClr>
          </a:solidFill>
          <a:ln/>
        </p:spPr>
      </p:sp>
      <p:sp>
        <p:nvSpPr>
          <p:cNvPr id="80" name="Shape 78"/>
          <p:cNvSpPr/>
          <p:nvPr/>
        </p:nvSpPr>
        <p:spPr>
          <a:xfrm>
            <a:off x="7708392" y="3017520"/>
            <a:ext cx="237744" cy="237744"/>
          </a:xfrm>
          <a:prstGeom prst="rect">
            <a:avLst/>
          </a:prstGeom>
          <a:solidFill>
            <a:srgbClr val="3D9A97">
              <a:alpha val="22000"/>
            </a:srgbClr>
          </a:solidFill>
          <a:ln/>
        </p:spPr>
      </p:sp>
      <p:sp>
        <p:nvSpPr>
          <p:cNvPr id="81" name="Shape 79"/>
          <p:cNvSpPr/>
          <p:nvPr/>
        </p:nvSpPr>
        <p:spPr>
          <a:xfrm>
            <a:off x="8014716" y="3017520"/>
            <a:ext cx="237744" cy="237744"/>
          </a:xfrm>
          <a:prstGeom prst="rect">
            <a:avLst/>
          </a:prstGeom>
          <a:solidFill>
            <a:srgbClr val="3D9A97">
              <a:alpha val="22000"/>
            </a:srgbClr>
          </a:solidFill>
          <a:ln/>
        </p:spPr>
      </p:sp>
      <p:sp>
        <p:nvSpPr>
          <p:cNvPr id="82" name="Shape 80"/>
          <p:cNvSpPr/>
          <p:nvPr/>
        </p:nvSpPr>
        <p:spPr>
          <a:xfrm>
            <a:off x="8321040" y="3017520"/>
            <a:ext cx="237744" cy="237744"/>
          </a:xfrm>
          <a:prstGeom prst="rect">
            <a:avLst/>
          </a:prstGeom>
          <a:solidFill>
            <a:srgbClr val="3D9A97">
              <a:alpha val="22000"/>
            </a:srgbClr>
          </a:solidFill>
          <a:ln/>
        </p:spPr>
      </p:sp>
      <p:sp>
        <p:nvSpPr>
          <p:cNvPr id="83" name="Shape 81"/>
          <p:cNvSpPr/>
          <p:nvPr/>
        </p:nvSpPr>
        <p:spPr>
          <a:xfrm>
            <a:off x="5870448" y="3323844"/>
            <a:ext cx="237744" cy="237744"/>
          </a:xfrm>
          <a:prstGeom prst="rect">
            <a:avLst/>
          </a:prstGeom>
          <a:solidFill>
            <a:srgbClr val="3D9A97">
              <a:alpha val="22000"/>
            </a:srgbClr>
          </a:solidFill>
          <a:ln/>
        </p:spPr>
      </p:sp>
      <p:sp>
        <p:nvSpPr>
          <p:cNvPr id="84" name="Shape 82"/>
          <p:cNvSpPr/>
          <p:nvPr/>
        </p:nvSpPr>
        <p:spPr>
          <a:xfrm>
            <a:off x="6176772" y="3323844"/>
            <a:ext cx="237744" cy="237744"/>
          </a:xfrm>
          <a:prstGeom prst="rect">
            <a:avLst/>
          </a:prstGeom>
          <a:solidFill>
            <a:srgbClr val="3D9A97">
              <a:alpha val="22000"/>
            </a:srgbClr>
          </a:solidFill>
          <a:ln/>
        </p:spPr>
      </p:sp>
      <p:sp>
        <p:nvSpPr>
          <p:cNvPr id="85" name="Shape 83"/>
          <p:cNvSpPr/>
          <p:nvPr/>
        </p:nvSpPr>
        <p:spPr>
          <a:xfrm>
            <a:off x="6483096" y="3323844"/>
            <a:ext cx="237744" cy="237744"/>
          </a:xfrm>
          <a:prstGeom prst="rect">
            <a:avLst/>
          </a:prstGeom>
          <a:solidFill>
            <a:srgbClr val="3D9A97">
              <a:alpha val="22000"/>
            </a:srgbClr>
          </a:solidFill>
          <a:ln/>
        </p:spPr>
      </p:sp>
      <p:sp>
        <p:nvSpPr>
          <p:cNvPr id="86" name="Shape 84"/>
          <p:cNvSpPr/>
          <p:nvPr/>
        </p:nvSpPr>
        <p:spPr>
          <a:xfrm>
            <a:off x="6789420" y="3323844"/>
            <a:ext cx="237744" cy="237744"/>
          </a:xfrm>
          <a:prstGeom prst="rect">
            <a:avLst/>
          </a:prstGeom>
          <a:solidFill>
            <a:srgbClr val="3D9A97">
              <a:alpha val="22000"/>
            </a:srgbClr>
          </a:solidFill>
          <a:ln/>
        </p:spPr>
      </p:sp>
      <p:sp>
        <p:nvSpPr>
          <p:cNvPr id="87" name="Shape 85"/>
          <p:cNvSpPr/>
          <p:nvPr/>
        </p:nvSpPr>
        <p:spPr>
          <a:xfrm>
            <a:off x="7095744" y="3323844"/>
            <a:ext cx="237744" cy="237744"/>
          </a:xfrm>
          <a:prstGeom prst="rect">
            <a:avLst/>
          </a:prstGeom>
          <a:solidFill>
            <a:srgbClr val="B85416"/>
          </a:solidFill>
          <a:ln/>
        </p:spPr>
      </p:sp>
      <p:sp>
        <p:nvSpPr>
          <p:cNvPr id="88" name="Shape 86"/>
          <p:cNvSpPr/>
          <p:nvPr/>
        </p:nvSpPr>
        <p:spPr>
          <a:xfrm>
            <a:off x="7402068" y="3323844"/>
            <a:ext cx="237744" cy="237744"/>
          </a:xfrm>
          <a:prstGeom prst="rect">
            <a:avLst/>
          </a:prstGeom>
          <a:solidFill>
            <a:srgbClr val="3D9A97">
              <a:alpha val="22000"/>
            </a:srgbClr>
          </a:solidFill>
          <a:ln/>
        </p:spPr>
      </p:sp>
      <p:sp>
        <p:nvSpPr>
          <p:cNvPr id="89" name="Shape 87"/>
          <p:cNvSpPr/>
          <p:nvPr/>
        </p:nvSpPr>
        <p:spPr>
          <a:xfrm>
            <a:off x="7708392" y="3323844"/>
            <a:ext cx="237744" cy="237744"/>
          </a:xfrm>
          <a:prstGeom prst="rect">
            <a:avLst/>
          </a:prstGeom>
          <a:solidFill>
            <a:srgbClr val="3D9A97">
              <a:alpha val="22000"/>
            </a:srgbClr>
          </a:solidFill>
          <a:ln/>
        </p:spPr>
      </p:sp>
      <p:sp>
        <p:nvSpPr>
          <p:cNvPr id="90" name="Shape 88"/>
          <p:cNvSpPr/>
          <p:nvPr/>
        </p:nvSpPr>
        <p:spPr>
          <a:xfrm>
            <a:off x="8014716" y="3323844"/>
            <a:ext cx="237744" cy="237744"/>
          </a:xfrm>
          <a:prstGeom prst="rect">
            <a:avLst/>
          </a:prstGeom>
          <a:solidFill>
            <a:srgbClr val="3D9A97">
              <a:alpha val="22000"/>
            </a:srgbClr>
          </a:solidFill>
          <a:ln/>
        </p:spPr>
      </p:sp>
      <p:sp>
        <p:nvSpPr>
          <p:cNvPr id="91" name="Shape 89"/>
          <p:cNvSpPr/>
          <p:nvPr/>
        </p:nvSpPr>
        <p:spPr>
          <a:xfrm>
            <a:off x="8321040" y="3323844"/>
            <a:ext cx="237744" cy="237744"/>
          </a:xfrm>
          <a:prstGeom prst="rect">
            <a:avLst/>
          </a:prstGeom>
          <a:solidFill>
            <a:srgbClr val="3D9A97">
              <a:alpha val="22000"/>
            </a:srgbClr>
          </a:solidFill>
          <a:ln/>
        </p:spPr>
      </p:sp>
      <p:sp>
        <p:nvSpPr>
          <p:cNvPr id="92" name="Shape 90"/>
          <p:cNvSpPr/>
          <p:nvPr/>
        </p:nvSpPr>
        <p:spPr>
          <a:xfrm>
            <a:off x="5870448" y="3630168"/>
            <a:ext cx="237744" cy="237744"/>
          </a:xfrm>
          <a:prstGeom prst="rect">
            <a:avLst/>
          </a:prstGeom>
          <a:solidFill>
            <a:srgbClr val="3D9A97">
              <a:alpha val="22000"/>
            </a:srgbClr>
          </a:solidFill>
          <a:ln/>
        </p:spPr>
      </p:sp>
      <p:sp>
        <p:nvSpPr>
          <p:cNvPr id="93" name="Shape 91"/>
          <p:cNvSpPr/>
          <p:nvPr/>
        </p:nvSpPr>
        <p:spPr>
          <a:xfrm>
            <a:off x="6176772" y="3630168"/>
            <a:ext cx="237744" cy="237744"/>
          </a:xfrm>
          <a:prstGeom prst="rect">
            <a:avLst/>
          </a:prstGeom>
          <a:solidFill>
            <a:srgbClr val="3D9A97">
              <a:alpha val="22000"/>
            </a:srgbClr>
          </a:solidFill>
          <a:ln/>
        </p:spPr>
      </p:sp>
      <p:sp>
        <p:nvSpPr>
          <p:cNvPr id="94" name="Shape 92"/>
          <p:cNvSpPr/>
          <p:nvPr/>
        </p:nvSpPr>
        <p:spPr>
          <a:xfrm>
            <a:off x="6483096" y="3630168"/>
            <a:ext cx="237744" cy="237744"/>
          </a:xfrm>
          <a:prstGeom prst="rect">
            <a:avLst/>
          </a:prstGeom>
          <a:solidFill>
            <a:srgbClr val="3D9A97">
              <a:alpha val="22000"/>
            </a:srgbClr>
          </a:solidFill>
          <a:ln/>
        </p:spPr>
      </p:sp>
      <p:sp>
        <p:nvSpPr>
          <p:cNvPr id="95" name="Shape 93"/>
          <p:cNvSpPr/>
          <p:nvPr/>
        </p:nvSpPr>
        <p:spPr>
          <a:xfrm>
            <a:off x="6789420" y="3630168"/>
            <a:ext cx="237744" cy="237744"/>
          </a:xfrm>
          <a:prstGeom prst="rect">
            <a:avLst/>
          </a:prstGeom>
          <a:solidFill>
            <a:srgbClr val="3D9A97">
              <a:alpha val="22000"/>
            </a:srgbClr>
          </a:solidFill>
          <a:ln/>
        </p:spPr>
      </p:sp>
      <p:sp>
        <p:nvSpPr>
          <p:cNvPr id="96" name="Shape 94"/>
          <p:cNvSpPr/>
          <p:nvPr/>
        </p:nvSpPr>
        <p:spPr>
          <a:xfrm>
            <a:off x="7095744" y="3630168"/>
            <a:ext cx="237744" cy="237744"/>
          </a:xfrm>
          <a:prstGeom prst="rect">
            <a:avLst/>
          </a:prstGeom>
          <a:solidFill>
            <a:srgbClr val="3D9A97">
              <a:alpha val="22000"/>
            </a:srgbClr>
          </a:solidFill>
          <a:ln/>
        </p:spPr>
      </p:sp>
      <p:sp>
        <p:nvSpPr>
          <p:cNvPr id="97" name="Shape 95"/>
          <p:cNvSpPr/>
          <p:nvPr/>
        </p:nvSpPr>
        <p:spPr>
          <a:xfrm>
            <a:off x="7402068" y="3630168"/>
            <a:ext cx="237744" cy="237744"/>
          </a:xfrm>
          <a:prstGeom prst="rect">
            <a:avLst/>
          </a:prstGeom>
          <a:solidFill>
            <a:srgbClr val="3D9A97">
              <a:alpha val="22000"/>
            </a:srgbClr>
          </a:solidFill>
          <a:ln/>
        </p:spPr>
      </p:sp>
      <p:sp>
        <p:nvSpPr>
          <p:cNvPr id="98" name="Shape 96"/>
          <p:cNvSpPr/>
          <p:nvPr/>
        </p:nvSpPr>
        <p:spPr>
          <a:xfrm>
            <a:off x="7708392" y="3630168"/>
            <a:ext cx="237744" cy="237744"/>
          </a:xfrm>
          <a:prstGeom prst="rect">
            <a:avLst/>
          </a:prstGeom>
          <a:solidFill>
            <a:srgbClr val="3D9A97">
              <a:alpha val="22000"/>
            </a:srgbClr>
          </a:solidFill>
          <a:ln/>
        </p:spPr>
      </p:sp>
      <p:sp>
        <p:nvSpPr>
          <p:cNvPr id="99" name="Shape 97"/>
          <p:cNvSpPr/>
          <p:nvPr/>
        </p:nvSpPr>
        <p:spPr>
          <a:xfrm>
            <a:off x="8014716" y="3630168"/>
            <a:ext cx="237744" cy="237744"/>
          </a:xfrm>
          <a:prstGeom prst="rect">
            <a:avLst/>
          </a:prstGeom>
          <a:solidFill>
            <a:srgbClr val="B85416"/>
          </a:solidFill>
          <a:ln/>
        </p:spPr>
      </p:sp>
      <p:sp>
        <p:nvSpPr>
          <p:cNvPr id="100" name="Shape 98"/>
          <p:cNvSpPr/>
          <p:nvPr/>
        </p:nvSpPr>
        <p:spPr>
          <a:xfrm>
            <a:off x="8321040" y="3630168"/>
            <a:ext cx="237744" cy="237744"/>
          </a:xfrm>
          <a:prstGeom prst="rect">
            <a:avLst/>
          </a:prstGeom>
          <a:solidFill>
            <a:srgbClr val="3D9A97">
              <a:alpha val="22000"/>
            </a:srgbClr>
          </a:solidFill>
          <a:ln/>
        </p:spPr>
      </p:sp>
      <p:sp>
        <p:nvSpPr>
          <p:cNvPr id="101" name="Shape 99"/>
          <p:cNvSpPr/>
          <p:nvPr/>
        </p:nvSpPr>
        <p:spPr>
          <a:xfrm>
            <a:off x="5870448" y="3936492"/>
            <a:ext cx="237744" cy="237744"/>
          </a:xfrm>
          <a:prstGeom prst="rect">
            <a:avLst/>
          </a:prstGeom>
          <a:solidFill>
            <a:srgbClr val="3D9A97">
              <a:alpha val="22000"/>
            </a:srgbClr>
          </a:solidFill>
          <a:ln/>
        </p:spPr>
      </p:sp>
      <p:sp>
        <p:nvSpPr>
          <p:cNvPr id="102" name="Shape 100"/>
          <p:cNvSpPr/>
          <p:nvPr/>
        </p:nvSpPr>
        <p:spPr>
          <a:xfrm>
            <a:off x="6176772" y="3936492"/>
            <a:ext cx="237744" cy="237744"/>
          </a:xfrm>
          <a:prstGeom prst="rect">
            <a:avLst/>
          </a:prstGeom>
          <a:solidFill>
            <a:srgbClr val="3D9A97">
              <a:alpha val="22000"/>
            </a:srgbClr>
          </a:solidFill>
          <a:ln/>
        </p:spPr>
      </p:sp>
      <p:sp>
        <p:nvSpPr>
          <p:cNvPr id="103" name="Shape 101"/>
          <p:cNvSpPr/>
          <p:nvPr/>
        </p:nvSpPr>
        <p:spPr>
          <a:xfrm>
            <a:off x="6483096" y="3936492"/>
            <a:ext cx="237744" cy="237744"/>
          </a:xfrm>
          <a:prstGeom prst="rect">
            <a:avLst/>
          </a:prstGeom>
          <a:solidFill>
            <a:srgbClr val="3D9A97">
              <a:alpha val="22000"/>
            </a:srgbClr>
          </a:solidFill>
          <a:ln/>
        </p:spPr>
      </p:sp>
      <p:sp>
        <p:nvSpPr>
          <p:cNvPr id="104" name="Shape 102"/>
          <p:cNvSpPr/>
          <p:nvPr/>
        </p:nvSpPr>
        <p:spPr>
          <a:xfrm>
            <a:off x="6789420" y="3936492"/>
            <a:ext cx="237744" cy="237744"/>
          </a:xfrm>
          <a:prstGeom prst="rect">
            <a:avLst/>
          </a:prstGeom>
          <a:solidFill>
            <a:srgbClr val="3D9A97">
              <a:alpha val="22000"/>
            </a:srgbClr>
          </a:solidFill>
          <a:ln/>
        </p:spPr>
      </p:sp>
      <p:sp>
        <p:nvSpPr>
          <p:cNvPr id="105" name="Shape 103"/>
          <p:cNvSpPr/>
          <p:nvPr/>
        </p:nvSpPr>
        <p:spPr>
          <a:xfrm>
            <a:off x="7095744" y="3936492"/>
            <a:ext cx="237744" cy="237744"/>
          </a:xfrm>
          <a:prstGeom prst="rect">
            <a:avLst/>
          </a:prstGeom>
          <a:solidFill>
            <a:srgbClr val="3D9A97">
              <a:alpha val="22000"/>
            </a:srgbClr>
          </a:solidFill>
          <a:ln/>
        </p:spPr>
      </p:sp>
      <p:sp>
        <p:nvSpPr>
          <p:cNvPr id="106" name="Shape 104"/>
          <p:cNvSpPr/>
          <p:nvPr/>
        </p:nvSpPr>
        <p:spPr>
          <a:xfrm>
            <a:off x="7402068" y="3936492"/>
            <a:ext cx="237744" cy="237744"/>
          </a:xfrm>
          <a:prstGeom prst="rect">
            <a:avLst/>
          </a:prstGeom>
          <a:solidFill>
            <a:srgbClr val="3D9A97">
              <a:alpha val="22000"/>
            </a:srgbClr>
          </a:solidFill>
          <a:ln/>
        </p:spPr>
      </p:sp>
      <p:sp>
        <p:nvSpPr>
          <p:cNvPr id="107" name="Shape 105"/>
          <p:cNvSpPr/>
          <p:nvPr/>
        </p:nvSpPr>
        <p:spPr>
          <a:xfrm>
            <a:off x="7708392" y="3936492"/>
            <a:ext cx="237744" cy="237744"/>
          </a:xfrm>
          <a:prstGeom prst="rect">
            <a:avLst/>
          </a:prstGeom>
          <a:solidFill>
            <a:srgbClr val="3D9A97">
              <a:alpha val="22000"/>
            </a:srgbClr>
          </a:solidFill>
          <a:ln/>
        </p:spPr>
      </p:sp>
      <p:sp>
        <p:nvSpPr>
          <p:cNvPr id="108" name="Shape 106"/>
          <p:cNvSpPr/>
          <p:nvPr/>
        </p:nvSpPr>
        <p:spPr>
          <a:xfrm>
            <a:off x="8014716" y="3936492"/>
            <a:ext cx="237744" cy="237744"/>
          </a:xfrm>
          <a:prstGeom prst="rect">
            <a:avLst/>
          </a:prstGeom>
          <a:solidFill>
            <a:srgbClr val="3D9A97">
              <a:alpha val="22000"/>
            </a:srgbClr>
          </a:solidFill>
          <a:ln/>
        </p:spPr>
      </p:sp>
      <p:sp>
        <p:nvSpPr>
          <p:cNvPr id="109" name="Shape 107"/>
          <p:cNvSpPr/>
          <p:nvPr/>
        </p:nvSpPr>
        <p:spPr>
          <a:xfrm>
            <a:off x="8321040" y="3936492"/>
            <a:ext cx="237744" cy="237744"/>
          </a:xfrm>
          <a:prstGeom prst="rect">
            <a:avLst/>
          </a:prstGeom>
          <a:solidFill>
            <a:srgbClr val="3D9A97">
              <a:alpha val="22000"/>
            </a:srgbClr>
          </a:solidFill>
          <a:ln/>
        </p:spPr>
      </p:sp>
      <p:sp>
        <p:nvSpPr>
          <p:cNvPr id="110" name="Text 108"/>
          <p:cNvSpPr/>
          <p:nvPr/>
        </p:nvSpPr>
        <p:spPr>
          <a:xfrm>
            <a:off x="594360" y="841248"/>
            <a:ext cx="5029200" cy="256032"/>
          </a:xfrm>
          <a:prstGeom prst="rect">
            <a:avLst/>
          </a:prstGeom>
          <a:noFill/>
          <a:ln/>
        </p:spPr>
        <p:txBody>
          <a:bodyPr wrap="square" lIns="0" tIns="0" rIns="0" bIns="0" rtlCol="0" anchor="t"/>
          <a:lstStyle/>
          <a:p>
            <a:pPr indent="0" marL="0">
              <a:buNone/>
            </a:pPr>
            <a:r>
              <a:rPr lang="en-US" sz="1100" b="1" spc="300" kern="0" dirty="0">
                <a:solidFill>
                  <a:srgbClr val="3D9A97"/>
                </a:solidFill>
                <a:latin typeface="Calibri" pitchFamily="34" charset="0"/>
                <a:ea typeface="Calibri" pitchFamily="34" charset="-122"/>
                <a:cs typeface="Calibri" pitchFamily="34" charset="-120"/>
              </a:rPr>
              <a:t>OORVANI FOUNDATION</a:t>
            </a:r>
            <a:endParaRPr lang="en-US" sz="1100" dirty="0"/>
          </a:p>
        </p:txBody>
      </p:sp>
      <p:sp>
        <p:nvSpPr>
          <p:cNvPr id="111" name="Text 109"/>
          <p:cNvSpPr/>
          <p:nvPr/>
        </p:nvSpPr>
        <p:spPr>
          <a:xfrm>
            <a:off x="594360" y="1261872"/>
            <a:ext cx="5029200" cy="1645920"/>
          </a:xfrm>
          <a:prstGeom prst="rect">
            <a:avLst/>
          </a:prstGeom>
          <a:noFill/>
          <a:ln/>
        </p:spPr>
        <p:txBody>
          <a:bodyPr wrap="square" lIns="0" tIns="0" rIns="0" bIns="0" rtlCol="0" anchor="t"/>
          <a:lstStyle/>
          <a:p>
            <a:pPr indent="0" marL="0">
              <a:lnSpc>
                <a:spcPct val="106000"/>
              </a:lnSpc>
              <a:buNone/>
            </a:pPr>
            <a:r>
              <a:rPr lang="en-US" sz="3800" b="1" dirty="0">
                <a:solidFill>
                  <a:srgbClr val="FFFFFF"/>
                </a:solidFill>
                <a:latin typeface="Georgia" pitchFamily="34" charset="0"/>
                <a:ea typeface="Georgia" pitchFamily="34" charset="-122"/>
                <a:cs typeface="Georgia" pitchFamily="34" charset="-120"/>
              </a:rPr>
              <a:t>Bengaluru votes.</a:t>
            </a:r>
            <a:endParaRPr lang="en-US" sz="3800" dirty="0"/>
          </a:p>
          <a:p>
            <a:pPr indent="0" marL="0">
              <a:lnSpc>
                <a:spcPct val="106000"/>
              </a:lnSpc>
              <a:buNone/>
            </a:pPr>
            <a:r>
              <a:rPr lang="en-US" sz="3800" b="1" dirty="0">
                <a:solidFill>
                  <a:srgbClr val="FFFFFF"/>
                </a:solidFill>
                <a:latin typeface="Georgia" pitchFamily="34" charset="0"/>
                <a:ea typeface="Georgia" pitchFamily="34" charset="-122"/>
                <a:cs typeface="Georgia" pitchFamily="34" charset="-120"/>
              </a:rPr>
              <a:t>Then what?</a:t>
            </a:r>
            <a:endParaRPr lang="en-US" sz="3800" dirty="0"/>
          </a:p>
        </p:txBody>
      </p:sp>
      <p:sp>
        <p:nvSpPr>
          <p:cNvPr id="112" name="Text 110"/>
          <p:cNvSpPr/>
          <p:nvPr/>
        </p:nvSpPr>
        <p:spPr>
          <a:xfrm>
            <a:off x="594360" y="3017520"/>
            <a:ext cx="4937760" cy="822960"/>
          </a:xfrm>
          <a:prstGeom prst="rect">
            <a:avLst/>
          </a:prstGeom>
          <a:noFill/>
          <a:ln/>
        </p:spPr>
        <p:txBody>
          <a:bodyPr wrap="square" lIns="0" tIns="0" rIns="0" bIns="0" rtlCol="0" anchor="t"/>
          <a:lstStyle/>
          <a:p>
            <a:pPr indent="0" marL="0">
              <a:lnSpc>
                <a:spcPct val="126000"/>
              </a:lnSpc>
              <a:buNone/>
            </a:pPr>
            <a:r>
              <a:rPr lang="en-US" sz="1350" dirty="0">
                <a:solidFill>
                  <a:srgbClr val="C3D0DA"/>
                </a:solidFill>
                <a:latin typeface="Calibri" pitchFamily="34" charset="0"/>
                <a:ea typeface="Calibri" pitchFamily="34" charset="-122"/>
                <a:cs typeface="Calibri" pitchFamily="34" charset="-120"/>
              </a:rPr>
              <a:t>A ward accountability platform for India's third-largest city — built through an election, and designed to outlast it.</a:t>
            </a:r>
            <a:endParaRPr lang="en-US" sz="1350" dirty="0"/>
          </a:p>
        </p:txBody>
      </p:sp>
      <p:sp>
        <p:nvSpPr>
          <p:cNvPr id="113" name="Shape 111"/>
          <p:cNvSpPr/>
          <p:nvPr/>
        </p:nvSpPr>
        <p:spPr>
          <a:xfrm>
            <a:off x="594360" y="3986784"/>
            <a:ext cx="2395728" cy="548640"/>
          </a:xfrm>
          <a:prstGeom prst="rect">
            <a:avLst/>
          </a:prstGeom>
          <a:solidFill>
            <a:srgbClr val="B85416"/>
          </a:solidFill>
          <a:ln/>
        </p:spPr>
      </p:sp>
      <p:sp>
        <p:nvSpPr>
          <p:cNvPr id="114" name="Text 112"/>
          <p:cNvSpPr/>
          <p:nvPr/>
        </p:nvSpPr>
        <p:spPr>
          <a:xfrm>
            <a:off x="594360" y="3986784"/>
            <a:ext cx="2395728"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₹2.30 crore · two years</a:t>
            </a:r>
            <a:endParaRPr lang="en-US" sz="1300" dirty="0"/>
          </a:p>
        </p:txBody>
      </p:sp>
      <p:sp>
        <p:nvSpPr>
          <p:cNvPr id="115" name="Text 113"/>
          <p:cNvSpPr/>
          <p:nvPr/>
        </p:nvSpPr>
        <p:spPr>
          <a:xfrm>
            <a:off x="3154680" y="3986784"/>
            <a:ext cx="2011680" cy="548640"/>
          </a:xfrm>
          <a:prstGeom prst="rect">
            <a:avLst/>
          </a:prstGeom>
          <a:noFill/>
          <a:ln/>
        </p:spPr>
        <p:txBody>
          <a:bodyPr wrap="square" lIns="0" tIns="0" rIns="0" bIns="0" rtlCol="0" anchor="ctr"/>
          <a:lstStyle/>
          <a:p>
            <a:pPr indent="0" marL="0">
              <a:buNone/>
            </a:pPr>
            <a:r>
              <a:rPr lang="en-US" sz="1100" dirty="0">
                <a:solidFill>
                  <a:srgbClr val="8FA3B3"/>
                </a:solidFill>
                <a:latin typeface="Calibri" pitchFamily="34" charset="0"/>
                <a:ea typeface="Calibri" pitchFamily="34" charset="-122"/>
                <a:cs typeface="Calibri" pitchFamily="34" charset="-120"/>
              </a:rPr>
              <a:t>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MOMENT</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Eleven years without an elected council</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66928" y="1426464"/>
            <a:ext cx="2542032" cy="1591056"/>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64008" cy="1591056"/>
          </a:xfrm>
          <a:prstGeom prst="rect">
            <a:avLst/>
          </a:prstGeom>
          <a:solidFill>
            <a:srgbClr val="0B6E6E"/>
          </a:solidFill>
          <a:ln/>
        </p:spPr>
      </p:sp>
      <p:sp>
        <p:nvSpPr>
          <p:cNvPr id="8" name="Text 6"/>
          <p:cNvSpPr/>
          <p:nvPr/>
        </p:nvSpPr>
        <p:spPr>
          <a:xfrm>
            <a:off x="804672" y="1581912"/>
            <a:ext cx="2084832" cy="420624"/>
          </a:xfrm>
          <a:prstGeom prst="rect">
            <a:avLst/>
          </a:prstGeom>
          <a:noFill/>
          <a:ln/>
        </p:spPr>
        <p:txBody>
          <a:bodyPr wrap="square" lIns="0" tIns="0" rIns="0" bIns="0" rtlCol="0" anchor="t"/>
          <a:lstStyle/>
          <a:p>
            <a:pPr indent="0" marL="0">
              <a:buNone/>
            </a:pPr>
            <a:r>
              <a:rPr lang="en-US" sz="2500" b="1" dirty="0">
                <a:solidFill>
                  <a:srgbClr val="0B6E6E"/>
                </a:solidFill>
                <a:latin typeface="Georgia" pitchFamily="34" charset="0"/>
                <a:ea typeface="Georgia" pitchFamily="34" charset="-122"/>
                <a:cs typeface="Georgia" pitchFamily="34" charset="-120"/>
              </a:rPr>
              <a:t>2015</a:t>
            </a:r>
            <a:endParaRPr lang="en-US" sz="2500" dirty="0"/>
          </a:p>
        </p:txBody>
      </p:sp>
      <p:sp>
        <p:nvSpPr>
          <p:cNvPr id="9" name="Text 7"/>
          <p:cNvSpPr/>
          <p:nvPr/>
        </p:nvSpPr>
        <p:spPr>
          <a:xfrm>
            <a:off x="804672" y="2057400"/>
            <a:ext cx="2084832" cy="83210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Last ward election</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August. The only one this decade.</a:t>
            </a:r>
            <a:endParaRPr lang="en-US" sz="1200" dirty="0"/>
          </a:p>
        </p:txBody>
      </p:sp>
      <p:sp>
        <p:nvSpPr>
          <p:cNvPr id="10" name="Shape 8"/>
          <p:cNvSpPr/>
          <p:nvPr/>
        </p:nvSpPr>
        <p:spPr>
          <a:xfrm>
            <a:off x="3291840" y="1426464"/>
            <a:ext cx="2542032" cy="1591056"/>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426464"/>
            <a:ext cx="64008" cy="1591056"/>
          </a:xfrm>
          <a:prstGeom prst="rect">
            <a:avLst/>
          </a:prstGeom>
          <a:solidFill>
            <a:srgbClr val="0B6E6E"/>
          </a:solidFill>
          <a:ln/>
        </p:spPr>
      </p:sp>
      <p:sp>
        <p:nvSpPr>
          <p:cNvPr id="12" name="Text 10"/>
          <p:cNvSpPr/>
          <p:nvPr/>
        </p:nvSpPr>
        <p:spPr>
          <a:xfrm>
            <a:off x="3529584" y="1581912"/>
            <a:ext cx="2084832" cy="420624"/>
          </a:xfrm>
          <a:prstGeom prst="rect">
            <a:avLst/>
          </a:prstGeom>
          <a:noFill/>
          <a:ln/>
        </p:spPr>
        <p:txBody>
          <a:bodyPr wrap="square" lIns="0" tIns="0" rIns="0" bIns="0" rtlCol="0" anchor="t"/>
          <a:lstStyle/>
          <a:p>
            <a:pPr indent="0" marL="0">
              <a:buNone/>
            </a:pPr>
            <a:r>
              <a:rPr lang="en-US" sz="2500" b="1" dirty="0">
                <a:solidFill>
                  <a:srgbClr val="0B6E6E"/>
                </a:solidFill>
                <a:latin typeface="Georgia" pitchFamily="34" charset="0"/>
                <a:ea typeface="Georgia" pitchFamily="34" charset="-122"/>
                <a:cs typeface="Georgia" pitchFamily="34" charset="-120"/>
              </a:rPr>
              <a:t>2020</a:t>
            </a:r>
            <a:endParaRPr lang="en-US" sz="2500" dirty="0"/>
          </a:p>
        </p:txBody>
      </p:sp>
      <p:sp>
        <p:nvSpPr>
          <p:cNvPr id="13" name="Text 11"/>
          <p:cNvSpPr/>
          <p:nvPr/>
        </p:nvSpPr>
        <p:spPr>
          <a:xfrm>
            <a:off x="3529584" y="2057400"/>
            <a:ext cx="2084832" cy="83210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Council term expired</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10 September. No elected corporators since — the longest gap in the city's history.</a:t>
            </a:r>
            <a:endParaRPr lang="en-US" sz="1200" dirty="0"/>
          </a:p>
        </p:txBody>
      </p:sp>
      <p:sp>
        <p:nvSpPr>
          <p:cNvPr id="14" name="Shape 12"/>
          <p:cNvSpPr/>
          <p:nvPr/>
        </p:nvSpPr>
        <p:spPr>
          <a:xfrm>
            <a:off x="6016752" y="1426464"/>
            <a:ext cx="2542032" cy="1591056"/>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5" name="Shape 13"/>
          <p:cNvSpPr/>
          <p:nvPr/>
        </p:nvSpPr>
        <p:spPr>
          <a:xfrm>
            <a:off x="6016752" y="1426464"/>
            <a:ext cx="64008" cy="1591056"/>
          </a:xfrm>
          <a:prstGeom prst="rect">
            <a:avLst/>
          </a:prstGeom>
          <a:solidFill>
            <a:srgbClr val="0B6E6E"/>
          </a:solidFill>
          <a:ln/>
        </p:spPr>
      </p:sp>
      <p:sp>
        <p:nvSpPr>
          <p:cNvPr id="16" name="Text 14"/>
          <p:cNvSpPr/>
          <p:nvPr/>
        </p:nvSpPr>
        <p:spPr>
          <a:xfrm>
            <a:off x="6254496" y="1581912"/>
            <a:ext cx="2084832" cy="420624"/>
          </a:xfrm>
          <a:prstGeom prst="rect">
            <a:avLst/>
          </a:prstGeom>
          <a:noFill/>
          <a:ln/>
        </p:spPr>
        <p:txBody>
          <a:bodyPr wrap="square" lIns="0" tIns="0" rIns="0" bIns="0" rtlCol="0" anchor="t"/>
          <a:lstStyle/>
          <a:p>
            <a:pPr indent="0" marL="0">
              <a:buNone/>
            </a:pPr>
            <a:r>
              <a:rPr lang="en-US" sz="2500" b="1" dirty="0">
                <a:solidFill>
                  <a:srgbClr val="0B6E6E"/>
                </a:solidFill>
                <a:latin typeface="Georgia" pitchFamily="34" charset="0"/>
                <a:ea typeface="Georgia" pitchFamily="34" charset="-122"/>
                <a:cs typeface="Georgia" pitchFamily="34" charset="-120"/>
              </a:rPr>
              <a:t>369</a:t>
            </a:r>
            <a:endParaRPr lang="en-US" sz="2500" dirty="0"/>
          </a:p>
        </p:txBody>
      </p:sp>
      <p:sp>
        <p:nvSpPr>
          <p:cNvPr id="17" name="Text 15"/>
          <p:cNvSpPr/>
          <p:nvPr/>
        </p:nvSpPr>
        <p:spPr>
          <a:xfrm>
            <a:off x="6254496" y="2057400"/>
            <a:ext cx="2084832" cy="83210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Wards, newly drawn</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Across five corporations under the Greater Bengaluru Authority.</a:t>
            </a:r>
            <a:endParaRPr lang="en-US" sz="1200" dirty="0"/>
          </a:p>
        </p:txBody>
      </p:sp>
      <p:sp>
        <p:nvSpPr>
          <p:cNvPr id="18" name="Shape 16"/>
          <p:cNvSpPr/>
          <p:nvPr/>
        </p:nvSpPr>
        <p:spPr>
          <a:xfrm>
            <a:off x="566928" y="3218688"/>
            <a:ext cx="3904488" cy="1335024"/>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566928" y="3218688"/>
            <a:ext cx="64008" cy="1335024"/>
          </a:xfrm>
          <a:prstGeom prst="rect">
            <a:avLst/>
          </a:prstGeom>
          <a:solidFill>
            <a:srgbClr val="0B6E6E"/>
          </a:solidFill>
          <a:ln/>
        </p:spPr>
      </p:sp>
      <p:sp>
        <p:nvSpPr>
          <p:cNvPr id="20" name="Text 18"/>
          <p:cNvSpPr/>
          <p:nvPr/>
        </p:nvSpPr>
        <p:spPr>
          <a:xfrm>
            <a:off x="804672" y="3374136"/>
            <a:ext cx="3447288" cy="420624"/>
          </a:xfrm>
          <a:prstGeom prst="rect">
            <a:avLst/>
          </a:prstGeom>
          <a:noFill/>
          <a:ln/>
        </p:spPr>
        <p:txBody>
          <a:bodyPr wrap="square" lIns="0" tIns="0" rIns="0" bIns="0" rtlCol="0" anchor="t"/>
          <a:lstStyle/>
          <a:p>
            <a:pPr indent="0" marL="0">
              <a:buNone/>
            </a:pPr>
            <a:r>
              <a:rPr lang="en-US" sz="2500" b="1" dirty="0">
                <a:solidFill>
                  <a:srgbClr val="0B6E6E"/>
                </a:solidFill>
                <a:latin typeface="Georgia" pitchFamily="34" charset="0"/>
                <a:ea typeface="Georgia" pitchFamily="34" charset="-122"/>
                <a:cs typeface="Georgia" pitchFamily="34" charset="-120"/>
              </a:rPr>
              <a:t>88,95,361</a:t>
            </a:r>
            <a:endParaRPr lang="en-US" sz="2500" dirty="0"/>
          </a:p>
        </p:txBody>
      </p:sp>
      <p:sp>
        <p:nvSpPr>
          <p:cNvPr id="21" name="Text 19"/>
          <p:cNvSpPr/>
          <p:nvPr/>
        </p:nvSpPr>
        <p:spPr>
          <a:xfrm>
            <a:off x="804672" y="3849624"/>
            <a:ext cx="3447288" cy="576072"/>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Registered voters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Across 8,023 polling stations. GBA final electoral roll, 18 April 2026.</a:t>
            </a:r>
            <a:endParaRPr lang="en-US" sz="1200" dirty="0"/>
          </a:p>
        </p:txBody>
      </p:sp>
      <p:sp>
        <p:nvSpPr>
          <p:cNvPr id="22" name="Shape 20"/>
          <p:cNvSpPr/>
          <p:nvPr/>
        </p:nvSpPr>
        <p:spPr>
          <a:xfrm>
            <a:off x="4654296" y="3218688"/>
            <a:ext cx="3904488" cy="1335024"/>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3" name="Shape 21"/>
          <p:cNvSpPr/>
          <p:nvPr/>
        </p:nvSpPr>
        <p:spPr>
          <a:xfrm>
            <a:off x="4654296" y="3218688"/>
            <a:ext cx="64008" cy="1335024"/>
          </a:xfrm>
          <a:prstGeom prst="rect">
            <a:avLst/>
          </a:prstGeom>
          <a:solidFill>
            <a:srgbClr val="B85416"/>
          </a:solidFill>
          <a:ln/>
        </p:spPr>
      </p:sp>
      <p:sp>
        <p:nvSpPr>
          <p:cNvPr id="24" name="Text 22"/>
          <p:cNvSpPr/>
          <p:nvPr/>
        </p:nvSpPr>
        <p:spPr>
          <a:xfrm>
            <a:off x="4892040" y="3374136"/>
            <a:ext cx="3447288" cy="420624"/>
          </a:xfrm>
          <a:prstGeom prst="rect">
            <a:avLst/>
          </a:prstGeom>
          <a:noFill/>
          <a:ln/>
        </p:spPr>
        <p:txBody>
          <a:bodyPr wrap="square" lIns="0" tIns="0" rIns="0" bIns="0" rtlCol="0" anchor="t"/>
          <a:lstStyle/>
          <a:p>
            <a:pPr indent="0" marL="0">
              <a:buNone/>
            </a:pPr>
            <a:r>
              <a:rPr lang="en-US" sz="2500" b="1" dirty="0">
                <a:solidFill>
                  <a:srgbClr val="B85416"/>
                </a:solidFill>
                <a:latin typeface="Georgia" pitchFamily="34" charset="0"/>
                <a:ea typeface="Georgia" pitchFamily="34" charset="-122"/>
                <a:cs typeface="Georgia" pitchFamily="34" charset="-120"/>
              </a:rPr>
              <a:t>31 Dec 2026</a:t>
            </a:r>
            <a:endParaRPr lang="en-US" sz="2500" dirty="0"/>
          </a:p>
        </p:txBody>
      </p:sp>
      <p:sp>
        <p:nvSpPr>
          <p:cNvPr id="25" name="Text 23"/>
          <p:cNvSpPr/>
          <p:nvPr/>
        </p:nvSpPr>
        <p:spPr>
          <a:xfrm>
            <a:off x="4892040" y="3849624"/>
            <a:ext cx="3447288" cy="576072"/>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Supreme Court deadline</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 third. Two earlier deadlines passed unmet, and the Chief Justice has ruled out a fourth.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Three things stop people voting</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3</a:t>
            </a:r>
            <a:endParaRPr lang="en-US" sz="900" dirty="0"/>
          </a:p>
        </p:txBody>
      </p:sp>
      <p:sp>
        <p:nvSpPr>
          <p:cNvPr id="6" name="Text 4"/>
          <p:cNvSpPr/>
          <p:nvPr/>
        </p:nvSpPr>
        <p:spPr>
          <a:xfrm>
            <a:off x="566928" y="1426464"/>
            <a:ext cx="7991856" cy="274320"/>
          </a:xfrm>
          <a:prstGeom prst="rect">
            <a:avLst/>
          </a:prstGeom>
          <a:noFill/>
          <a:ln/>
        </p:spPr>
        <p:txBody>
          <a:bodyPr wrap="square" lIns="0" tIns="0" rIns="0" bIns="0" rtlCol="0" anchor="t"/>
          <a:lstStyle/>
          <a:p>
            <a:pPr indent="0" marL="0">
              <a:buNone/>
            </a:pPr>
            <a:r>
              <a:rPr lang="en-US" sz="1200" i="1" dirty="0">
                <a:solidFill>
                  <a:srgbClr val="4E5F6D"/>
                </a:solidFill>
                <a:latin typeface="Calibri" pitchFamily="34" charset="0"/>
                <a:ea typeface="Calibri" pitchFamily="34" charset="-122"/>
                <a:cs typeface="Calibri" pitchFamily="34" charset="-120"/>
              </a:rPr>
              <a:t>We interviewed citizens before designing anything. People were willing to vote.</a:t>
            </a:r>
            <a:endParaRPr lang="en-US" sz="1200" dirty="0"/>
          </a:p>
        </p:txBody>
      </p:sp>
      <p:sp>
        <p:nvSpPr>
          <p:cNvPr id="7" name="Shape 5"/>
          <p:cNvSpPr/>
          <p:nvPr/>
        </p:nvSpPr>
        <p:spPr>
          <a:xfrm>
            <a:off x="566928" y="1847088"/>
            <a:ext cx="2542032" cy="15544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1847088"/>
            <a:ext cx="64008" cy="1554480"/>
          </a:xfrm>
          <a:prstGeom prst="rect">
            <a:avLst/>
          </a:prstGeom>
          <a:solidFill>
            <a:srgbClr val="0B6E6E"/>
          </a:solidFill>
          <a:ln/>
        </p:spPr>
      </p:sp>
      <p:sp>
        <p:nvSpPr>
          <p:cNvPr id="9" name="Text 7"/>
          <p:cNvSpPr/>
          <p:nvPr/>
        </p:nvSpPr>
        <p:spPr>
          <a:xfrm>
            <a:off x="804672" y="2002536"/>
            <a:ext cx="2084832" cy="12710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“Which ward am I even in?”</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Delimitation moved every line. No accessible tool tells a resident where they landed.</a:t>
            </a:r>
            <a:endParaRPr lang="en-US" sz="1200" dirty="0"/>
          </a:p>
        </p:txBody>
      </p:sp>
      <p:sp>
        <p:nvSpPr>
          <p:cNvPr id="10" name="Shape 8"/>
          <p:cNvSpPr/>
          <p:nvPr/>
        </p:nvSpPr>
        <p:spPr>
          <a:xfrm>
            <a:off x="3291840" y="1847088"/>
            <a:ext cx="2542032" cy="15544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847088"/>
            <a:ext cx="64008" cy="1554480"/>
          </a:xfrm>
          <a:prstGeom prst="rect">
            <a:avLst/>
          </a:prstGeom>
          <a:solidFill>
            <a:srgbClr val="0B6E6E"/>
          </a:solidFill>
          <a:ln/>
        </p:spPr>
      </p:sp>
      <p:sp>
        <p:nvSpPr>
          <p:cNvPr id="12" name="Text 10"/>
          <p:cNvSpPr/>
          <p:nvPr/>
        </p:nvSpPr>
        <p:spPr>
          <a:xfrm>
            <a:off x="3529584" y="2002536"/>
            <a:ext cx="2084832" cy="12710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“Who are these candidates?”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Sworn affidavits are public record — sitting in scanned PDFs on a government portal, in English, indexed by nothing.</a:t>
            </a:r>
            <a:endParaRPr lang="en-US" sz="1200" dirty="0"/>
          </a:p>
        </p:txBody>
      </p:sp>
      <p:sp>
        <p:nvSpPr>
          <p:cNvPr id="13" name="Shape 11"/>
          <p:cNvSpPr/>
          <p:nvPr/>
        </p:nvSpPr>
        <p:spPr>
          <a:xfrm>
            <a:off x="6016752" y="1847088"/>
            <a:ext cx="2542032" cy="15544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6016752" y="1847088"/>
            <a:ext cx="64008" cy="1554480"/>
          </a:xfrm>
          <a:prstGeom prst="rect">
            <a:avLst/>
          </a:prstGeom>
          <a:solidFill>
            <a:srgbClr val="0B6E6E"/>
          </a:solidFill>
          <a:ln/>
        </p:spPr>
      </p:sp>
      <p:sp>
        <p:nvSpPr>
          <p:cNvPr id="15" name="Text 13"/>
          <p:cNvSpPr/>
          <p:nvPr/>
        </p:nvSpPr>
        <p:spPr>
          <a:xfrm>
            <a:off x="6254496" y="2002536"/>
            <a:ext cx="2084832" cy="12710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“Who can I actually trust?”</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Every accessible source on a local candidate is published by someone with a stake in the outcome.</a:t>
            </a:r>
            <a:endParaRPr lang="en-US" sz="1200" dirty="0"/>
          </a:p>
        </p:txBody>
      </p:sp>
      <p:sp>
        <p:nvSpPr>
          <p:cNvPr id="16" name="Text 14"/>
          <p:cNvSpPr/>
          <p:nvPr/>
        </p:nvSpPr>
        <p:spPr>
          <a:xfrm>
            <a:off x="566928" y="3566160"/>
            <a:ext cx="7991856" cy="777240"/>
          </a:xfrm>
          <a:prstGeom prst="rect">
            <a:avLst/>
          </a:prstGeom>
          <a:noFill/>
          <a:ln/>
        </p:spPr>
        <p:txBody>
          <a:bodyPr wrap="square" lIns="0" tIns="0" rIns="0" bIns="0" rtlCol="0" anchor="t"/>
          <a:lstStyle/>
          <a:p>
            <a:pPr indent="0" marL="0">
              <a:lnSpc>
                <a:spcPct val="120000"/>
              </a:lnSpc>
              <a:buNone/>
            </a:pPr>
            <a:r>
              <a:rPr lang="en-US" sz="1200" dirty="0">
                <a:solidFill>
                  <a:srgbClr val="173243"/>
                </a:solidFill>
                <a:latin typeface="Calibri" pitchFamily="34" charset="0"/>
                <a:ea typeface="Calibri" pitchFamily="34" charset="-122"/>
                <a:cs typeface="Calibri" pitchFamily="34" charset="-120"/>
              </a:rPr>
              <a:t>The platform answers all three: a ward finder, sourced report cards built from affidavits, and side-by-side comparison — with the logistics as a checklist a first-time voter can follow end to end.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LARGER PROBLEM</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And then the loop never closes</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4</a:t>
            </a:r>
            <a:endParaRPr lang="en-US" sz="900" dirty="0"/>
          </a:p>
        </p:txBody>
      </p:sp>
      <p:sp>
        <p:nvSpPr>
          <p:cNvPr id="6" name="Text 4"/>
          <p:cNvSpPr/>
          <p:nvPr/>
        </p:nvSpPr>
        <p:spPr>
          <a:xfrm>
            <a:off x="566928" y="1581912"/>
            <a:ext cx="3904488" cy="274320"/>
          </a:xfrm>
          <a:prstGeom prst="rect">
            <a:avLst/>
          </a:prstGeom>
          <a:noFill/>
          <a:ln/>
        </p:spPr>
        <p:txBody>
          <a:bodyPr wrap="square" lIns="0" tIns="0" rIns="0" bIns="0" rtlCol="0" anchor="t"/>
          <a:lstStyle/>
          <a:p>
            <a:pPr indent="0" marL="0">
              <a:buNone/>
            </a:pPr>
            <a:r>
              <a:rPr lang="en-US" sz="1250" b="1" dirty="0">
                <a:solidFill>
                  <a:srgbClr val="0E1F2B"/>
                </a:solidFill>
                <a:latin typeface="Calibri" pitchFamily="34" charset="0"/>
                <a:ea typeface="Calibri" pitchFamily="34" charset="-122"/>
                <a:cs typeface="Calibri" pitchFamily="34" charset="-120"/>
              </a:rPr>
              <a:t>Ask a Bengaluru resident:</a:t>
            </a:r>
            <a:endParaRPr lang="en-US" sz="1250" dirty="0"/>
          </a:p>
        </p:txBody>
      </p:sp>
      <p:sp>
        <p:nvSpPr>
          <p:cNvPr id="7" name="Text 5"/>
          <p:cNvSpPr/>
          <p:nvPr/>
        </p:nvSpPr>
        <p:spPr>
          <a:xfrm>
            <a:off x="621792" y="1773936"/>
            <a:ext cx="3813048" cy="155448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200" dirty="0">
                <a:solidFill>
                  <a:srgbClr val="173243"/>
                </a:solidFill>
                <a:latin typeface="Calibri" pitchFamily="34" charset="0"/>
                <a:ea typeface="Calibri" pitchFamily="34" charset="-122"/>
                <a:cs typeface="Calibri" pitchFamily="34" charset="-120"/>
              </a:rPr>
              <a:t>What was your ward's budget last year?</a:t>
            </a:r>
            <a:endParaRPr lang="en-US" sz="1200" dirty="0"/>
          </a:p>
          <a:p>
            <a:pPr marL="177800" indent="-177800">
              <a:lnSpc>
                <a:spcPct val="115000"/>
              </a:lnSpc>
              <a:spcAft>
                <a:spcPts val="700"/>
              </a:spcAft>
              <a:buSzPct val="100000"/>
              <a:buChar char="•"/>
            </a:pPr>
            <a:r>
              <a:rPr lang="en-US" sz="1200" dirty="0">
                <a:solidFill>
                  <a:srgbClr val="173243"/>
                </a:solidFill>
                <a:latin typeface="Calibri" pitchFamily="34" charset="0"/>
                <a:ea typeface="Calibri" pitchFamily="34" charset="-122"/>
                <a:cs typeface="Calibri" pitchFamily="34" charset="-120"/>
              </a:rPr>
              <a:t>What works were sanctioned in it?</a:t>
            </a:r>
            <a:endParaRPr lang="en-US" sz="1200" dirty="0"/>
          </a:p>
          <a:p>
            <a:pPr marL="177800" indent="-177800">
              <a:lnSpc>
                <a:spcPct val="115000"/>
              </a:lnSpc>
              <a:spcAft>
                <a:spcPts val="700"/>
              </a:spcAft>
              <a:buSzPct val="100000"/>
              <a:buChar char="•"/>
            </a:pPr>
            <a:r>
              <a:rPr lang="en-US" sz="1200" dirty="0">
                <a:solidFill>
                  <a:srgbClr val="173243"/>
                </a:solidFill>
                <a:latin typeface="Calibri" pitchFamily="34" charset="0"/>
                <a:ea typeface="Calibri" pitchFamily="34" charset="-122"/>
                <a:cs typeface="Calibri" pitchFamily="34" charset="-120"/>
              </a:rPr>
              <a:t>Who is the engineer responsible for your road?</a:t>
            </a:r>
            <a:endParaRPr lang="en-US" sz="1200" dirty="0"/>
          </a:p>
          <a:p>
            <a:pPr marL="177800" indent="-177800">
              <a:lnSpc>
                <a:spcPct val="115000"/>
              </a:lnSpc>
              <a:spcAft>
                <a:spcPts val="700"/>
              </a:spcAft>
              <a:buSzPct val="100000"/>
              <a:buChar char="•"/>
            </a:pPr>
            <a:r>
              <a:rPr lang="en-US" sz="1200" dirty="0">
                <a:solidFill>
                  <a:srgbClr val="173243"/>
                </a:solidFill>
                <a:latin typeface="Calibri" pitchFamily="34" charset="0"/>
                <a:ea typeface="Calibri" pitchFamily="34" charset="-122"/>
                <a:cs typeface="Calibri" pitchFamily="34" charset="-120"/>
              </a:rPr>
              <a:t>What did your corporator actually do?</a:t>
            </a:r>
            <a:endParaRPr lang="en-US" sz="1200" dirty="0"/>
          </a:p>
        </p:txBody>
      </p:sp>
      <p:sp>
        <p:nvSpPr>
          <p:cNvPr id="8" name="Text 6"/>
          <p:cNvSpPr/>
          <p:nvPr/>
        </p:nvSpPr>
        <p:spPr>
          <a:xfrm>
            <a:off x="566928" y="3401568"/>
            <a:ext cx="3904488" cy="1051560"/>
          </a:xfrm>
          <a:prstGeom prst="rect">
            <a:avLst/>
          </a:prstGeom>
          <a:noFill/>
          <a:ln/>
        </p:spPr>
        <p:txBody>
          <a:bodyPr wrap="square" lIns="0" tIns="0" rIns="0" bIns="0" rtlCol="0" anchor="t"/>
          <a:lstStyle/>
          <a:p>
            <a:pPr indent="0" marL="0">
              <a:lnSpc>
                <a:spcPct val="120000"/>
              </a:lnSpc>
              <a:buNone/>
            </a:pPr>
            <a:r>
              <a:rPr lang="en-US" sz="1150" dirty="0">
                <a:solidFill>
                  <a:srgbClr val="4E5F6D"/>
                </a:solidFill>
                <a:latin typeface="Calibri" pitchFamily="34" charset="0"/>
                <a:ea typeface="Calibri" pitchFamily="34" charset="-122"/>
                <a:cs typeface="Calibri" pitchFamily="34" charset="-120"/>
              </a:rPr>
              <a:t>Almost nobody can answer. The information mostly exists — scattered across tenders, work orders, RTI replies and portals never built to be read by residents.</a:t>
            </a:r>
            <a:endParaRPr lang="en-US" sz="1150" dirty="0"/>
          </a:p>
        </p:txBody>
      </p:sp>
      <p:sp>
        <p:nvSpPr>
          <p:cNvPr id="9" name="Shape 7"/>
          <p:cNvSpPr/>
          <p:nvPr/>
        </p:nvSpPr>
        <p:spPr>
          <a:xfrm>
            <a:off x="4654296" y="1426464"/>
            <a:ext cx="3904488" cy="260604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654296" y="1426464"/>
            <a:ext cx="64008" cy="2606040"/>
          </a:xfrm>
          <a:prstGeom prst="rect">
            <a:avLst/>
          </a:prstGeom>
          <a:solidFill>
            <a:srgbClr val="B85416"/>
          </a:solidFill>
          <a:ln/>
        </p:spPr>
      </p:sp>
      <p:sp>
        <p:nvSpPr>
          <p:cNvPr id="11" name="Text 9"/>
          <p:cNvSpPr/>
          <p:nvPr/>
        </p:nvSpPr>
        <p:spPr>
          <a:xfrm>
            <a:off x="4892040" y="1581912"/>
            <a:ext cx="3447288" cy="232257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So the accountability loop never closes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 corporator is elected on local promises, then becomes invisible for five years, because there is no place a resident can go to see what happened to the money.</a:t>
            </a:r>
            <a:endParaRPr lang="en-US" sz="1200" dirty="0"/>
          </a:p>
          <a:p>
            <a:pPr indent="0" marL="0">
              <a:lnSpc>
                <a:spcPct val="116000"/>
              </a:lnSpc>
              <a:buNone/>
            </a:pP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 next election arrives, and the same citizen votes on the same absence of information.</a:t>
            </a:r>
            <a:endParaRPr lang="en-US" sz="1200" dirty="0"/>
          </a:p>
          <a:p>
            <a:pPr indent="0" marL="0">
              <a:lnSpc>
                <a:spcPct val="116000"/>
              </a:lnSpc>
              <a:buNone/>
            </a:pP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Fixing that is the actual goal. The election is how we get the audience to show up.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F2B"/>
        </a:solidFill>
      </p:bgPr>
    </p:bg>
    <p:spTree>
      <p:nvGrpSpPr>
        <p:cNvPr id="1" name=""/>
        <p:cNvGrpSpPr/>
        <p:nvPr/>
      </p:nvGrpSpPr>
      <p:grpSpPr>
        <a:xfrm>
          <a:off x="0" y="0"/>
          <a:ext cx="0" cy="0"/>
          <a:chOff x="0" y="0"/>
          <a:chExt cx="0" cy="0"/>
        </a:xfrm>
      </p:grpSpPr>
      <p:sp>
        <p:nvSpPr>
          <p:cNvPr id="2" name="Shape 0"/>
          <p:cNvSpPr/>
          <p:nvPr/>
        </p:nvSpPr>
        <p:spPr>
          <a:xfrm>
            <a:off x="5870448" y="566928"/>
            <a:ext cx="237744" cy="237744"/>
          </a:xfrm>
          <a:prstGeom prst="rect">
            <a:avLst/>
          </a:prstGeom>
          <a:solidFill>
            <a:srgbClr val="3D9A97">
              <a:alpha val="22000"/>
            </a:srgbClr>
          </a:solidFill>
          <a:ln/>
        </p:spPr>
      </p:sp>
      <p:sp>
        <p:nvSpPr>
          <p:cNvPr id="3" name="Shape 1"/>
          <p:cNvSpPr/>
          <p:nvPr/>
        </p:nvSpPr>
        <p:spPr>
          <a:xfrm>
            <a:off x="6176772" y="566928"/>
            <a:ext cx="237744" cy="237744"/>
          </a:xfrm>
          <a:prstGeom prst="rect">
            <a:avLst/>
          </a:prstGeom>
          <a:solidFill>
            <a:srgbClr val="3D9A97">
              <a:alpha val="22000"/>
            </a:srgbClr>
          </a:solidFill>
          <a:ln/>
        </p:spPr>
      </p:sp>
      <p:sp>
        <p:nvSpPr>
          <p:cNvPr id="4" name="Shape 2"/>
          <p:cNvSpPr/>
          <p:nvPr/>
        </p:nvSpPr>
        <p:spPr>
          <a:xfrm>
            <a:off x="6483096" y="566928"/>
            <a:ext cx="237744" cy="237744"/>
          </a:xfrm>
          <a:prstGeom prst="rect">
            <a:avLst/>
          </a:prstGeom>
          <a:solidFill>
            <a:srgbClr val="3D9A97">
              <a:alpha val="22000"/>
            </a:srgbClr>
          </a:solidFill>
          <a:ln/>
        </p:spPr>
      </p:sp>
      <p:sp>
        <p:nvSpPr>
          <p:cNvPr id="5" name="Shape 3"/>
          <p:cNvSpPr/>
          <p:nvPr/>
        </p:nvSpPr>
        <p:spPr>
          <a:xfrm>
            <a:off x="6789420" y="566928"/>
            <a:ext cx="237744" cy="237744"/>
          </a:xfrm>
          <a:prstGeom prst="rect">
            <a:avLst/>
          </a:prstGeom>
          <a:solidFill>
            <a:srgbClr val="3D9A97">
              <a:alpha val="22000"/>
            </a:srgbClr>
          </a:solidFill>
          <a:ln/>
        </p:spPr>
      </p:sp>
      <p:sp>
        <p:nvSpPr>
          <p:cNvPr id="6" name="Shape 4"/>
          <p:cNvSpPr/>
          <p:nvPr/>
        </p:nvSpPr>
        <p:spPr>
          <a:xfrm>
            <a:off x="7095744" y="566928"/>
            <a:ext cx="237744" cy="237744"/>
          </a:xfrm>
          <a:prstGeom prst="rect">
            <a:avLst/>
          </a:prstGeom>
          <a:solidFill>
            <a:srgbClr val="B85416"/>
          </a:solidFill>
          <a:ln/>
        </p:spPr>
      </p:sp>
      <p:sp>
        <p:nvSpPr>
          <p:cNvPr id="7" name="Shape 5"/>
          <p:cNvSpPr/>
          <p:nvPr/>
        </p:nvSpPr>
        <p:spPr>
          <a:xfrm>
            <a:off x="7402068" y="566928"/>
            <a:ext cx="237744" cy="237744"/>
          </a:xfrm>
          <a:prstGeom prst="rect">
            <a:avLst/>
          </a:prstGeom>
          <a:solidFill>
            <a:srgbClr val="3D9A97">
              <a:alpha val="22000"/>
            </a:srgbClr>
          </a:solidFill>
          <a:ln/>
        </p:spPr>
      </p:sp>
      <p:sp>
        <p:nvSpPr>
          <p:cNvPr id="8" name="Shape 6"/>
          <p:cNvSpPr/>
          <p:nvPr/>
        </p:nvSpPr>
        <p:spPr>
          <a:xfrm>
            <a:off x="7708392" y="566928"/>
            <a:ext cx="237744" cy="237744"/>
          </a:xfrm>
          <a:prstGeom prst="rect">
            <a:avLst/>
          </a:prstGeom>
          <a:solidFill>
            <a:srgbClr val="3D9A97">
              <a:alpha val="22000"/>
            </a:srgbClr>
          </a:solidFill>
          <a:ln/>
        </p:spPr>
      </p:sp>
      <p:sp>
        <p:nvSpPr>
          <p:cNvPr id="9" name="Shape 7"/>
          <p:cNvSpPr/>
          <p:nvPr/>
        </p:nvSpPr>
        <p:spPr>
          <a:xfrm>
            <a:off x="8014716" y="566928"/>
            <a:ext cx="237744" cy="237744"/>
          </a:xfrm>
          <a:prstGeom prst="rect">
            <a:avLst/>
          </a:prstGeom>
          <a:solidFill>
            <a:srgbClr val="3D9A97">
              <a:alpha val="22000"/>
            </a:srgbClr>
          </a:solidFill>
          <a:ln/>
        </p:spPr>
      </p:sp>
      <p:sp>
        <p:nvSpPr>
          <p:cNvPr id="10" name="Shape 8"/>
          <p:cNvSpPr/>
          <p:nvPr/>
        </p:nvSpPr>
        <p:spPr>
          <a:xfrm>
            <a:off x="8321040" y="566928"/>
            <a:ext cx="237744" cy="237744"/>
          </a:xfrm>
          <a:prstGeom prst="rect">
            <a:avLst/>
          </a:prstGeom>
          <a:solidFill>
            <a:srgbClr val="3D9A97">
              <a:alpha val="22000"/>
            </a:srgbClr>
          </a:solidFill>
          <a:ln/>
        </p:spPr>
      </p:sp>
      <p:sp>
        <p:nvSpPr>
          <p:cNvPr id="11" name="Shape 9"/>
          <p:cNvSpPr/>
          <p:nvPr/>
        </p:nvSpPr>
        <p:spPr>
          <a:xfrm>
            <a:off x="5870448" y="873252"/>
            <a:ext cx="237744" cy="237744"/>
          </a:xfrm>
          <a:prstGeom prst="rect">
            <a:avLst/>
          </a:prstGeom>
          <a:solidFill>
            <a:srgbClr val="3D9A97">
              <a:alpha val="22000"/>
            </a:srgbClr>
          </a:solidFill>
          <a:ln/>
        </p:spPr>
      </p:sp>
      <p:sp>
        <p:nvSpPr>
          <p:cNvPr id="12" name="Shape 10"/>
          <p:cNvSpPr/>
          <p:nvPr/>
        </p:nvSpPr>
        <p:spPr>
          <a:xfrm>
            <a:off x="6176772" y="873252"/>
            <a:ext cx="237744" cy="237744"/>
          </a:xfrm>
          <a:prstGeom prst="rect">
            <a:avLst/>
          </a:prstGeom>
          <a:solidFill>
            <a:srgbClr val="3D9A97">
              <a:alpha val="22000"/>
            </a:srgbClr>
          </a:solidFill>
          <a:ln/>
        </p:spPr>
      </p:sp>
      <p:sp>
        <p:nvSpPr>
          <p:cNvPr id="13" name="Shape 11"/>
          <p:cNvSpPr/>
          <p:nvPr/>
        </p:nvSpPr>
        <p:spPr>
          <a:xfrm>
            <a:off x="6483096" y="873252"/>
            <a:ext cx="237744" cy="237744"/>
          </a:xfrm>
          <a:prstGeom prst="rect">
            <a:avLst/>
          </a:prstGeom>
          <a:solidFill>
            <a:srgbClr val="3D9A97">
              <a:alpha val="22000"/>
            </a:srgbClr>
          </a:solidFill>
          <a:ln/>
        </p:spPr>
      </p:sp>
      <p:sp>
        <p:nvSpPr>
          <p:cNvPr id="14" name="Shape 12"/>
          <p:cNvSpPr/>
          <p:nvPr/>
        </p:nvSpPr>
        <p:spPr>
          <a:xfrm>
            <a:off x="6789420" y="873252"/>
            <a:ext cx="237744" cy="237744"/>
          </a:xfrm>
          <a:prstGeom prst="rect">
            <a:avLst/>
          </a:prstGeom>
          <a:solidFill>
            <a:srgbClr val="3D9A97">
              <a:alpha val="22000"/>
            </a:srgbClr>
          </a:solidFill>
          <a:ln/>
        </p:spPr>
      </p:sp>
      <p:sp>
        <p:nvSpPr>
          <p:cNvPr id="15" name="Shape 13"/>
          <p:cNvSpPr/>
          <p:nvPr/>
        </p:nvSpPr>
        <p:spPr>
          <a:xfrm>
            <a:off x="7095744" y="873252"/>
            <a:ext cx="237744" cy="237744"/>
          </a:xfrm>
          <a:prstGeom prst="rect">
            <a:avLst/>
          </a:prstGeom>
          <a:solidFill>
            <a:srgbClr val="3D9A97">
              <a:alpha val="22000"/>
            </a:srgbClr>
          </a:solidFill>
          <a:ln/>
        </p:spPr>
      </p:sp>
      <p:sp>
        <p:nvSpPr>
          <p:cNvPr id="16" name="Shape 14"/>
          <p:cNvSpPr/>
          <p:nvPr/>
        </p:nvSpPr>
        <p:spPr>
          <a:xfrm>
            <a:off x="7402068" y="873252"/>
            <a:ext cx="237744" cy="237744"/>
          </a:xfrm>
          <a:prstGeom prst="rect">
            <a:avLst/>
          </a:prstGeom>
          <a:solidFill>
            <a:srgbClr val="3D9A97">
              <a:alpha val="22000"/>
            </a:srgbClr>
          </a:solidFill>
          <a:ln/>
        </p:spPr>
      </p:sp>
      <p:sp>
        <p:nvSpPr>
          <p:cNvPr id="17" name="Shape 15"/>
          <p:cNvSpPr/>
          <p:nvPr/>
        </p:nvSpPr>
        <p:spPr>
          <a:xfrm>
            <a:off x="7708392" y="873252"/>
            <a:ext cx="237744" cy="237744"/>
          </a:xfrm>
          <a:prstGeom prst="rect">
            <a:avLst/>
          </a:prstGeom>
          <a:solidFill>
            <a:srgbClr val="3D9A97">
              <a:alpha val="22000"/>
            </a:srgbClr>
          </a:solidFill>
          <a:ln/>
        </p:spPr>
      </p:sp>
      <p:sp>
        <p:nvSpPr>
          <p:cNvPr id="18" name="Shape 16"/>
          <p:cNvSpPr/>
          <p:nvPr/>
        </p:nvSpPr>
        <p:spPr>
          <a:xfrm>
            <a:off x="8014716" y="873252"/>
            <a:ext cx="237744" cy="237744"/>
          </a:xfrm>
          <a:prstGeom prst="rect">
            <a:avLst/>
          </a:prstGeom>
          <a:solidFill>
            <a:srgbClr val="3D9A97">
              <a:alpha val="22000"/>
            </a:srgbClr>
          </a:solidFill>
          <a:ln/>
        </p:spPr>
      </p:sp>
      <p:sp>
        <p:nvSpPr>
          <p:cNvPr id="19" name="Shape 17"/>
          <p:cNvSpPr/>
          <p:nvPr/>
        </p:nvSpPr>
        <p:spPr>
          <a:xfrm>
            <a:off x="8321040" y="873252"/>
            <a:ext cx="237744" cy="237744"/>
          </a:xfrm>
          <a:prstGeom prst="rect">
            <a:avLst/>
          </a:prstGeom>
          <a:solidFill>
            <a:srgbClr val="3D9A97">
              <a:alpha val="22000"/>
            </a:srgbClr>
          </a:solidFill>
          <a:ln/>
        </p:spPr>
      </p:sp>
      <p:sp>
        <p:nvSpPr>
          <p:cNvPr id="20" name="Shape 18"/>
          <p:cNvSpPr/>
          <p:nvPr/>
        </p:nvSpPr>
        <p:spPr>
          <a:xfrm>
            <a:off x="5870448" y="1179576"/>
            <a:ext cx="237744" cy="237744"/>
          </a:xfrm>
          <a:prstGeom prst="rect">
            <a:avLst/>
          </a:prstGeom>
          <a:solidFill>
            <a:srgbClr val="3D9A97">
              <a:alpha val="22000"/>
            </a:srgbClr>
          </a:solidFill>
          <a:ln/>
        </p:spPr>
      </p:sp>
      <p:sp>
        <p:nvSpPr>
          <p:cNvPr id="21" name="Shape 19"/>
          <p:cNvSpPr/>
          <p:nvPr/>
        </p:nvSpPr>
        <p:spPr>
          <a:xfrm>
            <a:off x="6176772" y="1179576"/>
            <a:ext cx="237744" cy="237744"/>
          </a:xfrm>
          <a:prstGeom prst="rect">
            <a:avLst/>
          </a:prstGeom>
          <a:solidFill>
            <a:srgbClr val="3D9A97">
              <a:alpha val="22000"/>
            </a:srgbClr>
          </a:solidFill>
          <a:ln/>
        </p:spPr>
      </p:sp>
      <p:sp>
        <p:nvSpPr>
          <p:cNvPr id="22" name="Shape 20"/>
          <p:cNvSpPr/>
          <p:nvPr/>
        </p:nvSpPr>
        <p:spPr>
          <a:xfrm>
            <a:off x="6483096" y="1179576"/>
            <a:ext cx="237744" cy="237744"/>
          </a:xfrm>
          <a:prstGeom prst="rect">
            <a:avLst/>
          </a:prstGeom>
          <a:solidFill>
            <a:srgbClr val="3D9A97">
              <a:alpha val="22000"/>
            </a:srgbClr>
          </a:solidFill>
          <a:ln/>
        </p:spPr>
      </p:sp>
      <p:sp>
        <p:nvSpPr>
          <p:cNvPr id="23" name="Shape 21"/>
          <p:cNvSpPr/>
          <p:nvPr/>
        </p:nvSpPr>
        <p:spPr>
          <a:xfrm>
            <a:off x="6789420" y="1179576"/>
            <a:ext cx="237744" cy="237744"/>
          </a:xfrm>
          <a:prstGeom prst="rect">
            <a:avLst/>
          </a:prstGeom>
          <a:solidFill>
            <a:srgbClr val="B85416"/>
          </a:solidFill>
          <a:ln/>
        </p:spPr>
      </p:sp>
      <p:sp>
        <p:nvSpPr>
          <p:cNvPr id="24" name="Shape 22"/>
          <p:cNvSpPr/>
          <p:nvPr/>
        </p:nvSpPr>
        <p:spPr>
          <a:xfrm>
            <a:off x="7095744" y="1179576"/>
            <a:ext cx="237744" cy="237744"/>
          </a:xfrm>
          <a:prstGeom prst="rect">
            <a:avLst/>
          </a:prstGeom>
          <a:solidFill>
            <a:srgbClr val="3D9A97">
              <a:alpha val="22000"/>
            </a:srgbClr>
          </a:solidFill>
          <a:ln/>
        </p:spPr>
      </p:sp>
      <p:sp>
        <p:nvSpPr>
          <p:cNvPr id="25" name="Shape 23"/>
          <p:cNvSpPr/>
          <p:nvPr/>
        </p:nvSpPr>
        <p:spPr>
          <a:xfrm>
            <a:off x="7402068" y="1179576"/>
            <a:ext cx="237744" cy="237744"/>
          </a:xfrm>
          <a:prstGeom prst="rect">
            <a:avLst/>
          </a:prstGeom>
          <a:solidFill>
            <a:srgbClr val="3D9A97">
              <a:alpha val="22000"/>
            </a:srgbClr>
          </a:solidFill>
          <a:ln/>
        </p:spPr>
      </p:sp>
      <p:sp>
        <p:nvSpPr>
          <p:cNvPr id="26" name="Shape 24"/>
          <p:cNvSpPr/>
          <p:nvPr/>
        </p:nvSpPr>
        <p:spPr>
          <a:xfrm>
            <a:off x="7708392" y="1179576"/>
            <a:ext cx="237744" cy="237744"/>
          </a:xfrm>
          <a:prstGeom prst="rect">
            <a:avLst/>
          </a:prstGeom>
          <a:solidFill>
            <a:srgbClr val="3D9A97">
              <a:alpha val="22000"/>
            </a:srgbClr>
          </a:solidFill>
          <a:ln/>
        </p:spPr>
      </p:sp>
      <p:sp>
        <p:nvSpPr>
          <p:cNvPr id="27" name="Shape 25"/>
          <p:cNvSpPr/>
          <p:nvPr/>
        </p:nvSpPr>
        <p:spPr>
          <a:xfrm>
            <a:off x="8014716" y="1179576"/>
            <a:ext cx="237744" cy="237744"/>
          </a:xfrm>
          <a:prstGeom prst="rect">
            <a:avLst/>
          </a:prstGeom>
          <a:solidFill>
            <a:srgbClr val="3D9A97">
              <a:alpha val="22000"/>
            </a:srgbClr>
          </a:solidFill>
          <a:ln/>
        </p:spPr>
      </p:sp>
      <p:sp>
        <p:nvSpPr>
          <p:cNvPr id="28" name="Shape 26"/>
          <p:cNvSpPr/>
          <p:nvPr/>
        </p:nvSpPr>
        <p:spPr>
          <a:xfrm>
            <a:off x="8321040" y="1179576"/>
            <a:ext cx="237744" cy="237744"/>
          </a:xfrm>
          <a:prstGeom prst="rect">
            <a:avLst/>
          </a:prstGeom>
          <a:solidFill>
            <a:srgbClr val="3D9A97">
              <a:alpha val="22000"/>
            </a:srgbClr>
          </a:solidFill>
          <a:ln/>
        </p:spPr>
      </p:sp>
      <p:sp>
        <p:nvSpPr>
          <p:cNvPr id="29" name="Shape 27"/>
          <p:cNvSpPr/>
          <p:nvPr/>
        </p:nvSpPr>
        <p:spPr>
          <a:xfrm>
            <a:off x="5870448" y="1485900"/>
            <a:ext cx="237744" cy="237744"/>
          </a:xfrm>
          <a:prstGeom prst="rect">
            <a:avLst/>
          </a:prstGeom>
          <a:solidFill>
            <a:srgbClr val="3D9A97">
              <a:alpha val="22000"/>
            </a:srgbClr>
          </a:solidFill>
          <a:ln/>
        </p:spPr>
      </p:sp>
      <p:sp>
        <p:nvSpPr>
          <p:cNvPr id="30" name="Shape 28"/>
          <p:cNvSpPr/>
          <p:nvPr/>
        </p:nvSpPr>
        <p:spPr>
          <a:xfrm>
            <a:off x="6176772" y="1485900"/>
            <a:ext cx="237744" cy="237744"/>
          </a:xfrm>
          <a:prstGeom prst="rect">
            <a:avLst/>
          </a:prstGeom>
          <a:solidFill>
            <a:srgbClr val="3D9A97">
              <a:alpha val="22000"/>
            </a:srgbClr>
          </a:solidFill>
          <a:ln/>
        </p:spPr>
      </p:sp>
      <p:sp>
        <p:nvSpPr>
          <p:cNvPr id="31" name="Shape 29"/>
          <p:cNvSpPr/>
          <p:nvPr/>
        </p:nvSpPr>
        <p:spPr>
          <a:xfrm>
            <a:off x="6483096" y="1485900"/>
            <a:ext cx="237744" cy="237744"/>
          </a:xfrm>
          <a:prstGeom prst="rect">
            <a:avLst/>
          </a:prstGeom>
          <a:solidFill>
            <a:srgbClr val="3D9A97">
              <a:alpha val="22000"/>
            </a:srgbClr>
          </a:solidFill>
          <a:ln/>
        </p:spPr>
      </p:sp>
      <p:sp>
        <p:nvSpPr>
          <p:cNvPr id="32" name="Shape 30"/>
          <p:cNvSpPr/>
          <p:nvPr/>
        </p:nvSpPr>
        <p:spPr>
          <a:xfrm>
            <a:off x="6789420" y="1485900"/>
            <a:ext cx="237744" cy="237744"/>
          </a:xfrm>
          <a:prstGeom prst="rect">
            <a:avLst/>
          </a:prstGeom>
          <a:solidFill>
            <a:srgbClr val="3D9A97">
              <a:alpha val="22000"/>
            </a:srgbClr>
          </a:solidFill>
          <a:ln/>
        </p:spPr>
      </p:sp>
      <p:sp>
        <p:nvSpPr>
          <p:cNvPr id="33" name="Shape 31"/>
          <p:cNvSpPr/>
          <p:nvPr/>
        </p:nvSpPr>
        <p:spPr>
          <a:xfrm>
            <a:off x="7095744" y="1485900"/>
            <a:ext cx="237744" cy="237744"/>
          </a:xfrm>
          <a:prstGeom prst="rect">
            <a:avLst/>
          </a:prstGeom>
          <a:solidFill>
            <a:srgbClr val="3D9A97">
              <a:alpha val="22000"/>
            </a:srgbClr>
          </a:solidFill>
          <a:ln/>
        </p:spPr>
      </p:sp>
      <p:sp>
        <p:nvSpPr>
          <p:cNvPr id="34" name="Shape 32"/>
          <p:cNvSpPr/>
          <p:nvPr/>
        </p:nvSpPr>
        <p:spPr>
          <a:xfrm>
            <a:off x="7402068" y="1485900"/>
            <a:ext cx="237744" cy="237744"/>
          </a:xfrm>
          <a:prstGeom prst="rect">
            <a:avLst/>
          </a:prstGeom>
          <a:solidFill>
            <a:srgbClr val="3D9A97">
              <a:alpha val="22000"/>
            </a:srgbClr>
          </a:solidFill>
          <a:ln/>
        </p:spPr>
      </p:sp>
      <p:sp>
        <p:nvSpPr>
          <p:cNvPr id="35" name="Shape 33"/>
          <p:cNvSpPr/>
          <p:nvPr/>
        </p:nvSpPr>
        <p:spPr>
          <a:xfrm>
            <a:off x="7708392" y="1485900"/>
            <a:ext cx="237744" cy="237744"/>
          </a:xfrm>
          <a:prstGeom prst="rect">
            <a:avLst/>
          </a:prstGeom>
          <a:solidFill>
            <a:srgbClr val="3D9A97">
              <a:alpha val="22000"/>
            </a:srgbClr>
          </a:solidFill>
          <a:ln/>
        </p:spPr>
      </p:sp>
      <p:sp>
        <p:nvSpPr>
          <p:cNvPr id="36" name="Shape 34"/>
          <p:cNvSpPr/>
          <p:nvPr/>
        </p:nvSpPr>
        <p:spPr>
          <a:xfrm>
            <a:off x="8014716" y="1485900"/>
            <a:ext cx="237744" cy="237744"/>
          </a:xfrm>
          <a:prstGeom prst="rect">
            <a:avLst/>
          </a:prstGeom>
          <a:solidFill>
            <a:srgbClr val="3D9A97">
              <a:alpha val="22000"/>
            </a:srgbClr>
          </a:solidFill>
          <a:ln/>
        </p:spPr>
      </p:sp>
      <p:sp>
        <p:nvSpPr>
          <p:cNvPr id="37" name="Shape 35"/>
          <p:cNvSpPr/>
          <p:nvPr/>
        </p:nvSpPr>
        <p:spPr>
          <a:xfrm>
            <a:off x="8321040" y="1485900"/>
            <a:ext cx="237744" cy="237744"/>
          </a:xfrm>
          <a:prstGeom prst="rect">
            <a:avLst/>
          </a:prstGeom>
          <a:solidFill>
            <a:srgbClr val="3D9A97">
              <a:alpha val="22000"/>
            </a:srgbClr>
          </a:solidFill>
          <a:ln/>
        </p:spPr>
      </p:sp>
      <p:sp>
        <p:nvSpPr>
          <p:cNvPr id="38" name="Shape 36"/>
          <p:cNvSpPr/>
          <p:nvPr/>
        </p:nvSpPr>
        <p:spPr>
          <a:xfrm>
            <a:off x="5870448" y="1792224"/>
            <a:ext cx="237744" cy="237744"/>
          </a:xfrm>
          <a:prstGeom prst="rect">
            <a:avLst/>
          </a:prstGeom>
          <a:solidFill>
            <a:srgbClr val="3D9A97">
              <a:alpha val="22000"/>
            </a:srgbClr>
          </a:solidFill>
          <a:ln/>
        </p:spPr>
      </p:sp>
      <p:sp>
        <p:nvSpPr>
          <p:cNvPr id="39" name="Shape 37"/>
          <p:cNvSpPr/>
          <p:nvPr/>
        </p:nvSpPr>
        <p:spPr>
          <a:xfrm>
            <a:off x="6176772" y="1792224"/>
            <a:ext cx="237744" cy="237744"/>
          </a:xfrm>
          <a:prstGeom prst="rect">
            <a:avLst/>
          </a:prstGeom>
          <a:solidFill>
            <a:srgbClr val="3D9A97">
              <a:alpha val="22000"/>
            </a:srgbClr>
          </a:solidFill>
          <a:ln/>
        </p:spPr>
      </p:sp>
      <p:sp>
        <p:nvSpPr>
          <p:cNvPr id="40" name="Shape 38"/>
          <p:cNvSpPr/>
          <p:nvPr/>
        </p:nvSpPr>
        <p:spPr>
          <a:xfrm>
            <a:off x="6483096" y="1792224"/>
            <a:ext cx="237744" cy="237744"/>
          </a:xfrm>
          <a:prstGeom prst="rect">
            <a:avLst/>
          </a:prstGeom>
          <a:solidFill>
            <a:srgbClr val="B85416"/>
          </a:solidFill>
          <a:ln/>
        </p:spPr>
      </p:sp>
      <p:sp>
        <p:nvSpPr>
          <p:cNvPr id="41" name="Shape 39"/>
          <p:cNvSpPr/>
          <p:nvPr/>
        </p:nvSpPr>
        <p:spPr>
          <a:xfrm>
            <a:off x="6789420" y="1792224"/>
            <a:ext cx="237744" cy="237744"/>
          </a:xfrm>
          <a:prstGeom prst="rect">
            <a:avLst/>
          </a:prstGeom>
          <a:solidFill>
            <a:srgbClr val="3D9A97">
              <a:alpha val="22000"/>
            </a:srgbClr>
          </a:solidFill>
          <a:ln/>
        </p:spPr>
      </p:sp>
      <p:sp>
        <p:nvSpPr>
          <p:cNvPr id="42" name="Shape 40"/>
          <p:cNvSpPr/>
          <p:nvPr/>
        </p:nvSpPr>
        <p:spPr>
          <a:xfrm>
            <a:off x="7095744" y="1792224"/>
            <a:ext cx="237744" cy="237744"/>
          </a:xfrm>
          <a:prstGeom prst="rect">
            <a:avLst/>
          </a:prstGeom>
          <a:solidFill>
            <a:srgbClr val="3D9A97">
              <a:alpha val="22000"/>
            </a:srgbClr>
          </a:solidFill>
          <a:ln/>
        </p:spPr>
      </p:sp>
      <p:sp>
        <p:nvSpPr>
          <p:cNvPr id="43" name="Shape 41"/>
          <p:cNvSpPr/>
          <p:nvPr/>
        </p:nvSpPr>
        <p:spPr>
          <a:xfrm>
            <a:off x="7402068" y="1792224"/>
            <a:ext cx="237744" cy="237744"/>
          </a:xfrm>
          <a:prstGeom prst="rect">
            <a:avLst/>
          </a:prstGeom>
          <a:solidFill>
            <a:srgbClr val="3D9A97">
              <a:alpha val="22000"/>
            </a:srgbClr>
          </a:solidFill>
          <a:ln/>
        </p:spPr>
      </p:sp>
      <p:sp>
        <p:nvSpPr>
          <p:cNvPr id="44" name="Shape 42"/>
          <p:cNvSpPr/>
          <p:nvPr/>
        </p:nvSpPr>
        <p:spPr>
          <a:xfrm>
            <a:off x="7708392" y="1792224"/>
            <a:ext cx="237744" cy="237744"/>
          </a:xfrm>
          <a:prstGeom prst="rect">
            <a:avLst/>
          </a:prstGeom>
          <a:solidFill>
            <a:srgbClr val="3D9A97">
              <a:alpha val="22000"/>
            </a:srgbClr>
          </a:solidFill>
          <a:ln/>
        </p:spPr>
      </p:sp>
      <p:sp>
        <p:nvSpPr>
          <p:cNvPr id="45" name="Shape 43"/>
          <p:cNvSpPr/>
          <p:nvPr/>
        </p:nvSpPr>
        <p:spPr>
          <a:xfrm>
            <a:off x="8014716" y="1792224"/>
            <a:ext cx="237744" cy="237744"/>
          </a:xfrm>
          <a:prstGeom prst="rect">
            <a:avLst/>
          </a:prstGeom>
          <a:solidFill>
            <a:srgbClr val="3D9A97">
              <a:alpha val="22000"/>
            </a:srgbClr>
          </a:solidFill>
          <a:ln/>
        </p:spPr>
      </p:sp>
      <p:sp>
        <p:nvSpPr>
          <p:cNvPr id="46" name="Shape 44"/>
          <p:cNvSpPr/>
          <p:nvPr/>
        </p:nvSpPr>
        <p:spPr>
          <a:xfrm>
            <a:off x="8321040" y="1792224"/>
            <a:ext cx="237744" cy="237744"/>
          </a:xfrm>
          <a:prstGeom prst="rect">
            <a:avLst/>
          </a:prstGeom>
          <a:solidFill>
            <a:srgbClr val="3D9A97">
              <a:alpha val="22000"/>
            </a:srgbClr>
          </a:solidFill>
          <a:ln/>
        </p:spPr>
      </p:sp>
      <p:sp>
        <p:nvSpPr>
          <p:cNvPr id="47" name="Shape 45"/>
          <p:cNvSpPr/>
          <p:nvPr/>
        </p:nvSpPr>
        <p:spPr>
          <a:xfrm>
            <a:off x="5870448" y="2098548"/>
            <a:ext cx="237744" cy="237744"/>
          </a:xfrm>
          <a:prstGeom prst="rect">
            <a:avLst/>
          </a:prstGeom>
          <a:solidFill>
            <a:srgbClr val="3D9A97">
              <a:alpha val="22000"/>
            </a:srgbClr>
          </a:solidFill>
          <a:ln/>
        </p:spPr>
      </p:sp>
      <p:sp>
        <p:nvSpPr>
          <p:cNvPr id="48" name="Shape 46"/>
          <p:cNvSpPr/>
          <p:nvPr/>
        </p:nvSpPr>
        <p:spPr>
          <a:xfrm>
            <a:off x="6176772" y="2098548"/>
            <a:ext cx="237744" cy="237744"/>
          </a:xfrm>
          <a:prstGeom prst="rect">
            <a:avLst/>
          </a:prstGeom>
          <a:solidFill>
            <a:srgbClr val="3D9A97">
              <a:alpha val="22000"/>
            </a:srgbClr>
          </a:solidFill>
          <a:ln/>
        </p:spPr>
      </p:sp>
      <p:sp>
        <p:nvSpPr>
          <p:cNvPr id="49" name="Shape 47"/>
          <p:cNvSpPr/>
          <p:nvPr/>
        </p:nvSpPr>
        <p:spPr>
          <a:xfrm>
            <a:off x="6483096" y="2098548"/>
            <a:ext cx="237744" cy="237744"/>
          </a:xfrm>
          <a:prstGeom prst="rect">
            <a:avLst/>
          </a:prstGeom>
          <a:solidFill>
            <a:srgbClr val="3D9A97">
              <a:alpha val="22000"/>
            </a:srgbClr>
          </a:solidFill>
          <a:ln/>
        </p:spPr>
      </p:sp>
      <p:sp>
        <p:nvSpPr>
          <p:cNvPr id="50" name="Shape 48"/>
          <p:cNvSpPr/>
          <p:nvPr/>
        </p:nvSpPr>
        <p:spPr>
          <a:xfrm>
            <a:off x="6789420" y="2098548"/>
            <a:ext cx="237744" cy="237744"/>
          </a:xfrm>
          <a:prstGeom prst="rect">
            <a:avLst/>
          </a:prstGeom>
          <a:solidFill>
            <a:srgbClr val="3D9A97">
              <a:alpha val="22000"/>
            </a:srgbClr>
          </a:solidFill>
          <a:ln/>
        </p:spPr>
      </p:sp>
      <p:sp>
        <p:nvSpPr>
          <p:cNvPr id="51" name="Shape 49"/>
          <p:cNvSpPr/>
          <p:nvPr/>
        </p:nvSpPr>
        <p:spPr>
          <a:xfrm>
            <a:off x="7095744" y="2098548"/>
            <a:ext cx="237744" cy="237744"/>
          </a:xfrm>
          <a:prstGeom prst="rect">
            <a:avLst/>
          </a:prstGeom>
          <a:solidFill>
            <a:srgbClr val="3D9A97">
              <a:alpha val="22000"/>
            </a:srgbClr>
          </a:solidFill>
          <a:ln/>
        </p:spPr>
      </p:sp>
      <p:sp>
        <p:nvSpPr>
          <p:cNvPr id="52" name="Shape 50"/>
          <p:cNvSpPr/>
          <p:nvPr/>
        </p:nvSpPr>
        <p:spPr>
          <a:xfrm>
            <a:off x="7402068" y="2098548"/>
            <a:ext cx="237744" cy="237744"/>
          </a:xfrm>
          <a:prstGeom prst="rect">
            <a:avLst/>
          </a:prstGeom>
          <a:solidFill>
            <a:srgbClr val="3D9A97">
              <a:alpha val="22000"/>
            </a:srgbClr>
          </a:solidFill>
          <a:ln/>
        </p:spPr>
      </p:sp>
      <p:sp>
        <p:nvSpPr>
          <p:cNvPr id="53" name="Shape 51"/>
          <p:cNvSpPr/>
          <p:nvPr/>
        </p:nvSpPr>
        <p:spPr>
          <a:xfrm>
            <a:off x="7708392" y="2098548"/>
            <a:ext cx="237744" cy="237744"/>
          </a:xfrm>
          <a:prstGeom prst="rect">
            <a:avLst/>
          </a:prstGeom>
          <a:solidFill>
            <a:srgbClr val="3D9A97">
              <a:alpha val="22000"/>
            </a:srgbClr>
          </a:solidFill>
          <a:ln/>
        </p:spPr>
      </p:sp>
      <p:sp>
        <p:nvSpPr>
          <p:cNvPr id="54" name="Shape 52"/>
          <p:cNvSpPr/>
          <p:nvPr/>
        </p:nvSpPr>
        <p:spPr>
          <a:xfrm>
            <a:off x="8014716" y="2098548"/>
            <a:ext cx="237744" cy="237744"/>
          </a:xfrm>
          <a:prstGeom prst="rect">
            <a:avLst/>
          </a:prstGeom>
          <a:solidFill>
            <a:srgbClr val="B85416"/>
          </a:solidFill>
          <a:ln/>
        </p:spPr>
      </p:sp>
      <p:sp>
        <p:nvSpPr>
          <p:cNvPr id="55" name="Shape 53"/>
          <p:cNvSpPr/>
          <p:nvPr/>
        </p:nvSpPr>
        <p:spPr>
          <a:xfrm>
            <a:off x="8321040" y="2098548"/>
            <a:ext cx="237744" cy="237744"/>
          </a:xfrm>
          <a:prstGeom prst="rect">
            <a:avLst/>
          </a:prstGeom>
          <a:solidFill>
            <a:srgbClr val="3D9A97">
              <a:alpha val="22000"/>
            </a:srgbClr>
          </a:solidFill>
          <a:ln/>
        </p:spPr>
      </p:sp>
      <p:sp>
        <p:nvSpPr>
          <p:cNvPr id="56" name="Shape 54"/>
          <p:cNvSpPr/>
          <p:nvPr/>
        </p:nvSpPr>
        <p:spPr>
          <a:xfrm>
            <a:off x="5870448" y="2404872"/>
            <a:ext cx="237744" cy="237744"/>
          </a:xfrm>
          <a:prstGeom prst="rect">
            <a:avLst/>
          </a:prstGeom>
          <a:solidFill>
            <a:srgbClr val="3D9A97">
              <a:alpha val="22000"/>
            </a:srgbClr>
          </a:solidFill>
          <a:ln/>
        </p:spPr>
      </p:sp>
      <p:sp>
        <p:nvSpPr>
          <p:cNvPr id="57" name="Shape 55"/>
          <p:cNvSpPr/>
          <p:nvPr/>
        </p:nvSpPr>
        <p:spPr>
          <a:xfrm>
            <a:off x="6176772" y="2404872"/>
            <a:ext cx="237744" cy="237744"/>
          </a:xfrm>
          <a:prstGeom prst="rect">
            <a:avLst/>
          </a:prstGeom>
          <a:solidFill>
            <a:srgbClr val="3D9A97">
              <a:alpha val="22000"/>
            </a:srgbClr>
          </a:solidFill>
          <a:ln/>
        </p:spPr>
      </p:sp>
      <p:sp>
        <p:nvSpPr>
          <p:cNvPr id="58" name="Shape 56"/>
          <p:cNvSpPr/>
          <p:nvPr/>
        </p:nvSpPr>
        <p:spPr>
          <a:xfrm>
            <a:off x="6483096" y="2404872"/>
            <a:ext cx="237744" cy="237744"/>
          </a:xfrm>
          <a:prstGeom prst="rect">
            <a:avLst/>
          </a:prstGeom>
          <a:solidFill>
            <a:srgbClr val="3D9A97">
              <a:alpha val="22000"/>
            </a:srgbClr>
          </a:solidFill>
          <a:ln/>
        </p:spPr>
      </p:sp>
      <p:sp>
        <p:nvSpPr>
          <p:cNvPr id="59" name="Shape 57"/>
          <p:cNvSpPr/>
          <p:nvPr/>
        </p:nvSpPr>
        <p:spPr>
          <a:xfrm>
            <a:off x="6789420" y="2404872"/>
            <a:ext cx="237744" cy="237744"/>
          </a:xfrm>
          <a:prstGeom prst="rect">
            <a:avLst/>
          </a:prstGeom>
          <a:solidFill>
            <a:srgbClr val="3D9A97">
              <a:alpha val="22000"/>
            </a:srgbClr>
          </a:solidFill>
          <a:ln/>
        </p:spPr>
      </p:sp>
      <p:sp>
        <p:nvSpPr>
          <p:cNvPr id="60" name="Shape 58"/>
          <p:cNvSpPr/>
          <p:nvPr/>
        </p:nvSpPr>
        <p:spPr>
          <a:xfrm>
            <a:off x="7095744" y="2404872"/>
            <a:ext cx="237744" cy="237744"/>
          </a:xfrm>
          <a:prstGeom prst="rect">
            <a:avLst/>
          </a:prstGeom>
          <a:solidFill>
            <a:srgbClr val="3D9A97">
              <a:alpha val="22000"/>
            </a:srgbClr>
          </a:solidFill>
          <a:ln/>
        </p:spPr>
      </p:sp>
      <p:sp>
        <p:nvSpPr>
          <p:cNvPr id="61" name="Shape 59"/>
          <p:cNvSpPr/>
          <p:nvPr/>
        </p:nvSpPr>
        <p:spPr>
          <a:xfrm>
            <a:off x="7402068" y="2404872"/>
            <a:ext cx="237744" cy="237744"/>
          </a:xfrm>
          <a:prstGeom prst="rect">
            <a:avLst/>
          </a:prstGeom>
          <a:solidFill>
            <a:srgbClr val="3D9A97">
              <a:alpha val="22000"/>
            </a:srgbClr>
          </a:solidFill>
          <a:ln/>
        </p:spPr>
      </p:sp>
      <p:sp>
        <p:nvSpPr>
          <p:cNvPr id="62" name="Shape 60"/>
          <p:cNvSpPr/>
          <p:nvPr/>
        </p:nvSpPr>
        <p:spPr>
          <a:xfrm>
            <a:off x="7708392" y="2404872"/>
            <a:ext cx="237744" cy="237744"/>
          </a:xfrm>
          <a:prstGeom prst="rect">
            <a:avLst/>
          </a:prstGeom>
          <a:solidFill>
            <a:srgbClr val="3D9A97">
              <a:alpha val="22000"/>
            </a:srgbClr>
          </a:solidFill>
          <a:ln/>
        </p:spPr>
      </p:sp>
      <p:sp>
        <p:nvSpPr>
          <p:cNvPr id="63" name="Shape 61"/>
          <p:cNvSpPr/>
          <p:nvPr/>
        </p:nvSpPr>
        <p:spPr>
          <a:xfrm>
            <a:off x="8014716" y="2404872"/>
            <a:ext cx="237744" cy="237744"/>
          </a:xfrm>
          <a:prstGeom prst="rect">
            <a:avLst/>
          </a:prstGeom>
          <a:solidFill>
            <a:srgbClr val="3D9A97">
              <a:alpha val="22000"/>
            </a:srgbClr>
          </a:solidFill>
          <a:ln/>
        </p:spPr>
      </p:sp>
      <p:sp>
        <p:nvSpPr>
          <p:cNvPr id="64" name="Shape 62"/>
          <p:cNvSpPr/>
          <p:nvPr/>
        </p:nvSpPr>
        <p:spPr>
          <a:xfrm>
            <a:off x="8321040" y="2404872"/>
            <a:ext cx="237744" cy="237744"/>
          </a:xfrm>
          <a:prstGeom prst="rect">
            <a:avLst/>
          </a:prstGeom>
          <a:solidFill>
            <a:srgbClr val="3D9A97">
              <a:alpha val="22000"/>
            </a:srgbClr>
          </a:solidFill>
          <a:ln/>
        </p:spPr>
      </p:sp>
      <p:sp>
        <p:nvSpPr>
          <p:cNvPr id="65" name="Shape 63"/>
          <p:cNvSpPr/>
          <p:nvPr/>
        </p:nvSpPr>
        <p:spPr>
          <a:xfrm>
            <a:off x="5870448" y="2711196"/>
            <a:ext cx="237744" cy="237744"/>
          </a:xfrm>
          <a:prstGeom prst="rect">
            <a:avLst/>
          </a:prstGeom>
          <a:solidFill>
            <a:srgbClr val="3D9A97">
              <a:alpha val="22000"/>
            </a:srgbClr>
          </a:solidFill>
          <a:ln/>
        </p:spPr>
      </p:sp>
      <p:sp>
        <p:nvSpPr>
          <p:cNvPr id="66" name="Shape 64"/>
          <p:cNvSpPr/>
          <p:nvPr/>
        </p:nvSpPr>
        <p:spPr>
          <a:xfrm>
            <a:off x="6176772" y="2711196"/>
            <a:ext cx="237744" cy="237744"/>
          </a:xfrm>
          <a:prstGeom prst="rect">
            <a:avLst/>
          </a:prstGeom>
          <a:solidFill>
            <a:srgbClr val="3D9A97">
              <a:alpha val="22000"/>
            </a:srgbClr>
          </a:solidFill>
          <a:ln/>
        </p:spPr>
      </p:sp>
      <p:sp>
        <p:nvSpPr>
          <p:cNvPr id="67" name="Shape 65"/>
          <p:cNvSpPr/>
          <p:nvPr/>
        </p:nvSpPr>
        <p:spPr>
          <a:xfrm>
            <a:off x="6483096" y="2711196"/>
            <a:ext cx="237744" cy="237744"/>
          </a:xfrm>
          <a:prstGeom prst="rect">
            <a:avLst/>
          </a:prstGeom>
          <a:solidFill>
            <a:srgbClr val="3D9A97">
              <a:alpha val="22000"/>
            </a:srgbClr>
          </a:solidFill>
          <a:ln/>
        </p:spPr>
      </p:sp>
      <p:sp>
        <p:nvSpPr>
          <p:cNvPr id="68" name="Shape 66"/>
          <p:cNvSpPr/>
          <p:nvPr/>
        </p:nvSpPr>
        <p:spPr>
          <a:xfrm>
            <a:off x="6789420" y="2711196"/>
            <a:ext cx="237744" cy="237744"/>
          </a:xfrm>
          <a:prstGeom prst="rect">
            <a:avLst/>
          </a:prstGeom>
          <a:solidFill>
            <a:srgbClr val="3D9A97">
              <a:alpha val="22000"/>
            </a:srgbClr>
          </a:solidFill>
          <a:ln/>
        </p:spPr>
      </p:sp>
      <p:sp>
        <p:nvSpPr>
          <p:cNvPr id="69" name="Shape 67"/>
          <p:cNvSpPr/>
          <p:nvPr/>
        </p:nvSpPr>
        <p:spPr>
          <a:xfrm>
            <a:off x="7095744" y="2711196"/>
            <a:ext cx="237744" cy="237744"/>
          </a:xfrm>
          <a:prstGeom prst="rect">
            <a:avLst/>
          </a:prstGeom>
          <a:solidFill>
            <a:srgbClr val="3D9A97">
              <a:alpha val="22000"/>
            </a:srgbClr>
          </a:solidFill>
          <a:ln/>
        </p:spPr>
      </p:sp>
      <p:sp>
        <p:nvSpPr>
          <p:cNvPr id="70" name="Shape 68"/>
          <p:cNvSpPr/>
          <p:nvPr/>
        </p:nvSpPr>
        <p:spPr>
          <a:xfrm>
            <a:off x="7402068" y="2711196"/>
            <a:ext cx="237744" cy="237744"/>
          </a:xfrm>
          <a:prstGeom prst="rect">
            <a:avLst/>
          </a:prstGeom>
          <a:solidFill>
            <a:srgbClr val="B85416"/>
          </a:solidFill>
          <a:ln/>
        </p:spPr>
      </p:sp>
      <p:sp>
        <p:nvSpPr>
          <p:cNvPr id="71" name="Shape 69"/>
          <p:cNvSpPr/>
          <p:nvPr/>
        </p:nvSpPr>
        <p:spPr>
          <a:xfrm>
            <a:off x="7708392" y="2711196"/>
            <a:ext cx="237744" cy="237744"/>
          </a:xfrm>
          <a:prstGeom prst="rect">
            <a:avLst/>
          </a:prstGeom>
          <a:solidFill>
            <a:srgbClr val="3D9A97">
              <a:alpha val="22000"/>
            </a:srgbClr>
          </a:solidFill>
          <a:ln/>
        </p:spPr>
      </p:sp>
      <p:sp>
        <p:nvSpPr>
          <p:cNvPr id="72" name="Shape 70"/>
          <p:cNvSpPr/>
          <p:nvPr/>
        </p:nvSpPr>
        <p:spPr>
          <a:xfrm>
            <a:off x="8014716" y="2711196"/>
            <a:ext cx="237744" cy="237744"/>
          </a:xfrm>
          <a:prstGeom prst="rect">
            <a:avLst/>
          </a:prstGeom>
          <a:solidFill>
            <a:srgbClr val="3D9A97">
              <a:alpha val="22000"/>
            </a:srgbClr>
          </a:solidFill>
          <a:ln/>
        </p:spPr>
      </p:sp>
      <p:sp>
        <p:nvSpPr>
          <p:cNvPr id="73" name="Shape 71"/>
          <p:cNvSpPr/>
          <p:nvPr/>
        </p:nvSpPr>
        <p:spPr>
          <a:xfrm>
            <a:off x="8321040" y="2711196"/>
            <a:ext cx="237744" cy="237744"/>
          </a:xfrm>
          <a:prstGeom prst="rect">
            <a:avLst/>
          </a:prstGeom>
          <a:solidFill>
            <a:srgbClr val="3D9A97">
              <a:alpha val="22000"/>
            </a:srgbClr>
          </a:solidFill>
          <a:ln/>
        </p:spPr>
      </p:sp>
      <p:sp>
        <p:nvSpPr>
          <p:cNvPr id="74" name="Shape 72"/>
          <p:cNvSpPr/>
          <p:nvPr/>
        </p:nvSpPr>
        <p:spPr>
          <a:xfrm>
            <a:off x="5870448" y="3017520"/>
            <a:ext cx="237744" cy="237744"/>
          </a:xfrm>
          <a:prstGeom prst="rect">
            <a:avLst/>
          </a:prstGeom>
          <a:solidFill>
            <a:srgbClr val="3D9A97">
              <a:alpha val="22000"/>
            </a:srgbClr>
          </a:solidFill>
          <a:ln/>
        </p:spPr>
      </p:sp>
      <p:sp>
        <p:nvSpPr>
          <p:cNvPr id="75" name="Shape 73"/>
          <p:cNvSpPr/>
          <p:nvPr/>
        </p:nvSpPr>
        <p:spPr>
          <a:xfrm>
            <a:off x="6176772" y="3017520"/>
            <a:ext cx="237744" cy="237744"/>
          </a:xfrm>
          <a:prstGeom prst="rect">
            <a:avLst/>
          </a:prstGeom>
          <a:solidFill>
            <a:srgbClr val="3D9A97">
              <a:alpha val="22000"/>
            </a:srgbClr>
          </a:solidFill>
          <a:ln/>
        </p:spPr>
      </p:sp>
      <p:sp>
        <p:nvSpPr>
          <p:cNvPr id="76" name="Shape 74"/>
          <p:cNvSpPr/>
          <p:nvPr/>
        </p:nvSpPr>
        <p:spPr>
          <a:xfrm>
            <a:off x="6483096" y="3017520"/>
            <a:ext cx="237744" cy="237744"/>
          </a:xfrm>
          <a:prstGeom prst="rect">
            <a:avLst/>
          </a:prstGeom>
          <a:solidFill>
            <a:srgbClr val="3D9A97">
              <a:alpha val="22000"/>
            </a:srgbClr>
          </a:solidFill>
          <a:ln/>
        </p:spPr>
      </p:sp>
      <p:sp>
        <p:nvSpPr>
          <p:cNvPr id="77" name="Shape 75"/>
          <p:cNvSpPr/>
          <p:nvPr/>
        </p:nvSpPr>
        <p:spPr>
          <a:xfrm>
            <a:off x="6789420" y="3017520"/>
            <a:ext cx="237744" cy="237744"/>
          </a:xfrm>
          <a:prstGeom prst="rect">
            <a:avLst/>
          </a:prstGeom>
          <a:solidFill>
            <a:srgbClr val="3D9A97">
              <a:alpha val="22000"/>
            </a:srgbClr>
          </a:solidFill>
          <a:ln/>
        </p:spPr>
      </p:sp>
      <p:sp>
        <p:nvSpPr>
          <p:cNvPr id="78" name="Shape 76"/>
          <p:cNvSpPr/>
          <p:nvPr/>
        </p:nvSpPr>
        <p:spPr>
          <a:xfrm>
            <a:off x="7095744" y="3017520"/>
            <a:ext cx="237744" cy="237744"/>
          </a:xfrm>
          <a:prstGeom prst="rect">
            <a:avLst/>
          </a:prstGeom>
          <a:solidFill>
            <a:srgbClr val="3D9A97">
              <a:alpha val="22000"/>
            </a:srgbClr>
          </a:solidFill>
          <a:ln/>
        </p:spPr>
      </p:sp>
      <p:sp>
        <p:nvSpPr>
          <p:cNvPr id="79" name="Shape 77"/>
          <p:cNvSpPr/>
          <p:nvPr/>
        </p:nvSpPr>
        <p:spPr>
          <a:xfrm>
            <a:off x="7402068" y="3017520"/>
            <a:ext cx="237744" cy="237744"/>
          </a:xfrm>
          <a:prstGeom prst="rect">
            <a:avLst/>
          </a:prstGeom>
          <a:solidFill>
            <a:srgbClr val="3D9A97">
              <a:alpha val="22000"/>
            </a:srgbClr>
          </a:solidFill>
          <a:ln/>
        </p:spPr>
      </p:sp>
      <p:sp>
        <p:nvSpPr>
          <p:cNvPr id="80" name="Shape 78"/>
          <p:cNvSpPr/>
          <p:nvPr/>
        </p:nvSpPr>
        <p:spPr>
          <a:xfrm>
            <a:off x="7708392" y="3017520"/>
            <a:ext cx="237744" cy="237744"/>
          </a:xfrm>
          <a:prstGeom prst="rect">
            <a:avLst/>
          </a:prstGeom>
          <a:solidFill>
            <a:srgbClr val="3D9A97">
              <a:alpha val="22000"/>
            </a:srgbClr>
          </a:solidFill>
          <a:ln/>
        </p:spPr>
      </p:sp>
      <p:sp>
        <p:nvSpPr>
          <p:cNvPr id="81" name="Shape 79"/>
          <p:cNvSpPr/>
          <p:nvPr/>
        </p:nvSpPr>
        <p:spPr>
          <a:xfrm>
            <a:off x="8014716" y="3017520"/>
            <a:ext cx="237744" cy="237744"/>
          </a:xfrm>
          <a:prstGeom prst="rect">
            <a:avLst/>
          </a:prstGeom>
          <a:solidFill>
            <a:srgbClr val="3D9A97">
              <a:alpha val="22000"/>
            </a:srgbClr>
          </a:solidFill>
          <a:ln/>
        </p:spPr>
      </p:sp>
      <p:sp>
        <p:nvSpPr>
          <p:cNvPr id="82" name="Shape 80"/>
          <p:cNvSpPr/>
          <p:nvPr/>
        </p:nvSpPr>
        <p:spPr>
          <a:xfrm>
            <a:off x="8321040" y="3017520"/>
            <a:ext cx="237744" cy="237744"/>
          </a:xfrm>
          <a:prstGeom prst="rect">
            <a:avLst/>
          </a:prstGeom>
          <a:solidFill>
            <a:srgbClr val="3D9A97">
              <a:alpha val="22000"/>
            </a:srgbClr>
          </a:solidFill>
          <a:ln/>
        </p:spPr>
      </p:sp>
      <p:sp>
        <p:nvSpPr>
          <p:cNvPr id="83" name="Shape 81"/>
          <p:cNvSpPr/>
          <p:nvPr/>
        </p:nvSpPr>
        <p:spPr>
          <a:xfrm>
            <a:off x="5870448" y="3323844"/>
            <a:ext cx="237744" cy="237744"/>
          </a:xfrm>
          <a:prstGeom prst="rect">
            <a:avLst/>
          </a:prstGeom>
          <a:solidFill>
            <a:srgbClr val="3D9A97">
              <a:alpha val="22000"/>
            </a:srgbClr>
          </a:solidFill>
          <a:ln/>
        </p:spPr>
      </p:sp>
      <p:sp>
        <p:nvSpPr>
          <p:cNvPr id="84" name="Shape 82"/>
          <p:cNvSpPr/>
          <p:nvPr/>
        </p:nvSpPr>
        <p:spPr>
          <a:xfrm>
            <a:off x="6176772" y="3323844"/>
            <a:ext cx="237744" cy="237744"/>
          </a:xfrm>
          <a:prstGeom prst="rect">
            <a:avLst/>
          </a:prstGeom>
          <a:solidFill>
            <a:srgbClr val="3D9A97">
              <a:alpha val="22000"/>
            </a:srgbClr>
          </a:solidFill>
          <a:ln/>
        </p:spPr>
      </p:sp>
      <p:sp>
        <p:nvSpPr>
          <p:cNvPr id="85" name="Shape 83"/>
          <p:cNvSpPr/>
          <p:nvPr/>
        </p:nvSpPr>
        <p:spPr>
          <a:xfrm>
            <a:off x="6483096" y="3323844"/>
            <a:ext cx="237744" cy="237744"/>
          </a:xfrm>
          <a:prstGeom prst="rect">
            <a:avLst/>
          </a:prstGeom>
          <a:solidFill>
            <a:srgbClr val="3D9A97">
              <a:alpha val="22000"/>
            </a:srgbClr>
          </a:solidFill>
          <a:ln/>
        </p:spPr>
      </p:sp>
      <p:sp>
        <p:nvSpPr>
          <p:cNvPr id="86" name="Shape 84"/>
          <p:cNvSpPr/>
          <p:nvPr/>
        </p:nvSpPr>
        <p:spPr>
          <a:xfrm>
            <a:off x="6789420" y="3323844"/>
            <a:ext cx="237744" cy="237744"/>
          </a:xfrm>
          <a:prstGeom prst="rect">
            <a:avLst/>
          </a:prstGeom>
          <a:solidFill>
            <a:srgbClr val="3D9A97">
              <a:alpha val="22000"/>
            </a:srgbClr>
          </a:solidFill>
          <a:ln/>
        </p:spPr>
      </p:sp>
      <p:sp>
        <p:nvSpPr>
          <p:cNvPr id="87" name="Shape 85"/>
          <p:cNvSpPr/>
          <p:nvPr/>
        </p:nvSpPr>
        <p:spPr>
          <a:xfrm>
            <a:off x="7095744" y="3323844"/>
            <a:ext cx="237744" cy="237744"/>
          </a:xfrm>
          <a:prstGeom prst="rect">
            <a:avLst/>
          </a:prstGeom>
          <a:solidFill>
            <a:srgbClr val="B85416"/>
          </a:solidFill>
          <a:ln/>
        </p:spPr>
      </p:sp>
      <p:sp>
        <p:nvSpPr>
          <p:cNvPr id="88" name="Shape 86"/>
          <p:cNvSpPr/>
          <p:nvPr/>
        </p:nvSpPr>
        <p:spPr>
          <a:xfrm>
            <a:off x="7402068" y="3323844"/>
            <a:ext cx="237744" cy="237744"/>
          </a:xfrm>
          <a:prstGeom prst="rect">
            <a:avLst/>
          </a:prstGeom>
          <a:solidFill>
            <a:srgbClr val="3D9A97">
              <a:alpha val="22000"/>
            </a:srgbClr>
          </a:solidFill>
          <a:ln/>
        </p:spPr>
      </p:sp>
      <p:sp>
        <p:nvSpPr>
          <p:cNvPr id="89" name="Shape 87"/>
          <p:cNvSpPr/>
          <p:nvPr/>
        </p:nvSpPr>
        <p:spPr>
          <a:xfrm>
            <a:off x="7708392" y="3323844"/>
            <a:ext cx="237744" cy="237744"/>
          </a:xfrm>
          <a:prstGeom prst="rect">
            <a:avLst/>
          </a:prstGeom>
          <a:solidFill>
            <a:srgbClr val="3D9A97">
              <a:alpha val="22000"/>
            </a:srgbClr>
          </a:solidFill>
          <a:ln/>
        </p:spPr>
      </p:sp>
      <p:sp>
        <p:nvSpPr>
          <p:cNvPr id="90" name="Shape 88"/>
          <p:cNvSpPr/>
          <p:nvPr/>
        </p:nvSpPr>
        <p:spPr>
          <a:xfrm>
            <a:off x="8014716" y="3323844"/>
            <a:ext cx="237744" cy="237744"/>
          </a:xfrm>
          <a:prstGeom prst="rect">
            <a:avLst/>
          </a:prstGeom>
          <a:solidFill>
            <a:srgbClr val="3D9A97">
              <a:alpha val="22000"/>
            </a:srgbClr>
          </a:solidFill>
          <a:ln/>
        </p:spPr>
      </p:sp>
      <p:sp>
        <p:nvSpPr>
          <p:cNvPr id="91" name="Shape 89"/>
          <p:cNvSpPr/>
          <p:nvPr/>
        </p:nvSpPr>
        <p:spPr>
          <a:xfrm>
            <a:off x="8321040" y="3323844"/>
            <a:ext cx="237744" cy="237744"/>
          </a:xfrm>
          <a:prstGeom prst="rect">
            <a:avLst/>
          </a:prstGeom>
          <a:solidFill>
            <a:srgbClr val="3D9A97">
              <a:alpha val="22000"/>
            </a:srgbClr>
          </a:solidFill>
          <a:ln/>
        </p:spPr>
      </p:sp>
      <p:sp>
        <p:nvSpPr>
          <p:cNvPr id="92" name="Shape 90"/>
          <p:cNvSpPr/>
          <p:nvPr/>
        </p:nvSpPr>
        <p:spPr>
          <a:xfrm>
            <a:off x="5870448" y="3630168"/>
            <a:ext cx="237744" cy="237744"/>
          </a:xfrm>
          <a:prstGeom prst="rect">
            <a:avLst/>
          </a:prstGeom>
          <a:solidFill>
            <a:srgbClr val="3D9A97">
              <a:alpha val="22000"/>
            </a:srgbClr>
          </a:solidFill>
          <a:ln/>
        </p:spPr>
      </p:sp>
      <p:sp>
        <p:nvSpPr>
          <p:cNvPr id="93" name="Shape 91"/>
          <p:cNvSpPr/>
          <p:nvPr/>
        </p:nvSpPr>
        <p:spPr>
          <a:xfrm>
            <a:off x="6176772" y="3630168"/>
            <a:ext cx="237744" cy="237744"/>
          </a:xfrm>
          <a:prstGeom prst="rect">
            <a:avLst/>
          </a:prstGeom>
          <a:solidFill>
            <a:srgbClr val="3D9A97">
              <a:alpha val="22000"/>
            </a:srgbClr>
          </a:solidFill>
          <a:ln/>
        </p:spPr>
      </p:sp>
      <p:sp>
        <p:nvSpPr>
          <p:cNvPr id="94" name="Shape 92"/>
          <p:cNvSpPr/>
          <p:nvPr/>
        </p:nvSpPr>
        <p:spPr>
          <a:xfrm>
            <a:off x="6483096" y="3630168"/>
            <a:ext cx="237744" cy="237744"/>
          </a:xfrm>
          <a:prstGeom prst="rect">
            <a:avLst/>
          </a:prstGeom>
          <a:solidFill>
            <a:srgbClr val="3D9A97">
              <a:alpha val="22000"/>
            </a:srgbClr>
          </a:solidFill>
          <a:ln/>
        </p:spPr>
      </p:sp>
      <p:sp>
        <p:nvSpPr>
          <p:cNvPr id="95" name="Shape 93"/>
          <p:cNvSpPr/>
          <p:nvPr/>
        </p:nvSpPr>
        <p:spPr>
          <a:xfrm>
            <a:off x="6789420" y="3630168"/>
            <a:ext cx="237744" cy="237744"/>
          </a:xfrm>
          <a:prstGeom prst="rect">
            <a:avLst/>
          </a:prstGeom>
          <a:solidFill>
            <a:srgbClr val="3D9A97">
              <a:alpha val="22000"/>
            </a:srgbClr>
          </a:solidFill>
          <a:ln/>
        </p:spPr>
      </p:sp>
      <p:sp>
        <p:nvSpPr>
          <p:cNvPr id="96" name="Shape 94"/>
          <p:cNvSpPr/>
          <p:nvPr/>
        </p:nvSpPr>
        <p:spPr>
          <a:xfrm>
            <a:off x="7095744" y="3630168"/>
            <a:ext cx="237744" cy="237744"/>
          </a:xfrm>
          <a:prstGeom prst="rect">
            <a:avLst/>
          </a:prstGeom>
          <a:solidFill>
            <a:srgbClr val="3D9A97">
              <a:alpha val="22000"/>
            </a:srgbClr>
          </a:solidFill>
          <a:ln/>
        </p:spPr>
      </p:sp>
      <p:sp>
        <p:nvSpPr>
          <p:cNvPr id="97" name="Shape 95"/>
          <p:cNvSpPr/>
          <p:nvPr/>
        </p:nvSpPr>
        <p:spPr>
          <a:xfrm>
            <a:off x="7402068" y="3630168"/>
            <a:ext cx="237744" cy="237744"/>
          </a:xfrm>
          <a:prstGeom prst="rect">
            <a:avLst/>
          </a:prstGeom>
          <a:solidFill>
            <a:srgbClr val="3D9A97">
              <a:alpha val="22000"/>
            </a:srgbClr>
          </a:solidFill>
          <a:ln/>
        </p:spPr>
      </p:sp>
      <p:sp>
        <p:nvSpPr>
          <p:cNvPr id="98" name="Shape 96"/>
          <p:cNvSpPr/>
          <p:nvPr/>
        </p:nvSpPr>
        <p:spPr>
          <a:xfrm>
            <a:off x="7708392" y="3630168"/>
            <a:ext cx="237744" cy="237744"/>
          </a:xfrm>
          <a:prstGeom prst="rect">
            <a:avLst/>
          </a:prstGeom>
          <a:solidFill>
            <a:srgbClr val="3D9A97">
              <a:alpha val="22000"/>
            </a:srgbClr>
          </a:solidFill>
          <a:ln/>
        </p:spPr>
      </p:sp>
      <p:sp>
        <p:nvSpPr>
          <p:cNvPr id="99" name="Shape 97"/>
          <p:cNvSpPr/>
          <p:nvPr/>
        </p:nvSpPr>
        <p:spPr>
          <a:xfrm>
            <a:off x="8014716" y="3630168"/>
            <a:ext cx="237744" cy="237744"/>
          </a:xfrm>
          <a:prstGeom prst="rect">
            <a:avLst/>
          </a:prstGeom>
          <a:solidFill>
            <a:srgbClr val="B85416"/>
          </a:solidFill>
          <a:ln/>
        </p:spPr>
      </p:sp>
      <p:sp>
        <p:nvSpPr>
          <p:cNvPr id="100" name="Shape 98"/>
          <p:cNvSpPr/>
          <p:nvPr/>
        </p:nvSpPr>
        <p:spPr>
          <a:xfrm>
            <a:off x="8321040" y="3630168"/>
            <a:ext cx="237744" cy="237744"/>
          </a:xfrm>
          <a:prstGeom prst="rect">
            <a:avLst/>
          </a:prstGeom>
          <a:solidFill>
            <a:srgbClr val="3D9A97">
              <a:alpha val="22000"/>
            </a:srgbClr>
          </a:solidFill>
          <a:ln/>
        </p:spPr>
      </p:sp>
      <p:sp>
        <p:nvSpPr>
          <p:cNvPr id="101" name="Shape 99"/>
          <p:cNvSpPr/>
          <p:nvPr/>
        </p:nvSpPr>
        <p:spPr>
          <a:xfrm>
            <a:off x="5870448" y="3936492"/>
            <a:ext cx="237744" cy="237744"/>
          </a:xfrm>
          <a:prstGeom prst="rect">
            <a:avLst/>
          </a:prstGeom>
          <a:solidFill>
            <a:srgbClr val="3D9A97">
              <a:alpha val="22000"/>
            </a:srgbClr>
          </a:solidFill>
          <a:ln/>
        </p:spPr>
      </p:sp>
      <p:sp>
        <p:nvSpPr>
          <p:cNvPr id="102" name="Shape 100"/>
          <p:cNvSpPr/>
          <p:nvPr/>
        </p:nvSpPr>
        <p:spPr>
          <a:xfrm>
            <a:off x="6176772" y="3936492"/>
            <a:ext cx="237744" cy="237744"/>
          </a:xfrm>
          <a:prstGeom prst="rect">
            <a:avLst/>
          </a:prstGeom>
          <a:solidFill>
            <a:srgbClr val="3D9A97">
              <a:alpha val="22000"/>
            </a:srgbClr>
          </a:solidFill>
          <a:ln/>
        </p:spPr>
      </p:sp>
      <p:sp>
        <p:nvSpPr>
          <p:cNvPr id="103" name="Shape 101"/>
          <p:cNvSpPr/>
          <p:nvPr/>
        </p:nvSpPr>
        <p:spPr>
          <a:xfrm>
            <a:off x="6483096" y="3936492"/>
            <a:ext cx="237744" cy="237744"/>
          </a:xfrm>
          <a:prstGeom prst="rect">
            <a:avLst/>
          </a:prstGeom>
          <a:solidFill>
            <a:srgbClr val="3D9A97">
              <a:alpha val="22000"/>
            </a:srgbClr>
          </a:solidFill>
          <a:ln/>
        </p:spPr>
      </p:sp>
      <p:sp>
        <p:nvSpPr>
          <p:cNvPr id="104" name="Shape 102"/>
          <p:cNvSpPr/>
          <p:nvPr/>
        </p:nvSpPr>
        <p:spPr>
          <a:xfrm>
            <a:off x="6789420" y="3936492"/>
            <a:ext cx="237744" cy="237744"/>
          </a:xfrm>
          <a:prstGeom prst="rect">
            <a:avLst/>
          </a:prstGeom>
          <a:solidFill>
            <a:srgbClr val="3D9A97">
              <a:alpha val="22000"/>
            </a:srgbClr>
          </a:solidFill>
          <a:ln/>
        </p:spPr>
      </p:sp>
      <p:sp>
        <p:nvSpPr>
          <p:cNvPr id="105" name="Shape 103"/>
          <p:cNvSpPr/>
          <p:nvPr/>
        </p:nvSpPr>
        <p:spPr>
          <a:xfrm>
            <a:off x="7095744" y="3936492"/>
            <a:ext cx="237744" cy="237744"/>
          </a:xfrm>
          <a:prstGeom prst="rect">
            <a:avLst/>
          </a:prstGeom>
          <a:solidFill>
            <a:srgbClr val="3D9A97">
              <a:alpha val="22000"/>
            </a:srgbClr>
          </a:solidFill>
          <a:ln/>
        </p:spPr>
      </p:sp>
      <p:sp>
        <p:nvSpPr>
          <p:cNvPr id="106" name="Shape 104"/>
          <p:cNvSpPr/>
          <p:nvPr/>
        </p:nvSpPr>
        <p:spPr>
          <a:xfrm>
            <a:off x="7402068" y="3936492"/>
            <a:ext cx="237744" cy="237744"/>
          </a:xfrm>
          <a:prstGeom prst="rect">
            <a:avLst/>
          </a:prstGeom>
          <a:solidFill>
            <a:srgbClr val="3D9A97">
              <a:alpha val="22000"/>
            </a:srgbClr>
          </a:solidFill>
          <a:ln/>
        </p:spPr>
      </p:sp>
      <p:sp>
        <p:nvSpPr>
          <p:cNvPr id="107" name="Shape 105"/>
          <p:cNvSpPr/>
          <p:nvPr/>
        </p:nvSpPr>
        <p:spPr>
          <a:xfrm>
            <a:off x="7708392" y="3936492"/>
            <a:ext cx="237744" cy="237744"/>
          </a:xfrm>
          <a:prstGeom prst="rect">
            <a:avLst/>
          </a:prstGeom>
          <a:solidFill>
            <a:srgbClr val="3D9A97">
              <a:alpha val="22000"/>
            </a:srgbClr>
          </a:solidFill>
          <a:ln/>
        </p:spPr>
      </p:sp>
      <p:sp>
        <p:nvSpPr>
          <p:cNvPr id="108" name="Shape 106"/>
          <p:cNvSpPr/>
          <p:nvPr/>
        </p:nvSpPr>
        <p:spPr>
          <a:xfrm>
            <a:off x="8014716" y="3936492"/>
            <a:ext cx="237744" cy="237744"/>
          </a:xfrm>
          <a:prstGeom prst="rect">
            <a:avLst/>
          </a:prstGeom>
          <a:solidFill>
            <a:srgbClr val="3D9A97">
              <a:alpha val="22000"/>
            </a:srgbClr>
          </a:solidFill>
          <a:ln/>
        </p:spPr>
      </p:sp>
      <p:sp>
        <p:nvSpPr>
          <p:cNvPr id="109" name="Shape 107"/>
          <p:cNvSpPr/>
          <p:nvPr/>
        </p:nvSpPr>
        <p:spPr>
          <a:xfrm>
            <a:off x="8321040" y="3936492"/>
            <a:ext cx="237744" cy="237744"/>
          </a:xfrm>
          <a:prstGeom prst="rect">
            <a:avLst/>
          </a:prstGeom>
          <a:solidFill>
            <a:srgbClr val="3D9A97">
              <a:alpha val="22000"/>
            </a:srgbClr>
          </a:solidFill>
          <a:ln/>
        </p:spPr>
      </p:sp>
      <p:sp>
        <p:nvSpPr>
          <p:cNvPr id="110" name="Text 108"/>
          <p:cNvSpPr/>
          <p:nvPr/>
        </p:nvSpPr>
        <p:spPr>
          <a:xfrm>
            <a:off x="594360" y="731520"/>
            <a:ext cx="5120640" cy="256032"/>
          </a:xfrm>
          <a:prstGeom prst="rect">
            <a:avLst/>
          </a:prstGeom>
          <a:noFill/>
          <a:ln/>
        </p:spPr>
        <p:txBody>
          <a:bodyPr wrap="square" lIns="0" tIns="0" rIns="0" bIns="0" rtlCol="0" anchor="t"/>
          <a:lstStyle/>
          <a:p>
            <a:pPr indent="0" marL="0">
              <a:buNone/>
            </a:pPr>
            <a:r>
              <a:rPr lang="en-US" sz="1100" b="1" spc="300" kern="0" dirty="0">
                <a:solidFill>
                  <a:srgbClr val="3D9A97"/>
                </a:solidFill>
                <a:latin typeface="Calibri" pitchFamily="34" charset="0"/>
                <a:ea typeface="Calibri" pitchFamily="34" charset="-122"/>
                <a:cs typeface="Calibri" pitchFamily="34" charset="-120"/>
              </a:rPr>
              <a:t>THE INSIGHT</a:t>
            </a:r>
            <a:endParaRPr lang="en-US" sz="1100" dirty="0"/>
          </a:p>
        </p:txBody>
      </p:sp>
      <p:sp>
        <p:nvSpPr>
          <p:cNvPr id="111" name="Text 109"/>
          <p:cNvSpPr/>
          <p:nvPr/>
        </p:nvSpPr>
        <p:spPr>
          <a:xfrm>
            <a:off x="594360" y="1115568"/>
            <a:ext cx="5166360" cy="2057400"/>
          </a:xfrm>
          <a:prstGeom prst="rect">
            <a:avLst/>
          </a:prstGeom>
          <a:noFill/>
          <a:ln/>
        </p:spPr>
        <p:txBody>
          <a:bodyPr wrap="square" lIns="0" tIns="0" rIns="0" bIns="0" rtlCol="0" anchor="t"/>
          <a:lstStyle/>
          <a:p>
            <a:pPr indent="0" marL="0">
              <a:lnSpc>
                <a:spcPct val="112000"/>
              </a:lnSpc>
              <a:buNone/>
            </a:pPr>
            <a:r>
              <a:rPr lang="en-US" sz="2400" b="1" dirty="0">
                <a:solidFill>
                  <a:srgbClr val="FFFFFF"/>
                </a:solidFill>
                <a:latin typeface="Georgia" pitchFamily="34" charset="0"/>
                <a:ea typeface="Georgia" pitchFamily="34" charset="-122"/>
                <a:cs typeface="Georgia" pitchFamily="34" charset="-120"/>
              </a:rPr>
              <a:t>The tier of government that affects a citizen most, and interests them least — until an election.</a:t>
            </a:r>
            <a:endParaRPr lang="en-US" sz="2400" dirty="0"/>
          </a:p>
        </p:txBody>
      </p:sp>
      <p:sp>
        <p:nvSpPr>
          <p:cNvPr id="112" name="Text 110"/>
          <p:cNvSpPr/>
          <p:nvPr/>
        </p:nvSpPr>
        <p:spPr>
          <a:xfrm>
            <a:off x="594360" y="3154680"/>
            <a:ext cx="5120640" cy="1371600"/>
          </a:xfrm>
          <a:prstGeom prst="rect">
            <a:avLst/>
          </a:prstGeom>
          <a:noFill/>
          <a:ln/>
        </p:spPr>
        <p:txBody>
          <a:bodyPr wrap="square" lIns="0" tIns="0" rIns="0" bIns="0" rtlCol="0" anchor="t"/>
          <a:lstStyle/>
          <a:p>
            <a:pPr indent="0" marL="0">
              <a:lnSpc>
                <a:spcPct val="128000"/>
              </a:lnSpc>
              <a:buNone/>
            </a:pPr>
            <a:r>
              <a:rPr lang="en-US" sz="1300" dirty="0">
                <a:solidFill>
                  <a:srgbClr val="C3D0DA"/>
                </a:solidFill>
                <a:latin typeface="Calibri" pitchFamily="34" charset="0"/>
                <a:ea typeface="Calibri" pitchFamily="34" charset="-122"/>
                <a:cs typeface="Calibri" pitchFamily="34" charset="-120"/>
              </a:rPr>
              <a:t>For roughly eight weeks before a ward poll, people go looking for information about their corporator, unprompted. Attention arrives free, on a date known in advance.</a:t>
            </a:r>
            <a:endParaRPr lang="en-US" sz="1300" dirty="0"/>
          </a:p>
          <a:p>
            <a:pPr indent="0" marL="0">
              <a:lnSpc>
                <a:spcPct val="128000"/>
              </a:lnSpc>
              <a:buNone/>
            </a:pPr>
            <a:endParaRPr lang="en-US" sz="1300" dirty="0"/>
          </a:p>
          <a:p>
            <a:pPr indent="0" marL="0">
              <a:lnSpc>
                <a:spcPct val="128000"/>
              </a:lnSpc>
              <a:buNone/>
            </a:pPr>
            <a:r>
              <a:rPr lang="en-US" sz="1300" dirty="0">
                <a:solidFill>
                  <a:srgbClr val="C3D0DA"/>
                </a:solidFill>
                <a:latin typeface="Calibri" pitchFamily="34" charset="0"/>
                <a:ea typeface="Calibri" pitchFamily="34" charset="-122"/>
                <a:cs typeface="Calibri" pitchFamily="34" charset="-120"/>
              </a:rPr>
              <a:t>That window is the cheapest acquisition in civic technology. And every Indian city has one coming.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PHASE ONE · BUILT AND RUNNING</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The election platform</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566928" y="1426464"/>
            <a:ext cx="7991856" cy="274320"/>
          </a:xfrm>
          <a:prstGeom prst="rect">
            <a:avLst/>
          </a:prstGeom>
          <a:noFill/>
          <a:ln/>
        </p:spPr>
        <p:txBody>
          <a:bodyPr wrap="square" lIns="0" tIns="0" rIns="0" bIns="0" rtlCol="0" anchor="t"/>
          <a:lstStyle/>
          <a:p>
            <a:pPr indent="0" marL="0">
              <a:buNone/>
            </a:pPr>
            <a:r>
              <a:rPr lang="en-US" sz="1200" i="1" dirty="0">
                <a:solidFill>
                  <a:srgbClr val="4E5F6D"/>
                </a:solidFill>
                <a:latin typeface="Calibri" pitchFamily="34" charset="0"/>
                <a:ea typeface="Calibri" pitchFamily="34" charset="-122"/>
                <a:cs typeface="Calibri" pitchFamily="34" charset="-120"/>
              </a:rPr>
              <a:t>This is not a proposal for software. It is a request to operate and extend software that exists.</a:t>
            </a:r>
            <a:endParaRPr lang="en-US" sz="1200" dirty="0"/>
          </a:p>
        </p:txBody>
      </p:sp>
      <p:sp>
        <p:nvSpPr>
          <p:cNvPr id="7" name="Shape 5"/>
          <p:cNvSpPr/>
          <p:nvPr/>
        </p:nvSpPr>
        <p:spPr>
          <a:xfrm>
            <a:off x="566928" y="1847088"/>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1847088"/>
            <a:ext cx="64008" cy="1280160"/>
          </a:xfrm>
          <a:prstGeom prst="rect">
            <a:avLst/>
          </a:prstGeom>
          <a:solidFill>
            <a:srgbClr val="0B6E6E"/>
          </a:solidFill>
          <a:ln/>
        </p:spPr>
      </p:sp>
      <p:sp>
        <p:nvSpPr>
          <p:cNvPr id="9" name="Text 7"/>
          <p:cNvSpPr/>
          <p:nvPr/>
        </p:nvSpPr>
        <p:spPr>
          <a:xfrm>
            <a:off x="804672" y="2002536"/>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 finder</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Enter an address, get your new GBA ward. All 369, with real delimitation boundaries.</a:t>
            </a:r>
            <a:endParaRPr lang="en-US" sz="1200" dirty="0"/>
          </a:p>
        </p:txBody>
      </p:sp>
      <p:sp>
        <p:nvSpPr>
          <p:cNvPr id="10" name="Shape 8"/>
          <p:cNvSpPr/>
          <p:nvPr/>
        </p:nvSpPr>
        <p:spPr>
          <a:xfrm>
            <a:off x="3291840" y="1847088"/>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847088"/>
            <a:ext cx="64008" cy="1280160"/>
          </a:xfrm>
          <a:prstGeom prst="rect">
            <a:avLst/>
          </a:prstGeom>
          <a:solidFill>
            <a:srgbClr val="0B6E6E"/>
          </a:solidFill>
          <a:ln/>
        </p:spPr>
      </p:sp>
      <p:sp>
        <p:nvSpPr>
          <p:cNvPr id="12" name="Text 10"/>
          <p:cNvSpPr/>
          <p:nvPr/>
        </p:nvSpPr>
        <p:spPr>
          <a:xfrm>
            <a:off x="3529584" y="2002536"/>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Candidate report cards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Cases, assets, education and track record, drawn from sworn EC affidavits.</a:t>
            </a:r>
            <a:endParaRPr lang="en-US" sz="1200" dirty="0"/>
          </a:p>
        </p:txBody>
      </p:sp>
      <p:sp>
        <p:nvSpPr>
          <p:cNvPr id="13" name="Shape 11"/>
          <p:cNvSpPr/>
          <p:nvPr/>
        </p:nvSpPr>
        <p:spPr>
          <a:xfrm>
            <a:off x="6016752" y="1847088"/>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6016752" y="1847088"/>
            <a:ext cx="64008" cy="1280160"/>
          </a:xfrm>
          <a:prstGeom prst="rect">
            <a:avLst/>
          </a:prstGeom>
          <a:solidFill>
            <a:srgbClr val="0B6E6E"/>
          </a:solidFill>
          <a:ln/>
        </p:spPr>
      </p:sp>
      <p:sp>
        <p:nvSpPr>
          <p:cNvPr id="15" name="Text 13"/>
          <p:cNvSpPr/>
          <p:nvPr/>
        </p:nvSpPr>
        <p:spPr>
          <a:xfrm>
            <a:off x="6254496" y="2002536"/>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Side-by-side comparison</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Same fields, same sourcing standard applied to every candidate.</a:t>
            </a:r>
            <a:endParaRPr lang="en-US" sz="1200" dirty="0"/>
          </a:p>
        </p:txBody>
      </p:sp>
      <p:sp>
        <p:nvSpPr>
          <p:cNvPr id="16" name="Shape 14"/>
          <p:cNvSpPr/>
          <p:nvPr/>
        </p:nvSpPr>
        <p:spPr>
          <a:xfrm>
            <a:off x="566928" y="3236976"/>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566928" y="3236976"/>
            <a:ext cx="64008" cy="1280160"/>
          </a:xfrm>
          <a:prstGeom prst="rect">
            <a:avLst/>
          </a:prstGeom>
          <a:solidFill>
            <a:srgbClr val="0B6E6E"/>
          </a:solidFill>
          <a:ln/>
        </p:spPr>
      </p:sp>
      <p:sp>
        <p:nvSpPr>
          <p:cNvPr id="18" name="Text 16"/>
          <p:cNvSpPr/>
          <p:nvPr/>
        </p:nvSpPr>
        <p:spPr>
          <a:xfrm>
            <a:off x="804672" y="3392424"/>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 issue voting</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Residents pick their top three local issues. Results public, including to non-voters.</a:t>
            </a:r>
            <a:endParaRPr lang="en-US" sz="1200" dirty="0"/>
          </a:p>
        </p:txBody>
      </p:sp>
      <p:sp>
        <p:nvSpPr>
          <p:cNvPr id="19" name="Shape 17"/>
          <p:cNvSpPr/>
          <p:nvPr/>
        </p:nvSpPr>
        <p:spPr>
          <a:xfrm>
            <a:off x="3291840" y="3236976"/>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0" name="Shape 18"/>
          <p:cNvSpPr/>
          <p:nvPr/>
        </p:nvSpPr>
        <p:spPr>
          <a:xfrm>
            <a:off x="3291840" y="3236976"/>
            <a:ext cx="64008" cy="1280160"/>
          </a:xfrm>
          <a:prstGeom prst="rect">
            <a:avLst/>
          </a:prstGeom>
          <a:solidFill>
            <a:srgbClr val="0B6E6E"/>
          </a:solidFill>
          <a:ln/>
        </p:spPr>
      </p:sp>
      <p:sp>
        <p:nvSpPr>
          <p:cNvPr id="21" name="Text 19"/>
          <p:cNvSpPr/>
          <p:nvPr/>
        </p:nvSpPr>
        <p:spPr>
          <a:xfrm>
            <a:off x="3529584" y="3392424"/>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Voting logistics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Roll check, voter ID, how to vote, booth locator — ordered as a checklist.</a:t>
            </a:r>
            <a:endParaRPr lang="en-US" sz="1200" dirty="0"/>
          </a:p>
        </p:txBody>
      </p:sp>
      <p:sp>
        <p:nvSpPr>
          <p:cNvPr id="22" name="Shape 20"/>
          <p:cNvSpPr/>
          <p:nvPr/>
        </p:nvSpPr>
        <p:spPr>
          <a:xfrm>
            <a:off x="6016752" y="3236976"/>
            <a:ext cx="2542032" cy="128016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3" name="Shape 21"/>
          <p:cNvSpPr/>
          <p:nvPr/>
        </p:nvSpPr>
        <p:spPr>
          <a:xfrm>
            <a:off x="6016752" y="3236976"/>
            <a:ext cx="64008" cy="1280160"/>
          </a:xfrm>
          <a:prstGeom prst="rect">
            <a:avLst/>
          </a:prstGeom>
          <a:solidFill>
            <a:srgbClr val="0B6E6E"/>
          </a:solidFill>
          <a:ln/>
        </p:spPr>
      </p:sp>
      <p:sp>
        <p:nvSpPr>
          <p:cNvPr id="24" name="Text 22"/>
          <p:cNvSpPr/>
          <p:nvPr/>
        </p:nvSpPr>
        <p:spPr>
          <a:xfrm>
            <a:off x="6254496" y="3392424"/>
            <a:ext cx="2084832" cy="99669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Bilingual throughout</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Every page in English and Kannada, each at its own shareable URL.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PHASE TWO · WHAT THIS GRANT FUNDS</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The ward accountability layer</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7</a:t>
            </a:r>
            <a:endParaRPr lang="en-US" sz="900" dirty="0"/>
          </a:p>
        </p:txBody>
      </p:sp>
      <p:sp>
        <p:nvSpPr>
          <p:cNvPr id="6" name="Text 4"/>
          <p:cNvSpPr/>
          <p:nvPr/>
        </p:nvSpPr>
        <p:spPr>
          <a:xfrm>
            <a:off x="566928" y="1426464"/>
            <a:ext cx="7991856" cy="274320"/>
          </a:xfrm>
          <a:prstGeom prst="rect">
            <a:avLst/>
          </a:prstGeom>
          <a:noFill/>
          <a:ln/>
        </p:spPr>
        <p:txBody>
          <a:bodyPr wrap="square" lIns="0" tIns="0" rIns="0" bIns="0" rtlCol="0" anchor="t"/>
          <a:lstStyle/>
          <a:p>
            <a:pPr indent="0" marL="0">
              <a:buNone/>
            </a:pPr>
            <a:r>
              <a:rPr lang="en-US" sz="1200" i="1" dirty="0">
                <a:solidFill>
                  <a:srgbClr val="4E5F6D"/>
                </a:solidFill>
                <a:latin typeface="Calibri" pitchFamily="34" charset="0"/>
                <a:ea typeface="Calibri" pitchFamily="34" charset="-122"/>
                <a:cs typeface="Calibri" pitchFamily="34" charset="-120"/>
              </a:rPr>
              <a:t>The same ward page a citizen used to choose a candidate becomes the page that tracks what that candidate does.</a:t>
            </a:r>
            <a:endParaRPr lang="en-US" sz="1200" dirty="0"/>
          </a:p>
        </p:txBody>
      </p:sp>
      <p:sp>
        <p:nvSpPr>
          <p:cNvPr id="7" name="Shape 5"/>
          <p:cNvSpPr/>
          <p:nvPr/>
        </p:nvSpPr>
        <p:spPr>
          <a:xfrm>
            <a:off x="566928" y="1847088"/>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1847088"/>
            <a:ext cx="64008" cy="1188720"/>
          </a:xfrm>
          <a:prstGeom prst="rect">
            <a:avLst/>
          </a:prstGeom>
          <a:solidFill>
            <a:srgbClr val="B85416"/>
          </a:solidFill>
          <a:ln/>
        </p:spPr>
      </p:sp>
      <p:sp>
        <p:nvSpPr>
          <p:cNvPr id="9" name="Text 7"/>
          <p:cNvSpPr/>
          <p:nvPr/>
        </p:nvSpPr>
        <p:spPr>
          <a:xfrm>
            <a:off x="804672" y="2002536"/>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 budget</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Allocation, spend to date, and what it was spent on.</a:t>
            </a:r>
            <a:endParaRPr lang="en-US" sz="1200" dirty="0"/>
          </a:p>
        </p:txBody>
      </p:sp>
      <p:sp>
        <p:nvSpPr>
          <p:cNvPr id="10" name="Shape 8"/>
          <p:cNvSpPr/>
          <p:nvPr/>
        </p:nvSpPr>
        <p:spPr>
          <a:xfrm>
            <a:off x="3291840" y="1847088"/>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847088"/>
            <a:ext cx="64008" cy="1188720"/>
          </a:xfrm>
          <a:prstGeom prst="rect">
            <a:avLst/>
          </a:prstGeom>
          <a:solidFill>
            <a:srgbClr val="B85416"/>
          </a:solidFill>
          <a:ln/>
        </p:spPr>
      </p:sp>
      <p:sp>
        <p:nvSpPr>
          <p:cNvPr id="12" name="Text 10"/>
          <p:cNvSpPr/>
          <p:nvPr/>
        </p:nvSpPr>
        <p:spPr>
          <a:xfrm>
            <a:off x="3529584" y="2002536"/>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Works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Projects sanctioned, under way and completed — with cost and status.</a:t>
            </a:r>
            <a:endParaRPr lang="en-US" sz="1200" dirty="0"/>
          </a:p>
        </p:txBody>
      </p:sp>
      <p:sp>
        <p:nvSpPr>
          <p:cNvPr id="13" name="Shape 11"/>
          <p:cNvSpPr/>
          <p:nvPr/>
        </p:nvSpPr>
        <p:spPr>
          <a:xfrm>
            <a:off x="6016752" y="1847088"/>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6016752" y="1847088"/>
            <a:ext cx="64008" cy="1188720"/>
          </a:xfrm>
          <a:prstGeom prst="rect">
            <a:avLst/>
          </a:prstGeom>
          <a:solidFill>
            <a:srgbClr val="B85416"/>
          </a:solidFill>
          <a:ln/>
        </p:spPr>
      </p:sp>
      <p:sp>
        <p:nvSpPr>
          <p:cNvPr id="15" name="Text 13"/>
          <p:cNvSpPr/>
          <p:nvPr/>
        </p:nvSpPr>
        <p:spPr>
          <a:xfrm>
            <a:off x="6254496" y="2002536"/>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Officials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Who is responsible for what in this ward, and how to reach them.</a:t>
            </a:r>
            <a:endParaRPr lang="en-US" sz="1200" dirty="0"/>
          </a:p>
        </p:txBody>
      </p:sp>
      <p:sp>
        <p:nvSpPr>
          <p:cNvPr id="16" name="Shape 14"/>
          <p:cNvSpPr/>
          <p:nvPr/>
        </p:nvSpPr>
        <p:spPr>
          <a:xfrm>
            <a:off x="566928" y="3163824"/>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566928" y="3163824"/>
            <a:ext cx="64008" cy="1188720"/>
          </a:xfrm>
          <a:prstGeom prst="rect">
            <a:avLst/>
          </a:prstGeom>
          <a:solidFill>
            <a:srgbClr val="B85416"/>
          </a:solidFill>
          <a:ln/>
        </p:spPr>
      </p:sp>
      <p:sp>
        <p:nvSpPr>
          <p:cNvPr id="18" name="Text 16"/>
          <p:cNvSpPr/>
          <p:nvPr/>
        </p:nvSpPr>
        <p:spPr>
          <a:xfrm>
            <a:off x="804672" y="3319272"/>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Community</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 link to the ward's residents' WhatsApp or community group.</a:t>
            </a:r>
            <a:endParaRPr lang="en-US" sz="1200" dirty="0"/>
          </a:p>
        </p:txBody>
      </p:sp>
      <p:sp>
        <p:nvSpPr>
          <p:cNvPr id="19" name="Shape 17"/>
          <p:cNvSpPr/>
          <p:nvPr/>
        </p:nvSpPr>
        <p:spPr>
          <a:xfrm>
            <a:off x="3291840" y="3163824"/>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0" name="Shape 18"/>
          <p:cNvSpPr/>
          <p:nvPr/>
        </p:nvSpPr>
        <p:spPr>
          <a:xfrm>
            <a:off x="3291840" y="3163824"/>
            <a:ext cx="64008" cy="1188720"/>
          </a:xfrm>
          <a:prstGeom prst="rect">
            <a:avLst/>
          </a:prstGeom>
          <a:solidFill>
            <a:srgbClr val="B85416"/>
          </a:solidFill>
          <a:ln/>
        </p:spPr>
      </p:sp>
      <p:sp>
        <p:nvSpPr>
          <p:cNvPr id="21" name="Text 19"/>
          <p:cNvSpPr/>
          <p:nvPr/>
        </p:nvSpPr>
        <p:spPr>
          <a:xfrm>
            <a:off x="3529584" y="3319272"/>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 statistics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Road length, population, area, civic assets.</a:t>
            </a:r>
            <a:endParaRPr lang="en-US" sz="1200" dirty="0"/>
          </a:p>
        </p:txBody>
      </p:sp>
      <p:sp>
        <p:nvSpPr>
          <p:cNvPr id="22" name="Shape 20"/>
          <p:cNvSpPr/>
          <p:nvPr/>
        </p:nvSpPr>
        <p:spPr>
          <a:xfrm>
            <a:off x="6016752" y="3163824"/>
            <a:ext cx="2542032" cy="11887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3" name="Shape 21"/>
          <p:cNvSpPr/>
          <p:nvPr/>
        </p:nvSpPr>
        <p:spPr>
          <a:xfrm>
            <a:off x="6016752" y="3163824"/>
            <a:ext cx="64008" cy="1188720"/>
          </a:xfrm>
          <a:prstGeom prst="rect">
            <a:avLst/>
          </a:prstGeom>
          <a:solidFill>
            <a:srgbClr val="B85416"/>
          </a:solidFill>
          <a:ln/>
        </p:spPr>
      </p:sp>
      <p:sp>
        <p:nvSpPr>
          <p:cNvPr id="24" name="Text 22"/>
          <p:cNvSpPr/>
          <p:nvPr/>
        </p:nvSpPr>
        <p:spPr>
          <a:xfrm>
            <a:off x="6254496" y="3319272"/>
            <a:ext cx="2084832" cy="90525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Corporator report cards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 candidate report card, carried forward for whoever won.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TWO-YEAR ARC</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Anchored to the poll, not the calendar</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7991856" cy="914400"/>
        </p:xfrm>
        <a:graphic>
          <a:graphicData uri="http://schemas.openxmlformats.org/drawingml/2006/table">
            <a:tbl>
              <a:tblPr/>
              <a:tblGrid>
                <a:gridCol w="1234440"/>
                <a:gridCol w="3675888"/>
                <a:gridCol w="3081528"/>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Period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Bengaluru</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Second city</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457200">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Now → 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Election platform at full load: ward finder, report cards, issue voting, booth logistics, poll day</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 → E+6</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Results. Candidate report cards become corporator report cards. Ward budget and works layer ships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Election calendar assessed; city named by month 12</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E+6 → E+12</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Accountability layer in daily operation; first annual ward scorecards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Newsroom briefed, curators recruited, ward data acquired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E+12 → E+18</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Second annual cycle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Platform live in city two, through its own election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E+18 → E+24</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Replication playbook published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Handover to steady-state operation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4279392"/>
            <a:ext cx="7498080" cy="365760"/>
          </a:xfrm>
          <a:prstGeom prst="rect">
            <a:avLst/>
          </a:prstGeom>
          <a:noFill/>
          <a:ln/>
        </p:spPr>
        <p:txBody>
          <a:bodyPr wrap="square" lIns="0" tIns="0" rIns="0" bIns="0" rtlCol="0" anchor="t"/>
          <a:lstStyle/>
          <a:p>
            <a:pPr indent="0" marL="0">
              <a:lnSpc>
                <a:spcPct val="115000"/>
              </a:lnSpc>
              <a:buNone/>
            </a:pPr>
            <a:r>
              <a:rPr lang="en-US" sz="1150" b="1" dirty="0">
                <a:solidFill>
                  <a:srgbClr val="B85416"/>
                </a:solidFill>
                <a:latin typeface="Calibri" pitchFamily="34" charset="0"/>
                <a:ea typeface="Calibri" pitchFamily="34" charset="-122"/>
                <a:cs typeface="Calibri" pitchFamily="34" charset="-120"/>
              </a:rPr>
              <a:t>E is the Bengaluru poll, ordered by the Supreme Court to happen by 31 December 2026. The election phase is already under way, and it is short.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WHY A SECOND CITY IS CHEAP</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What travels, and what does not</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66928" y="1426464"/>
            <a:ext cx="3904488" cy="274320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64008" cy="2743200"/>
          </a:xfrm>
          <a:prstGeom prst="rect">
            <a:avLst/>
          </a:prstGeom>
          <a:solidFill>
            <a:srgbClr val="0B6E6E"/>
          </a:solidFill>
          <a:ln/>
        </p:spPr>
      </p:sp>
      <p:sp>
        <p:nvSpPr>
          <p:cNvPr id="8" name="Text 6"/>
          <p:cNvSpPr/>
          <p:nvPr/>
        </p:nvSpPr>
        <p:spPr>
          <a:xfrm>
            <a:off x="804672" y="1581912"/>
            <a:ext cx="3447288" cy="2459736"/>
          </a:xfrm>
          <a:prstGeom prst="rect">
            <a:avLst/>
          </a:prstGeom>
          <a:noFill/>
          <a:ln/>
        </p:spPr>
        <p:txBody>
          <a:bodyPr wrap="square" lIns="0" tIns="0" rIns="0" bIns="0" rtlCol="0" anchor="t"/>
          <a:lstStyle/>
          <a:p>
            <a:pPr indent="0" marL="0">
              <a:lnSpc>
                <a:spcPct val="116000"/>
              </a:lnSpc>
              <a:buNone/>
            </a:pPr>
            <a:r>
              <a:rPr lang="en-US" sz="1200" b="1" dirty="0">
                <a:solidFill>
                  <a:srgbClr val="0E1F2B"/>
                </a:solidFill>
                <a:latin typeface="Calibri" pitchFamily="34" charset="0"/>
                <a:ea typeface="Calibri" pitchFamily="34" charset="-122"/>
                <a:cs typeface="Calibri" pitchFamily="34" charset="-120"/>
              </a:rPr>
              <a:t>Travels — built once, reused</a:t>
            </a:r>
            <a:endParaRPr lang="en-US" sz="1200" dirty="0"/>
          </a:p>
        </p:txBody>
      </p:sp>
      <p:sp>
        <p:nvSpPr>
          <p:cNvPr id="9" name="Text 7"/>
          <p:cNvSpPr/>
          <p:nvPr/>
        </p:nvSpPr>
        <p:spPr>
          <a:xfrm>
            <a:off x="841248" y="1847088"/>
            <a:ext cx="3401568" cy="224028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The platform itself</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The ward and candidate data model</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The affidavit extraction pipeline</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The curator handbook and training</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The flag-and-correct workflow</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Audit and rollback machinery</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Comms templates and partner kits</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A Citizen Matters newsroom already there</a:t>
            </a:r>
            <a:endParaRPr lang="en-US" sz="1050" dirty="0"/>
          </a:p>
        </p:txBody>
      </p:sp>
      <p:sp>
        <p:nvSpPr>
          <p:cNvPr id="10" name="Shape 8"/>
          <p:cNvSpPr/>
          <p:nvPr/>
        </p:nvSpPr>
        <p:spPr>
          <a:xfrm>
            <a:off x="4654296" y="1426464"/>
            <a:ext cx="3904488" cy="274320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4654296" y="1426464"/>
            <a:ext cx="64008" cy="2743200"/>
          </a:xfrm>
          <a:prstGeom prst="rect">
            <a:avLst/>
          </a:prstGeom>
          <a:solidFill>
            <a:srgbClr val="B85416"/>
          </a:solidFill>
          <a:ln/>
        </p:spPr>
      </p:sp>
      <p:sp>
        <p:nvSpPr>
          <p:cNvPr id="12" name="Text 10"/>
          <p:cNvSpPr/>
          <p:nvPr/>
        </p:nvSpPr>
        <p:spPr>
          <a:xfrm>
            <a:off x="4892040" y="1581912"/>
            <a:ext cx="3447288" cy="2459736"/>
          </a:xfrm>
          <a:prstGeom prst="rect">
            <a:avLst/>
          </a:prstGeom>
          <a:noFill/>
          <a:ln/>
        </p:spPr>
        <p:txBody>
          <a:bodyPr wrap="square" lIns="0" tIns="0" rIns="0" bIns="0" rtlCol="0" anchor="t"/>
          <a:lstStyle/>
          <a:p>
            <a:pPr indent="0" marL="0">
              <a:lnSpc>
                <a:spcPct val="116000"/>
              </a:lnSpc>
              <a:buNone/>
            </a:pPr>
            <a:r>
              <a:rPr lang="en-US" sz="1200" b="1" dirty="0">
                <a:solidFill>
                  <a:srgbClr val="0E1F2B"/>
                </a:solidFill>
                <a:latin typeface="Calibri" pitchFamily="34" charset="0"/>
                <a:ea typeface="Calibri" pitchFamily="34" charset="-122"/>
                <a:cs typeface="Calibri" pitchFamily="34" charset="-120"/>
              </a:rPr>
              <a:t>Does not travel — bought fresh</a:t>
            </a:r>
            <a:endParaRPr lang="en-US" sz="1200" dirty="0"/>
          </a:p>
        </p:txBody>
      </p:sp>
      <p:sp>
        <p:nvSpPr>
          <p:cNvPr id="13" name="Text 11"/>
          <p:cNvSpPr/>
          <p:nvPr/>
        </p:nvSpPr>
        <p:spPr>
          <a:xfrm>
            <a:off x="4928616" y="1847088"/>
            <a:ext cx="3401568" cy="224028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Ward boundary and delimitation data</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Local curators</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Local partner organisations</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Translation into the local language</a:t>
            </a:r>
            <a:endParaRPr lang="en-US" sz="1050" dirty="0"/>
          </a:p>
          <a:p>
            <a:pPr marL="177800" indent="-177800">
              <a:lnSpc>
                <a:spcPct val="115000"/>
              </a:lnSpc>
              <a:spcAft>
                <a:spcPts val="700"/>
              </a:spcAft>
              <a:buSzPct val="100000"/>
              <a:buChar char="•"/>
            </a:pPr>
            <a:r>
              <a:rPr lang="en-US" sz="1050" dirty="0">
                <a:solidFill>
                  <a:srgbClr val="173243"/>
                </a:solidFill>
                <a:latin typeface="Calibri" pitchFamily="34" charset="0"/>
                <a:ea typeface="Calibri" pitchFamily="34" charset="-122"/>
                <a:cs typeface="Calibri" pitchFamily="34" charset="-120"/>
              </a:rPr>
              <a:t>Relationships with the local election office and municipal body</a:t>
            </a:r>
            <a:endParaRPr lang="en-US" sz="1050" dirty="0"/>
          </a:p>
        </p:txBody>
      </p:sp>
      <p:sp>
        <p:nvSpPr>
          <p:cNvPr id="14" name="Text 12"/>
          <p:cNvSpPr/>
          <p:nvPr/>
        </p:nvSpPr>
        <p:spPr>
          <a:xfrm>
            <a:off x="566928" y="4334256"/>
            <a:ext cx="7498080" cy="365760"/>
          </a:xfrm>
          <a:prstGeom prst="rect">
            <a:avLst/>
          </a:prstGeom>
          <a:noFill/>
          <a:ln/>
        </p:spPr>
        <p:txBody>
          <a:bodyPr wrap="square" lIns="0" tIns="0" rIns="0" bIns="0" rtlCol="0" anchor="t"/>
          <a:lstStyle/>
          <a:p>
            <a:pPr indent="0" marL="0">
              <a:lnSpc>
                <a:spcPct val="115000"/>
              </a:lnSpc>
              <a:buNone/>
            </a:pPr>
            <a:r>
              <a:rPr lang="en-US" sz="1150" b="1" dirty="0">
                <a:solidFill>
                  <a:srgbClr val="0E1F2B"/>
                </a:solidFill>
                <a:latin typeface="Calibri" pitchFamily="34" charset="0"/>
                <a:ea typeface="Calibri" pitchFamily="34" charset="-122"/>
                <a:cs typeface="Calibri" pitchFamily="34" charset="-120"/>
              </a:rPr>
              <a:t>Software is the expensive half, and it is already paid for. A new city costs people and data.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SECOND CITY</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The constraint is a calendar</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566928" y="4590288"/>
            <a:ext cx="7498080" cy="274320"/>
          </a:xfrm>
          <a:prstGeom prst="rect">
            <a:avLst/>
          </a:prstGeom>
          <a:noFill/>
          <a:ln/>
        </p:spPr>
        <p:txBody>
          <a:bodyPr wrap="square" lIns="0" tIns="0" rIns="0" bIns="0" rtlCol="0" anchor="t"/>
          <a:lstStyle/>
          <a:p>
            <a:pPr indent="0" marL="0">
              <a:buNone/>
            </a:pPr>
            <a:r>
              <a:rPr lang="en-US" sz="900" i="1" dirty="0">
                <a:solidFill>
                  <a:srgbClr val="4E5F6D"/>
                </a:solidFill>
                <a:latin typeface="Calibri" pitchFamily="34" charset="0"/>
                <a:ea typeface="Calibri" pitchFamily="34" charset="-122"/>
                <a:cs typeface="Calibri" pitchFamily="34" charset="-120"/>
              </a:rPr>
              <a:t>Positions as of July 2026. Every date is an expectation, not a notified schedule.</a:t>
            </a:r>
            <a:endParaRPr lang="en-US" sz="900" dirty="0"/>
          </a:p>
        </p:txBody>
      </p:sp>
      <p:sp>
        <p:nvSpPr>
          <p:cNvPr id="7" name="Text 5"/>
          <p:cNvSpPr/>
          <p:nvPr/>
        </p:nvSpPr>
        <p:spPr>
          <a:xfrm>
            <a:off x="566928" y="1426464"/>
            <a:ext cx="7991856" cy="274320"/>
          </a:xfrm>
          <a:prstGeom prst="rect">
            <a:avLst/>
          </a:prstGeom>
          <a:noFill/>
          <a:ln/>
        </p:spPr>
        <p:txBody>
          <a:bodyPr wrap="square" lIns="0" tIns="0" rIns="0" bIns="0" rtlCol="0" anchor="t"/>
          <a:lstStyle/>
          <a:p>
            <a:pPr indent="0" marL="0">
              <a:buNone/>
            </a:pPr>
            <a:r>
              <a:rPr lang="en-US" sz="1150" dirty="0">
                <a:solidFill>
                  <a:srgbClr val="173243"/>
                </a:solidFill>
                <a:latin typeface="Calibri" pitchFamily="34" charset="0"/>
                <a:ea typeface="Calibri" pitchFamily="34" charset="-122"/>
                <a:cs typeface="Calibri" pitchFamily="34" charset="-120"/>
              </a:rPr>
              <a:t>Citizen Matters already runs newsrooms in Chennai, Mumbai, Delhi/NCR and Hyderabad.</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7991856" cy="914400"/>
        </p:xfrm>
        <a:graphic>
          <a:graphicData uri="http://schemas.openxmlformats.org/drawingml/2006/table">
            <a:tbl>
              <a:tblPr/>
              <a:tblGrid>
                <a:gridCol w="1691640"/>
                <a:gridCol w="1188720"/>
                <a:gridCol w="5111496"/>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City</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Wards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Position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420624">
                <a:tc>
                  <a:txBody>
                    <a:bodyPr/>
                    <a:lstStyle/>
                    <a:p>
                      <a:pPr indent="0" marL="0">
                        <a:buNone/>
                      </a:pPr>
                      <a:r>
                        <a:rPr lang="en-US" sz="1050" b="1" dirty="0">
                          <a:solidFill>
                            <a:srgbClr val="0B6E6E"/>
                          </a:solidFill>
                          <a:latin typeface="Calibri" pitchFamily="34" charset="0"/>
                          <a:ea typeface="Calibri" pitchFamily="34" charset="-122"/>
                          <a:cs typeface="Calibri" pitchFamily="34" charset="-120"/>
                        </a:rPr>
                        <a:t>Chennai (GCC)</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Term runs to March 2027; statewide Tamil Nadu local body polls expected February–March 2027.</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Delhi (MCD)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250</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Elected December 2022; next general election due 2027.</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Hyderabad (GHMC)</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150 + 76 + 74</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Term expired February 2026; since split into three corporations. Delimitation under High Court challenge.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Mumbai (BMC)</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227</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Polled January 2026. Out of scope until 2031.</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
        <p:nvSpPr>
          <p:cNvPr id="9" name="Text 6"/>
          <p:cNvSpPr/>
          <p:nvPr/>
        </p:nvSpPr>
        <p:spPr>
          <a:xfrm>
            <a:off x="566928" y="4114800"/>
            <a:ext cx="7498080" cy="457200"/>
          </a:xfrm>
          <a:prstGeom prst="rect">
            <a:avLst/>
          </a:prstGeom>
          <a:noFill/>
          <a:ln/>
        </p:spPr>
        <p:txBody>
          <a:bodyPr wrap="square" lIns="0" tIns="0" rIns="0" bIns="0" rtlCol="0" anchor="t"/>
          <a:lstStyle/>
          <a:p>
            <a:pPr indent="0" marL="0">
              <a:lnSpc>
                <a:spcPct val="118000"/>
              </a:lnSpc>
              <a:buNone/>
            </a:pPr>
            <a:r>
              <a:rPr lang="en-US" sz="1100" b="1" dirty="0">
                <a:solidFill>
                  <a:srgbClr val="0E1F2B"/>
                </a:solidFill>
                <a:latin typeface="Calibri" pitchFamily="34" charset="0"/>
                <a:ea typeface="Calibri" pitchFamily="34" charset="-122"/>
                <a:cs typeface="Calibri" pitchFamily="34" charset="-120"/>
              </a:rPr>
              <a:t>Chennai is the strongest candidate</a:t>
            </a:r>
            <a:pPr indent="0" marL="0">
              <a:lnSpc>
                <a:spcPct val="118000"/>
              </a:lnSpc>
              <a:buNone/>
            </a:pPr>
            <a:r>
              <a:rPr lang="en-US" sz="1100" dirty="0">
                <a:solidFill>
                  <a:srgbClr val="173243"/>
                </a:solidFill>
                <a:latin typeface="Calibri" pitchFamily="34" charset="0"/>
                <a:ea typeface="Calibri" pitchFamily="34" charset="-122"/>
                <a:cs typeface="Calibri" pitchFamily="34" charset="-120"/>
              </a:rPr>
              <a:t> — its poll falls inside the grant window, its newsroom is our second-strongest, and Tamil Nadu votes statewide, so one engagement reaches well beyond one city. We name the city by month 12.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WHY US</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We have already done this, four times</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66928" y="1426464"/>
            <a:ext cx="3904488" cy="1627632"/>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64008" cy="1627632"/>
          </a:xfrm>
          <a:prstGeom prst="rect">
            <a:avLst/>
          </a:prstGeom>
          <a:solidFill>
            <a:srgbClr val="B85416"/>
          </a:solidFill>
          <a:ln/>
        </p:spPr>
      </p:sp>
      <p:sp>
        <p:nvSpPr>
          <p:cNvPr id="8" name="Text 6"/>
          <p:cNvSpPr/>
          <p:nvPr/>
        </p:nvSpPr>
        <p:spPr>
          <a:xfrm>
            <a:off x="804672" y="1581912"/>
            <a:ext cx="3447288" cy="420624"/>
          </a:xfrm>
          <a:prstGeom prst="rect">
            <a:avLst/>
          </a:prstGeom>
          <a:noFill/>
          <a:ln/>
        </p:spPr>
        <p:txBody>
          <a:bodyPr wrap="square" lIns="0" tIns="0" rIns="0" bIns="0" rtlCol="0" anchor="t"/>
          <a:lstStyle/>
          <a:p>
            <a:pPr indent="0" marL="0">
              <a:buNone/>
            </a:pPr>
            <a:r>
              <a:rPr lang="en-US" sz="2500" b="1" dirty="0">
                <a:solidFill>
                  <a:srgbClr val="B85416"/>
                </a:solidFill>
                <a:latin typeface="Georgia" pitchFamily="34" charset="0"/>
                <a:ea typeface="Georgia" pitchFamily="34" charset="-122"/>
                <a:cs typeface="Georgia" pitchFamily="34" charset="-120"/>
              </a:rPr>
              <a:t>21</a:t>
            </a:r>
            <a:endParaRPr lang="en-US" sz="2500" dirty="0"/>
          </a:p>
        </p:txBody>
      </p:sp>
      <p:sp>
        <p:nvSpPr>
          <p:cNvPr id="9" name="Text 7"/>
          <p:cNvSpPr/>
          <p:nvPr/>
        </p:nvSpPr>
        <p:spPr>
          <a:xfrm>
            <a:off x="804672" y="2057400"/>
            <a:ext cx="3447288" cy="868680"/>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Constituencies covered in 2024</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Across Chennai, Bengaluru, Mumbai and Delhi — candidate profiles, maps, past results, booth lookup, key issues. With Mumbai Votes and Praja Foundation.</a:t>
            </a:r>
            <a:endParaRPr lang="en-US" sz="1200" dirty="0"/>
          </a:p>
        </p:txBody>
      </p:sp>
      <p:sp>
        <p:nvSpPr>
          <p:cNvPr id="10" name="Text 8"/>
          <p:cNvSpPr/>
          <p:nvPr/>
        </p:nvSpPr>
        <p:spPr>
          <a:xfrm>
            <a:off x="566928" y="3346704"/>
            <a:ext cx="3904488" cy="731520"/>
          </a:xfrm>
          <a:prstGeom prst="rect">
            <a:avLst/>
          </a:prstGeom>
          <a:noFill/>
          <a:ln/>
        </p:spPr>
        <p:txBody>
          <a:bodyPr wrap="square" lIns="0" tIns="0" rIns="0" bIns="0" rtlCol="0" anchor="t"/>
          <a:lstStyle/>
          <a:p>
            <a:pPr indent="0" marL="0">
              <a:lnSpc>
                <a:spcPct val="120000"/>
              </a:lnSpc>
              <a:buNone/>
            </a:pPr>
            <a:r>
              <a:rPr lang="en-US" sz="1150" b="1" dirty="0">
                <a:solidFill>
                  <a:srgbClr val="0E1F2B"/>
                </a:solidFill>
                <a:latin typeface="Calibri" pitchFamily="34" charset="0"/>
                <a:ea typeface="Calibri" pitchFamily="34" charset="-122"/>
                <a:cs typeface="Calibri" pitchFamily="34" charset="-120"/>
              </a:rPr>
              <a:t>The GBA platform is not our first election project. It is the ward-level version of something we have already built four times, in four cities.</a:t>
            </a:r>
            <a:endParaRPr lang="en-US" sz="1150" dirty="0"/>
          </a:p>
        </p:txBody>
      </p:sp>
      <p:sp>
        <p:nvSpPr>
          <p:cNvPr id="11" name="Text 9"/>
          <p:cNvSpPr/>
          <p:nvPr/>
        </p:nvSpPr>
        <p:spPr>
          <a:xfrm>
            <a:off x="566928" y="4169664"/>
            <a:ext cx="3904488" cy="457200"/>
          </a:xfrm>
          <a:prstGeom prst="rect">
            <a:avLst/>
          </a:prstGeom>
          <a:noFill/>
          <a:ln/>
        </p:spPr>
        <p:txBody>
          <a:bodyPr wrap="square" lIns="0" tIns="0" rIns="0" bIns="0" rtlCol="0" anchor="t"/>
          <a:lstStyle/>
          <a:p>
            <a:pPr indent="0" marL="0">
              <a:lnSpc>
                <a:spcPct val="118000"/>
              </a:lnSpc>
              <a:buNone/>
            </a:pPr>
            <a:r>
              <a:rPr lang="en-US" sz="1050" i="1" dirty="0">
                <a:solidFill>
                  <a:srgbClr val="4E5F6D"/>
                </a:solidFill>
                <a:latin typeface="Calibri" pitchFamily="34" charset="0"/>
                <a:ea typeface="Calibri" pitchFamily="34" charset="-122"/>
                <a:cs typeface="Calibri" pitchFamily="34" charset="-120"/>
              </a:rPr>
              <a:t>Citizen Matters since 2008 · Oorvani Foundation since 2013 · Open City since 2016</a:t>
            </a:r>
            <a:endParaRPr lang="en-US" sz="1050" dirty="0"/>
          </a:p>
        </p:txBody>
      </p:sp>
      <p:sp>
        <p:nvSpPr>
          <p:cNvPr id="12" name="Shape 10"/>
          <p:cNvSpPr/>
          <p:nvPr/>
        </p:nvSpPr>
        <p:spPr>
          <a:xfrm>
            <a:off x="4654296" y="1426464"/>
            <a:ext cx="1860804" cy="914400"/>
          </a:xfrm>
          <a:prstGeom prst="rect">
            <a:avLst/>
          </a:prstGeom>
          <a:solidFill>
            <a:srgbClr val="FFFFFF"/>
          </a:solidFill>
          <a:ln w="9525">
            <a:solidFill>
              <a:srgbClr val="D9D3C8"/>
            </a:solidFill>
            <a:prstDash val="solid"/>
          </a:ln>
        </p:spPr>
      </p:sp>
      <p:sp>
        <p:nvSpPr>
          <p:cNvPr id="13" name="Text 11"/>
          <p:cNvSpPr/>
          <p:nvPr/>
        </p:nvSpPr>
        <p:spPr>
          <a:xfrm>
            <a:off x="4800600" y="1545336"/>
            <a:ext cx="1586484" cy="384048"/>
          </a:xfrm>
          <a:prstGeom prst="rect">
            <a:avLst/>
          </a:prstGeom>
          <a:noFill/>
          <a:ln/>
        </p:spPr>
        <p:txBody>
          <a:bodyPr wrap="square" lIns="0" tIns="0" rIns="0" bIns="0" rtlCol="0" anchor="t"/>
          <a:lstStyle/>
          <a:p>
            <a:pPr indent="0" marL="0">
              <a:buNone/>
            </a:pPr>
            <a:r>
              <a:rPr lang="en-US" sz="2100" b="1" dirty="0">
                <a:solidFill>
                  <a:srgbClr val="0B6E6E"/>
                </a:solidFill>
                <a:latin typeface="Georgia" pitchFamily="34" charset="0"/>
                <a:ea typeface="Georgia" pitchFamily="34" charset="-122"/>
                <a:cs typeface="Georgia" pitchFamily="34" charset="-120"/>
              </a:rPr>
              <a:t>505</a:t>
            </a:r>
            <a:endParaRPr lang="en-US" sz="2100" dirty="0"/>
          </a:p>
        </p:txBody>
      </p:sp>
      <p:sp>
        <p:nvSpPr>
          <p:cNvPr id="14" name="Text 12"/>
          <p:cNvSpPr/>
          <p:nvPr/>
        </p:nvSpPr>
        <p:spPr>
          <a:xfrm>
            <a:off x="4800600" y="1929384"/>
            <a:ext cx="1586484" cy="365760"/>
          </a:xfrm>
          <a:prstGeom prst="rect">
            <a:avLst/>
          </a:prstGeom>
          <a:noFill/>
          <a:ln/>
        </p:spPr>
        <p:txBody>
          <a:bodyPr wrap="square" lIns="0" tIns="0" rIns="0" bIns="0" rtlCol="0" anchor="t"/>
          <a:lstStyle/>
          <a:p>
            <a:pPr indent="0" marL="0">
              <a:lnSpc>
                <a:spcPct val="110000"/>
              </a:lnSpc>
              <a:buNone/>
            </a:pPr>
            <a:r>
              <a:rPr lang="en-US" sz="900" dirty="0">
                <a:solidFill>
                  <a:srgbClr val="4E5F6D"/>
                </a:solidFill>
                <a:latin typeface="Calibri" pitchFamily="34" charset="0"/>
                <a:ea typeface="Calibri" pitchFamily="34" charset="-122"/>
                <a:cs typeface="Calibri" pitchFamily="34" charset="-120"/>
              </a:rPr>
              <a:t>articles in FY25, across 9 cities</a:t>
            </a:r>
            <a:endParaRPr lang="en-US" sz="900" dirty="0"/>
          </a:p>
        </p:txBody>
      </p:sp>
      <p:sp>
        <p:nvSpPr>
          <p:cNvPr id="15" name="Shape 13"/>
          <p:cNvSpPr/>
          <p:nvPr/>
        </p:nvSpPr>
        <p:spPr>
          <a:xfrm>
            <a:off x="6697980" y="1426464"/>
            <a:ext cx="1860804" cy="914400"/>
          </a:xfrm>
          <a:prstGeom prst="rect">
            <a:avLst/>
          </a:prstGeom>
          <a:solidFill>
            <a:srgbClr val="FFFFFF"/>
          </a:solidFill>
          <a:ln w="9525">
            <a:solidFill>
              <a:srgbClr val="D9D3C8"/>
            </a:solidFill>
            <a:prstDash val="solid"/>
          </a:ln>
        </p:spPr>
      </p:sp>
      <p:sp>
        <p:nvSpPr>
          <p:cNvPr id="16" name="Text 14"/>
          <p:cNvSpPr/>
          <p:nvPr/>
        </p:nvSpPr>
        <p:spPr>
          <a:xfrm>
            <a:off x="6844284" y="1545336"/>
            <a:ext cx="1586484" cy="384048"/>
          </a:xfrm>
          <a:prstGeom prst="rect">
            <a:avLst/>
          </a:prstGeom>
          <a:noFill/>
          <a:ln/>
        </p:spPr>
        <p:txBody>
          <a:bodyPr wrap="square" lIns="0" tIns="0" rIns="0" bIns="0" rtlCol="0" anchor="t"/>
          <a:lstStyle/>
          <a:p>
            <a:pPr indent="0" marL="0">
              <a:buNone/>
            </a:pPr>
            <a:r>
              <a:rPr lang="en-US" sz="2100" b="1" dirty="0">
                <a:solidFill>
                  <a:srgbClr val="0B6E6E"/>
                </a:solidFill>
                <a:latin typeface="Georgia" pitchFamily="34" charset="0"/>
                <a:ea typeface="Georgia" pitchFamily="34" charset="-122"/>
                <a:cs typeface="Georgia" pitchFamily="34" charset="-120"/>
              </a:rPr>
              <a:t>3.4M</a:t>
            </a:r>
            <a:endParaRPr lang="en-US" sz="2100" dirty="0"/>
          </a:p>
        </p:txBody>
      </p:sp>
      <p:sp>
        <p:nvSpPr>
          <p:cNvPr id="17" name="Text 15"/>
          <p:cNvSpPr/>
          <p:nvPr/>
        </p:nvSpPr>
        <p:spPr>
          <a:xfrm>
            <a:off x="6844284" y="1929384"/>
            <a:ext cx="1586484" cy="365760"/>
          </a:xfrm>
          <a:prstGeom prst="rect">
            <a:avLst/>
          </a:prstGeom>
          <a:noFill/>
          <a:ln/>
        </p:spPr>
        <p:txBody>
          <a:bodyPr wrap="square" lIns="0" tIns="0" rIns="0" bIns="0" rtlCol="0" anchor="t"/>
          <a:lstStyle/>
          <a:p>
            <a:pPr indent="0" marL="0">
              <a:lnSpc>
                <a:spcPct val="110000"/>
              </a:lnSpc>
              <a:buNone/>
            </a:pPr>
            <a:r>
              <a:rPr lang="en-US" sz="900" dirty="0">
                <a:solidFill>
                  <a:srgbClr val="4E5F6D"/>
                </a:solidFill>
                <a:latin typeface="Calibri" pitchFamily="34" charset="0"/>
                <a:ea typeface="Calibri" pitchFamily="34" charset="-122"/>
                <a:cs typeface="Calibri" pitchFamily="34" charset="-120"/>
              </a:rPr>
              <a:t>page views on articles and data</a:t>
            </a:r>
            <a:endParaRPr lang="en-US" sz="900" dirty="0"/>
          </a:p>
        </p:txBody>
      </p:sp>
      <p:sp>
        <p:nvSpPr>
          <p:cNvPr id="18" name="Shape 16"/>
          <p:cNvSpPr/>
          <p:nvPr/>
        </p:nvSpPr>
        <p:spPr>
          <a:xfrm>
            <a:off x="4654296" y="2450592"/>
            <a:ext cx="1860804" cy="914400"/>
          </a:xfrm>
          <a:prstGeom prst="rect">
            <a:avLst/>
          </a:prstGeom>
          <a:solidFill>
            <a:srgbClr val="FFFFFF"/>
          </a:solidFill>
          <a:ln w="9525">
            <a:solidFill>
              <a:srgbClr val="D9D3C8"/>
            </a:solidFill>
            <a:prstDash val="solid"/>
          </a:ln>
        </p:spPr>
      </p:sp>
      <p:sp>
        <p:nvSpPr>
          <p:cNvPr id="19" name="Text 17"/>
          <p:cNvSpPr/>
          <p:nvPr/>
        </p:nvSpPr>
        <p:spPr>
          <a:xfrm>
            <a:off x="4800600" y="2569464"/>
            <a:ext cx="1586484" cy="384048"/>
          </a:xfrm>
          <a:prstGeom prst="rect">
            <a:avLst/>
          </a:prstGeom>
          <a:noFill/>
          <a:ln/>
        </p:spPr>
        <p:txBody>
          <a:bodyPr wrap="square" lIns="0" tIns="0" rIns="0" bIns="0" rtlCol="0" anchor="t"/>
          <a:lstStyle/>
          <a:p>
            <a:pPr indent="0" marL="0">
              <a:buNone/>
            </a:pPr>
            <a:r>
              <a:rPr lang="en-US" sz="2100" b="1" dirty="0">
                <a:solidFill>
                  <a:srgbClr val="0B6E6E"/>
                </a:solidFill>
                <a:latin typeface="Georgia" pitchFamily="34" charset="0"/>
                <a:ea typeface="Georgia" pitchFamily="34" charset="-122"/>
                <a:cs typeface="Georgia" pitchFamily="34" charset="-120"/>
              </a:rPr>
              <a:t>₹1.07cr</a:t>
            </a:r>
            <a:endParaRPr lang="en-US" sz="2100" dirty="0"/>
          </a:p>
        </p:txBody>
      </p:sp>
      <p:sp>
        <p:nvSpPr>
          <p:cNvPr id="20" name="Text 18"/>
          <p:cNvSpPr/>
          <p:nvPr/>
        </p:nvSpPr>
        <p:spPr>
          <a:xfrm>
            <a:off x="4800600" y="2953512"/>
            <a:ext cx="1586484" cy="365760"/>
          </a:xfrm>
          <a:prstGeom prst="rect">
            <a:avLst/>
          </a:prstGeom>
          <a:noFill/>
          <a:ln/>
        </p:spPr>
        <p:txBody>
          <a:bodyPr wrap="square" lIns="0" tIns="0" rIns="0" bIns="0" rtlCol="0" anchor="t"/>
          <a:lstStyle/>
          <a:p>
            <a:pPr indent="0" marL="0">
              <a:lnSpc>
                <a:spcPct val="110000"/>
              </a:lnSpc>
              <a:buNone/>
            </a:pPr>
            <a:r>
              <a:rPr lang="en-US" sz="900" dirty="0">
                <a:solidFill>
                  <a:srgbClr val="4E5F6D"/>
                </a:solidFill>
                <a:latin typeface="Calibri" pitchFamily="34" charset="0"/>
                <a:ea typeface="Calibri" pitchFamily="34" charset="-122"/>
                <a:cs typeface="Calibri" pitchFamily="34" charset="-120"/>
              </a:rPr>
              <a:t>total annual spend, FY 2024-25</a:t>
            </a:r>
            <a:endParaRPr lang="en-US" sz="900" dirty="0"/>
          </a:p>
        </p:txBody>
      </p:sp>
      <p:sp>
        <p:nvSpPr>
          <p:cNvPr id="21" name="Shape 19"/>
          <p:cNvSpPr/>
          <p:nvPr/>
        </p:nvSpPr>
        <p:spPr>
          <a:xfrm>
            <a:off x="6697980" y="2450592"/>
            <a:ext cx="1860804" cy="914400"/>
          </a:xfrm>
          <a:prstGeom prst="rect">
            <a:avLst/>
          </a:prstGeom>
          <a:solidFill>
            <a:srgbClr val="FFFFFF"/>
          </a:solidFill>
          <a:ln w="9525">
            <a:solidFill>
              <a:srgbClr val="D9D3C8"/>
            </a:solidFill>
            <a:prstDash val="solid"/>
          </a:ln>
        </p:spPr>
      </p:sp>
      <p:sp>
        <p:nvSpPr>
          <p:cNvPr id="22" name="Text 20"/>
          <p:cNvSpPr/>
          <p:nvPr/>
        </p:nvSpPr>
        <p:spPr>
          <a:xfrm>
            <a:off x="6844284" y="2569464"/>
            <a:ext cx="1586484" cy="384048"/>
          </a:xfrm>
          <a:prstGeom prst="rect">
            <a:avLst/>
          </a:prstGeom>
          <a:noFill/>
          <a:ln/>
        </p:spPr>
        <p:txBody>
          <a:bodyPr wrap="square" lIns="0" tIns="0" rIns="0" bIns="0" rtlCol="0" anchor="t"/>
          <a:lstStyle/>
          <a:p>
            <a:pPr indent="0" marL="0">
              <a:buNone/>
            </a:pPr>
            <a:r>
              <a:rPr lang="en-US" sz="2100" b="1" dirty="0">
                <a:solidFill>
                  <a:srgbClr val="0B6E6E"/>
                </a:solidFill>
                <a:latin typeface="Georgia" pitchFamily="34" charset="0"/>
                <a:ea typeface="Georgia" pitchFamily="34" charset="-122"/>
                <a:cs typeface="Georgia" pitchFamily="34" charset="-120"/>
              </a:rPr>
              <a:t>400+</a:t>
            </a:r>
            <a:endParaRPr lang="en-US" sz="2100" dirty="0"/>
          </a:p>
        </p:txBody>
      </p:sp>
      <p:sp>
        <p:nvSpPr>
          <p:cNvPr id="23" name="Text 21"/>
          <p:cNvSpPr/>
          <p:nvPr/>
        </p:nvSpPr>
        <p:spPr>
          <a:xfrm>
            <a:off x="6844284" y="2953512"/>
            <a:ext cx="1586484" cy="365760"/>
          </a:xfrm>
          <a:prstGeom prst="rect">
            <a:avLst/>
          </a:prstGeom>
          <a:noFill/>
          <a:ln/>
        </p:spPr>
        <p:txBody>
          <a:bodyPr wrap="square" lIns="0" tIns="0" rIns="0" bIns="0" rtlCol="0" anchor="t"/>
          <a:lstStyle/>
          <a:p>
            <a:pPr indent="0" marL="0">
              <a:lnSpc>
                <a:spcPct val="110000"/>
              </a:lnSpc>
              <a:buNone/>
            </a:pPr>
            <a:r>
              <a:rPr lang="en-US" sz="900" dirty="0">
                <a:solidFill>
                  <a:srgbClr val="4E5F6D"/>
                </a:solidFill>
                <a:latin typeface="Calibri" pitchFamily="34" charset="0"/>
                <a:ea typeface="Calibri" pitchFamily="34" charset="-122"/>
                <a:cs typeface="Calibri" pitchFamily="34" charset="-120"/>
              </a:rPr>
              <a:t>open datasets on Open City</a:t>
            </a:r>
            <a:endParaRPr lang="en-US" sz="900" dirty="0"/>
          </a:p>
        </p:txBody>
      </p:sp>
      <p:sp>
        <p:nvSpPr>
          <p:cNvPr id="24" name="Shape 22"/>
          <p:cNvSpPr/>
          <p:nvPr/>
        </p:nvSpPr>
        <p:spPr>
          <a:xfrm>
            <a:off x="4654296" y="3566160"/>
            <a:ext cx="3904488" cy="100584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4654296" y="3566160"/>
            <a:ext cx="64008" cy="1005840"/>
          </a:xfrm>
          <a:prstGeom prst="rect">
            <a:avLst/>
          </a:prstGeom>
          <a:solidFill>
            <a:srgbClr val="0B6E6E"/>
          </a:solidFill>
          <a:ln/>
        </p:spPr>
      </p:sp>
      <p:sp>
        <p:nvSpPr>
          <p:cNvPr id="26" name="Text 24"/>
          <p:cNvSpPr/>
          <p:nvPr/>
        </p:nvSpPr>
        <p:spPr>
          <a:xfrm>
            <a:off x="4892040" y="3721608"/>
            <a:ext cx="3447288" cy="72237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Already funded by</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Rohini Nilekani Philanthropies · Rainmatter Foundation · Unboxing BLR · Bengaluru Sustainability Forum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TRUST</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Neutrality is machinery, not a promise</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42646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64008" cy="932688"/>
          </a:xfrm>
          <a:prstGeom prst="rect">
            <a:avLst/>
          </a:prstGeom>
          <a:solidFill>
            <a:srgbClr val="0B6E6E"/>
          </a:solidFill>
          <a:ln/>
        </p:spPr>
      </p:sp>
      <p:sp>
        <p:nvSpPr>
          <p:cNvPr id="8" name="Text 6"/>
          <p:cNvSpPr/>
          <p:nvPr/>
        </p:nvSpPr>
        <p:spPr>
          <a:xfrm>
            <a:off x="804672" y="158191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A source on every field</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Official affidavit data is distinguished from curator-compiled context. A reader can always reach the original document.</a:t>
            </a:r>
            <a:endParaRPr lang="en-US" sz="1200" dirty="0"/>
          </a:p>
        </p:txBody>
      </p:sp>
      <p:sp>
        <p:nvSpPr>
          <p:cNvPr id="9" name="Shape 7"/>
          <p:cNvSpPr/>
          <p:nvPr/>
        </p:nvSpPr>
        <p:spPr>
          <a:xfrm>
            <a:off x="4654296" y="142646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654296" y="1426464"/>
            <a:ext cx="64008" cy="932688"/>
          </a:xfrm>
          <a:prstGeom prst="rect">
            <a:avLst/>
          </a:prstGeom>
          <a:solidFill>
            <a:srgbClr val="0B6E6E"/>
          </a:solidFill>
          <a:ln/>
        </p:spPr>
      </p:sp>
      <p:sp>
        <p:nvSpPr>
          <p:cNvPr id="11" name="Text 9"/>
          <p:cNvSpPr/>
          <p:nvPr/>
        </p:nvSpPr>
        <p:spPr>
          <a:xfrm>
            <a:off x="4892040" y="158191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An immutable audit log</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Every change records who, when and from what source — and can be rolled back.</a:t>
            </a:r>
            <a:endParaRPr lang="en-US" sz="1200" dirty="0"/>
          </a:p>
        </p:txBody>
      </p:sp>
      <p:sp>
        <p:nvSpPr>
          <p:cNvPr id="12" name="Shape 10"/>
          <p:cNvSpPr/>
          <p:nvPr/>
        </p:nvSpPr>
        <p:spPr>
          <a:xfrm>
            <a:off x="566928" y="252374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566928" y="2523744"/>
            <a:ext cx="64008" cy="932688"/>
          </a:xfrm>
          <a:prstGeom prst="rect">
            <a:avLst/>
          </a:prstGeom>
          <a:solidFill>
            <a:srgbClr val="0B6E6E"/>
          </a:solidFill>
          <a:ln/>
        </p:spPr>
      </p:sp>
      <p:sp>
        <p:nvSpPr>
          <p:cNvPr id="14" name="Text 12"/>
          <p:cNvSpPr/>
          <p:nvPr/>
        </p:nvSpPr>
        <p:spPr>
          <a:xfrm>
            <a:off x="804672" y="267919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Anyone can flag anything</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Across every ward, not just their own. Submitters see whether the flag was accepted, and why.</a:t>
            </a:r>
            <a:endParaRPr lang="en-US" sz="1200" dirty="0"/>
          </a:p>
        </p:txBody>
      </p:sp>
      <p:sp>
        <p:nvSpPr>
          <p:cNvPr id="15" name="Shape 13"/>
          <p:cNvSpPr/>
          <p:nvPr/>
        </p:nvSpPr>
        <p:spPr>
          <a:xfrm>
            <a:off x="4654296" y="252374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4654296" y="2523744"/>
            <a:ext cx="64008" cy="932688"/>
          </a:xfrm>
          <a:prstGeom prst="rect">
            <a:avLst/>
          </a:prstGeom>
          <a:solidFill>
            <a:srgbClr val="0B6E6E"/>
          </a:solidFill>
          <a:ln/>
        </p:spPr>
      </p:sp>
      <p:sp>
        <p:nvSpPr>
          <p:cNvPr id="17" name="Text 15"/>
          <p:cNvSpPr/>
          <p:nvPr/>
        </p:nvSpPr>
        <p:spPr>
          <a:xfrm>
            <a:off x="4892040" y="267919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No paid acquisition, ever</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Buying political-adjacent advertising would destroy the only asset the platform has.</a:t>
            </a:r>
            <a:endParaRPr lang="en-US" sz="1200" dirty="0"/>
          </a:p>
        </p:txBody>
      </p:sp>
      <p:sp>
        <p:nvSpPr>
          <p:cNvPr id="18" name="Shape 16"/>
          <p:cNvSpPr/>
          <p:nvPr/>
        </p:nvSpPr>
        <p:spPr>
          <a:xfrm>
            <a:off x="566928" y="362102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9" name="Shape 17"/>
          <p:cNvSpPr/>
          <p:nvPr/>
        </p:nvSpPr>
        <p:spPr>
          <a:xfrm>
            <a:off x="566928" y="3621024"/>
            <a:ext cx="64008" cy="932688"/>
          </a:xfrm>
          <a:prstGeom prst="rect">
            <a:avLst/>
          </a:prstGeom>
          <a:solidFill>
            <a:srgbClr val="0B6E6E"/>
          </a:solidFill>
          <a:ln/>
        </p:spPr>
      </p:sp>
      <p:sp>
        <p:nvSpPr>
          <p:cNvPr id="20" name="Text 18"/>
          <p:cNvSpPr/>
          <p:nvPr/>
        </p:nvSpPr>
        <p:spPr>
          <a:xfrm>
            <a:off x="804672" y="377647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Funders named publicly</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For a platform whose value is neutrality, the funding cannot be opaque.</a:t>
            </a:r>
            <a:endParaRPr lang="en-US" sz="1200" dirty="0"/>
          </a:p>
        </p:txBody>
      </p:sp>
      <p:sp>
        <p:nvSpPr>
          <p:cNvPr id="21" name="Shape 19"/>
          <p:cNvSpPr/>
          <p:nvPr/>
        </p:nvSpPr>
        <p:spPr>
          <a:xfrm>
            <a:off x="4654296" y="3621024"/>
            <a:ext cx="3904488" cy="932688"/>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22" name="Shape 20"/>
          <p:cNvSpPr/>
          <p:nvPr/>
        </p:nvSpPr>
        <p:spPr>
          <a:xfrm>
            <a:off x="4654296" y="3621024"/>
            <a:ext cx="64008" cy="932688"/>
          </a:xfrm>
          <a:prstGeom prst="rect">
            <a:avLst/>
          </a:prstGeom>
          <a:solidFill>
            <a:srgbClr val="0B6E6E"/>
          </a:solidFill>
          <a:ln/>
        </p:spPr>
      </p:sp>
      <p:sp>
        <p:nvSpPr>
          <p:cNvPr id="23" name="Text 21"/>
          <p:cNvSpPr/>
          <p:nvPr/>
        </p:nvSpPr>
        <p:spPr>
          <a:xfrm>
            <a:off x="4892040" y="3776472"/>
            <a:ext cx="3447288" cy="649224"/>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We go dark before the poll</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No message in the final 48 hours. It costs us the highest-converting send in any campaign.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DISTRIBUTION</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No advertising budget</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566928" y="1426464"/>
            <a:ext cx="7991856" cy="274320"/>
          </a:xfrm>
          <a:prstGeom prst="rect">
            <a:avLst/>
          </a:prstGeom>
          <a:noFill/>
          <a:ln/>
        </p:spPr>
        <p:txBody>
          <a:bodyPr wrap="square" lIns="0" tIns="0" rIns="0" bIns="0" rtlCol="0" anchor="t"/>
          <a:lstStyle/>
          <a:p>
            <a:pPr indent="0" marL="0">
              <a:buNone/>
            </a:pPr>
            <a:r>
              <a:rPr lang="en-US" sz="1200" i="1" dirty="0">
                <a:solidFill>
                  <a:srgbClr val="4E5F6D"/>
                </a:solidFill>
                <a:latin typeface="Calibri" pitchFamily="34" charset="0"/>
                <a:ea typeface="Calibri" pitchFamily="34" charset="-122"/>
                <a:cs typeface="Calibri" pitchFamily="34" charset="-120"/>
              </a:rPr>
              <a:t>Distribution runs through people who already have the audience.</a:t>
            </a:r>
            <a:endParaRPr lang="en-US" sz="1200" dirty="0"/>
          </a:p>
        </p:txBody>
      </p:sp>
      <p:sp>
        <p:nvSpPr>
          <p:cNvPr id="7" name="Shape 5"/>
          <p:cNvSpPr/>
          <p:nvPr/>
        </p:nvSpPr>
        <p:spPr>
          <a:xfrm>
            <a:off x="566928" y="1847088"/>
            <a:ext cx="2542032" cy="1627632"/>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1847088"/>
            <a:ext cx="64008" cy="1627632"/>
          </a:xfrm>
          <a:prstGeom prst="rect">
            <a:avLst/>
          </a:prstGeom>
          <a:solidFill>
            <a:srgbClr val="0B6E6E"/>
          </a:solidFill>
          <a:ln/>
        </p:spPr>
      </p:sp>
      <p:sp>
        <p:nvSpPr>
          <p:cNvPr id="9" name="Text 7"/>
          <p:cNvSpPr/>
          <p:nvPr/>
        </p:nvSpPr>
        <p:spPr>
          <a:xfrm>
            <a:off x="804672" y="2002536"/>
            <a:ext cx="2084832" cy="1344168"/>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Apartment federations and RWAs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 Bangalore Apartments' Federation and ADDA are existing Oorvani collaborators. The unit of distribution is a message pasted into a building's WhatsApp group.</a:t>
            </a:r>
            <a:endParaRPr lang="en-US" sz="1200" dirty="0"/>
          </a:p>
        </p:txBody>
      </p:sp>
      <p:sp>
        <p:nvSpPr>
          <p:cNvPr id="10" name="Shape 8"/>
          <p:cNvSpPr/>
          <p:nvPr/>
        </p:nvSpPr>
        <p:spPr>
          <a:xfrm>
            <a:off x="3291840" y="1847088"/>
            <a:ext cx="2542032" cy="1627632"/>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847088"/>
            <a:ext cx="64008" cy="1627632"/>
          </a:xfrm>
          <a:prstGeom prst="rect">
            <a:avLst/>
          </a:prstGeom>
          <a:solidFill>
            <a:srgbClr val="0B6E6E"/>
          </a:solidFill>
          <a:ln/>
        </p:spPr>
      </p:sp>
      <p:sp>
        <p:nvSpPr>
          <p:cNvPr id="12" name="Text 10"/>
          <p:cNvSpPr/>
          <p:nvPr/>
        </p:nvSpPr>
        <p:spPr>
          <a:xfrm>
            <a:off x="3529584" y="2002536"/>
            <a:ext cx="2084832" cy="1344168"/>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Colleges, employers, youth orgs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 RWA cascade misses students, paying guests and young renters entirely — the largest first-time cohort in a decade, and the least likely to be on the roll.</a:t>
            </a:r>
            <a:endParaRPr lang="en-US" sz="1200" dirty="0"/>
          </a:p>
        </p:txBody>
      </p:sp>
      <p:sp>
        <p:nvSpPr>
          <p:cNvPr id="13" name="Shape 11"/>
          <p:cNvSpPr/>
          <p:nvPr/>
        </p:nvSpPr>
        <p:spPr>
          <a:xfrm>
            <a:off x="6016752" y="1847088"/>
            <a:ext cx="2542032" cy="1627632"/>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6016752" y="1847088"/>
            <a:ext cx="64008" cy="1627632"/>
          </a:xfrm>
          <a:prstGeom prst="rect">
            <a:avLst/>
          </a:prstGeom>
          <a:solidFill>
            <a:srgbClr val="0B6E6E"/>
          </a:solidFill>
          <a:ln/>
        </p:spPr>
      </p:sp>
      <p:sp>
        <p:nvSpPr>
          <p:cNvPr id="15" name="Text 13"/>
          <p:cNvSpPr/>
          <p:nvPr/>
        </p:nvSpPr>
        <p:spPr>
          <a:xfrm>
            <a:off x="6254496" y="2002536"/>
            <a:ext cx="2084832" cy="1344168"/>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Press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Journalists arrive at the Election Commission's notification, so the press kit ships months before it.</a:t>
            </a:r>
            <a:endParaRPr lang="en-US" sz="1200" dirty="0"/>
          </a:p>
        </p:txBody>
      </p:sp>
      <p:sp>
        <p:nvSpPr>
          <p:cNvPr id="16" name="Shape 14"/>
          <p:cNvSpPr/>
          <p:nvPr/>
        </p:nvSpPr>
        <p:spPr>
          <a:xfrm>
            <a:off x="566928" y="3621024"/>
            <a:ext cx="7991856" cy="91440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566928" y="3621024"/>
            <a:ext cx="64008" cy="914400"/>
          </a:xfrm>
          <a:prstGeom prst="rect">
            <a:avLst/>
          </a:prstGeom>
          <a:solidFill>
            <a:srgbClr val="B85416"/>
          </a:solidFill>
          <a:ln/>
        </p:spPr>
      </p:sp>
      <p:sp>
        <p:nvSpPr>
          <p:cNvPr id="18" name="Text 16"/>
          <p:cNvSpPr/>
          <p:nvPr/>
        </p:nvSpPr>
        <p:spPr>
          <a:xfrm>
            <a:off x="804672" y="3776472"/>
            <a:ext cx="7534656" cy="63093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Ward coverage is the operating dashboard</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Partners and registrations tracked per ward against all 369. The uncovered set is the work queue — and the early warning for the failure mode where a Bengaluru civic project quietly becomes a central-Bengaluru one.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WHAT WE ARE TARGETING</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Two numbers, because one can be gamed</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66928" y="1426464"/>
            <a:ext cx="2542032" cy="14173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2542032" cy="73152"/>
          </a:xfrm>
          <a:prstGeom prst="rect">
            <a:avLst/>
          </a:prstGeom>
          <a:solidFill>
            <a:srgbClr val="0B6E6E"/>
          </a:solidFill>
          <a:ln/>
        </p:spPr>
      </p:sp>
      <p:sp>
        <p:nvSpPr>
          <p:cNvPr id="8" name="Text 6"/>
          <p:cNvSpPr/>
          <p:nvPr/>
        </p:nvSpPr>
        <p:spPr>
          <a:xfrm>
            <a:off x="786384" y="1627632"/>
            <a:ext cx="2130552" cy="548640"/>
          </a:xfrm>
          <a:prstGeom prst="rect">
            <a:avLst/>
          </a:prstGeom>
          <a:noFill/>
          <a:ln/>
        </p:spPr>
        <p:txBody>
          <a:bodyPr wrap="square" lIns="0" tIns="0" rIns="0" bIns="0" rtlCol="0" anchor="t"/>
          <a:lstStyle/>
          <a:p>
            <a:pPr indent="0" marL="0">
              <a:buNone/>
            </a:pPr>
            <a:r>
              <a:rPr lang="en-US" sz="2600" b="1" dirty="0">
                <a:solidFill>
                  <a:srgbClr val="0B6E6E"/>
                </a:solidFill>
                <a:latin typeface="Georgia" pitchFamily="34" charset="0"/>
                <a:ea typeface="Georgia" pitchFamily="34" charset="-122"/>
                <a:cs typeface="Georgia" pitchFamily="34" charset="-120"/>
              </a:rPr>
              <a:t>300,000</a:t>
            </a:r>
            <a:endParaRPr lang="en-US" sz="2600" dirty="0"/>
          </a:p>
        </p:txBody>
      </p:sp>
      <p:sp>
        <p:nvSpPr>
          <p:cNvPr id="9" name="Text 7"/>
          <p:cNvSpPr/>
          <p:nvPr/>
        </p:nvSpPr>
        <p:spPr>
          <a:xfrm>
            <a:off x="786384" y="2231136"/>
            <a:ext cx="2130552" cy="530352"/>
          </a:xfrm>
          <a:prstGeom prst="rect">
            <a:avLst/>
          </a:prstGeom>
          <a:noFill/>
          <a:ln/>
        </p:spPr>
        <p:txBody>
          <a:bodyPr wrap="square" lIns="0" tIns="0" rIns="0" bIns="0" rtlCol="0" anchor="t"/>
          <a:lstStyle/>
          <a:p>
            <a:pPr indent="0" marL="0">
              <a:lnSpc>
                <a:spcPct val="115000"/>
              </a:lnSpc>
              <a:buNone/>
            </a:pPr>
            <a:r>
              <a:rPr lang="en-US" sz="1100" dirty="0">
                <a:solidFill>
                  <a:srgbClr val="4E5F6D"/>
                </a:solidFill>
                <a:latin typeface="Calibri" pitchFamily="34" charset="0"/>
                <a:ea typeface="Calibri" pitchFamily="34" charset="-122"/>
                <a:cs typeface="Calibri" pitchFamily="34" charset="-120"/>
              </a:rPr>
              <a:t>unique visitors</a:t>
            </a:r>
            <a:endParaRPr lang="en-US" sz="1100" dirty="0"/>
          </a:p>
        </p:txBody>
      </p:sp>
      <p:sp>
        <p:nvSpPr>
          <p:cNvPr id="10" name="Shape 8"/>
          <p:cNvSpPr/>
          <p:nvPr/>
        </p:nvSpPr>
        <p:spPr>
          <a:xfrm>
            <a:off x="3291840" y="1426464"/>
            <a:ext cx="2542032" cy="14173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3291840" y="1426464"/>
            <a:ext cx="2542032" cy="73152"/>
          </a:xfrm>
          <a:prstGeom prst="rect">
            <a:avLst/>
          </a:prstGeom>
          <a:solidFill>
            <a:srgbClr val="0B6E6E"/>
          </a:solidFill>
          <a:ln/>
        </p:spPr>
      </p:sp>
      <p:sp>
        <p:nvSpPr>
          <p:cNvPr id="12" name="Text 10"/>
          <p:cNvSpPr/>
          <p:nvPr/>
        </p:nvSpPr>
        <p:spPr>
          <a:xfrm>
            <a:off x="3511296" y="1627632"/>
            <a:ext cx="2130552" cy="548640"/>
          </a:xfrm>
          <a:prstGeom prst="rect">
            <a:avLst/>
          </a:prstGeom>
          <a:noFill/>
          <a:ln/>
        </p:spPr>
        <p:txBody>
          <a:bodyPr wrap="square" lIns="0" tIns="0" rIns="0" bIns="0" rtlCol="0" anchor="t"/>
          <a:lstStyle/>
          <a:p>
            <a:pPr indent="0" marL="0">
              <a:buNone/>
            </a:pPr>
            <a:r>
              <a:rPr lang="en-US" sz="2600" b="1" dirty="0">
                <a:solidFill>
                  <a:srgbClr val="0B6E6E"/>
                </a:solidFill>
                <a:latin typeface="Georgia" pitchFamily="34" charset="0"/>
                <a:ea typeface="Georgia" pitchFamily="34" charset="-122"/>
                <a:cs typeface="Georgia" pitchFamily="34" charset="-120"/>
              </a:rPr>
              <a:t>25,000</a:t>
            </a:r>
            <a:endParaRPr lang="en-US" sz="2600" dirty="0"/>
          </a:p>
        </p:txBody>
      </p:sp>
      <p:sp>
        <p:nvSpPr>
          <p:cNvPr id="13" name="Text 11"/>
          <p:cNvSpPr/>
          <p:nvPr/>
        </p:nvSpPr>
        <p:spPr>
          <a:xfrm>
            <a:off x="3511296" y="2231136"/>
            <a:ext cx="2130552" cy="530352"/>
          </a:xfrm>
          <a:prstGeom prst="rect">
            <a:avLst/>
          </a:prstGeom>
          <a:noFill/>
          <a:ln/>
        </p:spPr>
        <p:txBody>
          <a:bodyPr wrap="square" lIns="0" tIns="0" rIns="0" bIns="0" rtlCol="0" anchor="t"/>
          <a:lstStyle/>
          <a:p>
            <a:pPr indent="0" marL="0">
              <a:lnSpc>
                <a:spcPct val="115000"/>
              </a:lnSpc>
              <a:buNone/>
            </a:pPr>
            <a:r>
              <a:rPr lang="en-US" sz="1100" dirty="0">
                <a:solidFill>
                  <a:srgbClr val="4E5F6D"/>
                </a:solidFill>
                <a:latin typeface="Calibri" pitchFamily="34" charset="0"/>
                <a:ea typeface="Calibri" pitchFamily="34" charset="-122"/>
                <a:cs typeface="Calibri" pitchFamily="34" charset="-120"/>
              </a:rPr>
              <a:t>registered citizens with a home ward set</a:t>
            </a:r>
            <a:endParaRPr lang="en-US" sz="1100" dirty="0"/>
          </a:p>
        </p:txBody>
      </p:sp>
      <p:sp>
        <p:nvSpPr>
          <p:cNvPr id="14" name="Shape 12"/>
          <p:cNvSpPr/>
          <p:nvPr/>
        </p:nvSpPr>
        <p:spPr>
          <a:xfrm>
            <a:off x="6016752" y="1426464"/>
            <a:ext cx="2542032" cy="14173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5" name="Shape 13"/>
          <p:cNvSpPr/>
          <p:nvPr/>
        </p:nvSpPr>
        <p:spPr>
          <a:xfrm>
            <a:off x="6016752" y="1426464"/>
            <a:ext cx="2542032" cy="73152"/>
          </a:xfrm>
          <a:prstGeom prst="rect">
            <a:avLst/>
          </a:prstGeom>
          <a:solidFill>
            <a:srgbClr val="B85416"/>
          </a:solidFill>
          <a:ln/>
        </p:spPr>
      </p:sp>
      <p:sp>
        <p:nvSpPr>
          <p:cNvPr id="16" name="Text 14"/>
          <p:cNvSpPr/>
          <p:nvPr/>
        </p:nvSpPr>
        <p:spPr>
          <a:xfrm>
            <a:off x="6236208" y="1627632"/>
            <a:ext cx="2130552" cy="548640"/>
          </a:xfrm>
          <a:prstGeom prst="rect">
            <a:avLst/>
          </a:prstGeom>
          <a:noFill/>
          <a:ln/>
        </p:spPr>
        <p:txBody>
          <a:bodyPr wrap="square" lIns="0" tIns="0" rIns="0" bIns="0" rtlCol="0" anchor="t"/>
          <a:lstStyle/>
          <a:p>
            <a:pPr indent="0" marL="0">
              <a:buNone/>
            </a:pPr>
            <a:r>
              <a:rPr lang="en-US" sz="2600" b="1" dirty="0">
                <a:solidFill>
                  <a:srgbClr val="B85416"/>
                </a:solidFill>
                <a:latin typeface="Georgia" pitchFamily="34" charset="0"/>
                <a:ea typeface="Georgia" pitchFamily="34" charset="-122"/>
                <a:cs typeface="Georgia" pitchFamily="34" charset="-120"/>
              </a:rPr>
              <a:t>300 of 369</a:t>
            </a:r>
            <a:endParaRPr lang="en-US" sz="2600" dirty="0"/>
          </a:p>
        </p:txBody>
      </p:sp>
      <p:sp>
        <p:nvSpPr>
          <p:cNvPr id="17" name="Text 15"/>
          <p:cNvSpPr/>
          <p:nvPr/>
        </p:nvSpPr>
        <p:spPr>
          <a:xfrm>
            <a:off x="6236208" y="2231136"/>
            <a:ext cx="2130552" cy="530352"/>
          </a:xfrm>
          <a:prstGeom prst="rect">
            <a:avLst/>
          </a:prstGeom>
          <a:noFill/>
          <a:ln/>
        </p:spPr>
        <p:txBody>
          <a:bodyPr wrap="square" lIns="0" tIns="0" rIns="0" bIns="0" rtlCol="0" anchor="t"/>
          <a:lstStyle/>
          <a:p>
            <a:pPr indent="0" marL="0">
              <a:lnSpc>
                <a:spcPct val="115000"/>
              </a:lnSpc>
              <a:buNone/>
            </a:pPr>
            <a:r>
              <a:rPr lang="en-US" sz="1100" dirty="0">
                <a:solidFill>
                  <a:srgbClr val="4E5F6D"/>
                </a:solidFill>
                <a:latin typeface="Calibri" pitchFamily="34" charset="0"/>
                <a:ea typeface="Calibri" pitchFamily="34" charset="-122"/>
                <a:cs typeface="Calibri" pitchFamily="34" charset="-120"/>
              </a:rPr>
              <a:t>wards carrying at least 50 registrations each</a:t>
            </a:r>
            <a:endParaRPr lang="en-US" sz="1100" dirty="0"/>
          </a:p>
        </p:txBody>
      </p:sp>
      <p:sp>
        <p:nvSpPr>
          <p:cNvPr id="18" name="Text 16"/>
          <p:cNvSpPr/>
          <p:nvPr/>
        </p:nvSpPr>
        <p:spPr>
          <a:xfrm>
            <a:off x="566928" y="3054096"/>
            <a:ext cx="7991856" cy="868680"/>
          </a:xfrm>
          <a:prstGeom prst="rect">
            <a:avLst/>
          </a:prstGeom>
          <a:noFill/>
          <a:ln/>
        </p:spPr>
        <p:txBody>
          <a:bodyPr wrap="square" lIns="0" tIns="0" rIns="0" bIns="0" rtlCol="0" anchor="t"/>
          <a:lstStyle/>
          <a:p>
            <a:pPr indent="0" marL="0">
              <a:lnSpc>
                <a:spcPct val="122000"/>
              </a:lnSpc>
              <a:buNone/>
            </a:pPr>
            <a:r>
              <a:rPr lang="en-US" sz="1200" dirty="0">
                <a:solidFill>
                  <a:srgbClr val="173243"/>
                </a:solidFill>
                <a:latin typeface="Calibri" pitchFamily="34" charset="0"/>
                <a:ea typeface="Calibri" pitchFamily="34" charset="-122"/>
                <a:cs typeface="Calibri" pitchFamily="34" charset="-120"/>
              </a:rPr>
              <a:t>The registration target is deliberately two numbers. A city-wide total is satisfiable entirely out of a dozen affluent central wards — we would hit the number and have failed the mission. The breadth figure encodes what we are actually trying to do, and it is the one to look at first when the two disagree.</a:t>
            </a:r>
            <a:endParaRPr lang="en-US" sz="1200" dirty="0"/>
          </a:p>
        </p:txBody>
      </p:sp>
      <p:sp>
        <p:nvSpPr>
          <p:cNvPr id="19" name="Text 17"/>
          <p:cNvSpPr/>
          <p:nvPr/>
        </p:nvSpPr>
        <p:spPr>
          <a:xfrm>
            <a:off x="566928" y="4023360"/>
            <a:ext cx="7991856" cy="548640"/>
          </a:xfrm>
          <a:prstGeom prst="rect">
            <a:avLst/>
          </a:prstGeom>
          <a:noFill/>
          <a:ln/>
        </p:spPr>
        <p:txBody>
          <a:bodyPr wrap="square" lIns="0" tIns="0" rIns="0" bIns="0" rtlCol="0" anchor="t"/>
          <a:lstStyle/>
          <a:p>
            <a:pPr indent="0" marL="0">
              <a:lnSpc>
                <a:spcPct val="120000"/>
              </a:lnSpc>
              <a:buNone/>
            </a:pPr>
            <a:r>
              <a:rPr lang="en-US" sz="1100" i="1" dirty="0">
                <a:solidFill>
                  <a:srgbClr val="4E5F6D"/>
                </a:solidFill>
                <a:latin typeface="Calibri" pitchFamily="34" charset="0"/>
                <a:ea typeface="Calibri" pitchFamily="34" charset="-122"/>
                <a:cs typeface="Calibri" pitchFamily="34" charset="-120"/>
              </a:rPr>
              <a:t>Both are built bottom-up from what an unpaid partner cascade can plausibly deliver. One percent of the electorate would be about 90,000 — a better number to say out loud, and a worse one to steer by.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ACCOUNTABILITY TO YOU</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What we will report, quarterly</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15</a:t>
            </a:r>
            <a:endParaRPr lang="en-US" sz="900" dirty="0"/>
          </a:p>
        </p:txBody>
      </p:sp>
      <p:sp>
        <p:nvSpPr>
          <p:cNvPr id="6" name="Text 4"/>
          <p:cNvSpPr/>
          <p:nvPr/>
        </p:nvSpPr>
        <p:spPr>
          <a:xfrm>
            <a:off x="621792" y="1426464"/>
            <a:ext cx="7900416" cy="201168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300" dirty="0">
                <a:solidFill>
                  <a:srgbClr val="173243"/>
                </a:solidFill>
                <a:latin typeface="Calibri" pitchFamily="34" charset="0"/>
                <a:ea typeface="Calibri" pitchFamily="34" charset="-122"/>
                <a:cs typeface="Calibri" pitchFamily="34" charset="-120"/>
              </a:rPr>
              <a:t>Unique visitors, registrations, and registrations by ward against all 369</a:t>
            </a:r>
            <a:endParaRPr lang="en-US" sz="1300" dirty="0"/>
          </a:p>
          <a:p>
            <a:pPr marL="177800" indent="-177800">
              <a:lnSpc>
                <a:spcPct val="115000"/>
              </a:lnSpc>
              <a:spcAft>
                <a:spcPts val="700"/>
              </a:spcAft>
              <a:buSzPct val="100000"/>
              <a:buChar char="•"/>
            </a:pPr>
            <a:r>
              <a:rPr lang="en-US" sz="1300" dirty="0">
                <a:solidFill>
                  <a:srgbClr val="173243"/>
                </a:solidFill>
                <a:latin typeface="Calibri" pitchFamily="34" charset="0"/>
                <a:ea typeface="Calibri" pitchFamily="34" charset="-122"/>
                <a:cs typeface="Calibri" pitchFamily="34" charset="-120"/>
              </a:rPr>
              <a:t>Wards with published candidate data — and later, wards with published budget and works data</a:t>
            </a:r>
            <a:endParaRPr lang="en-US" sz="1300" dirty="0"/>
          </a:p>
          <a:p>
            <a:pPr marL="177800" indent="-177800">
              <a:lnSpc>
                <a:spcPct val="115000"/>
              </a:lnSpc>
              <a:spcAft>
                <a:spcPts val="700"/>
              </a:spcAft>
              <a:buSzPct val="100000"/>
              <a:buChar char="•"/>
            </a:pPr>
            <a:r>
              <a:rPr lang="en-US" sz="1300" dirty="0">
                <a:solidFill>
                  <a:srgbClr val="173243"/>
                </a:solidFill>
                <a:latin typeface="Calibri" pitchFamily="34" charset="0"/>
                <a:ea typeface="Calibri" pitchFamily="34" charset="-122"/>
                <a:cs typeface="Calibri" pitchFamily="34" charset="-120"/>
              </a:rPr>
              <a:t>Active curators, sources cited, flags raised, flags resolved, median time to resolve</a:t>
            </a:r>
            <a:endParaRPr lang="en-US" sz="1300" dirty="0"/>
          </a:p>
          <a:p>
            <a:pPr marL="177800" indent="-177800">
              <a:lnSpc>
                <a:spcPct val="115000"/>
              </a:lnSpc>
              <a:spcAft>
                <a:spcPts val="700"/>
              </a:spcAft>
              <a:buSzPct val="100000"/>
              <a:buChar char="•"/>
            </a:pPr>
            <a:r>
              <a:rPr lang="en-US" sz="1300" dirty="0">
                <a:solidFill>
                  <a:srgbClr val="173243"/>
                </a:solidFill>
                <a:latin typeface="Calibri" pitchFamily="34" charset="0"/>
                <a:ea typeface="Calibri" pitchFamily="34" charset="-122"/>
                <a:cs typeface="Calibri" pitchFamily="34" charset="-120"/>
              </a:rPr>
              <a:t>Partner organisations recruited, and what each one's forwarding achieved</a:t>
            </a:r>
            <a:endParaRPr lang="en-US" sz="1300" dirty="0"/>
          </a:p>
          <a:p>
            <a:pPr marL="177800" indent="-177800">
              <a:lnSpc>
                <a:spcPct val="115000"/>
              </a:lnSpc>
              <a:spcAft>
                <a:spcPts val="700"/>
              </a:spcAft>
              <a:buSzPct val="100000"/>
              <a:buChar char="•"/>
            </a:pPr>
            <a:r>
              <a:rPr lang="en-US" sz="1300" dirty="0">
                <a:solidFill>
                  <a:srgbClr val="173243"/>
                </a:solidFill>
                <a:latin typeface="Calibri" pitchFamily="34" charset="0"/>
                <a:ea typeface="Calibri" pitchFamily="34" charset="-122"/>
                <a:cs typeface="Calibri" pitchFamily="34" charset="-120"/>
              </a:rPr>
              <a:t>Spend against budget</a:t>
            </a:r>
            <a:endParaRPr lang="en-US" sz="1300" dirty="0"/>
          </a:p>
        </p:txBody>
      </p:sp>
      <p:sp>
        <p:nvSpPr>
          <p:cNvPr id="7" name="Shape 5"/>
          <p:cNvSpPr/>
          <p:nvPr/>
        </p:nvSpPr>
        <p:spPr>
          <a:xfrm>
            <a:off x="566928" y="3401568"/>
            <a:ext cx="7991856" cy="10972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3401568"/>
            <a:ext cx="64008" cy="1097280"/>
          </a:xfrm>
          <a:prstGeom prst="rect">
            <a:avLst/>
          </a:prstGeom>
          <a:solidFill>
            <a:srgbClr val="0B6E6E"/>
          </a:solidFill>
          <a:ln/>
        </p:spPr>
      </p:sp>
      <p:sp>
        <p:nvSpPr>
          <p:cNvPr id="9" name="Text 7"/>
          <p:cNvSpPr/>
          <p:nvPr/>
        </p:nvSpPr>
        <p:spPr>
          <a:xfrm>
            <a:off x="804672" y="3557016"/>
            <a:ext cx="7534656" cy="8138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Most of this is already public</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These figures publish continuously on the platform's own /data page. A platform that publishes other people's records should publish its own. Funders receive the same figures with spend attached.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TEAM</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An organisation, not a project team</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66928" y="1426464"/>
            <a:ext cx="3904488" cy="137160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64008" cy="1371600"/>
          </a:xfrm>
          <a:prstGeom prst="rect">
            <a:avLst/>
          </a:prstGeom>
          <a:solidFill>
            <a:srgbClr val="0B6E6E"/>
          </a:solidFill>
          <a:ln/>
        </p:spPr>
      </p:sp>
      <p:sp>
        <p:nvSpPr>
          <p:cNvPr id="8" name="Text 6"/>
          <p:cNvSpPr/>
          <p:nvPr/>
        </p:nvSpPr>
        <p:spPr>
          <a:xfrm>
            <a:off x="804672" y="1581912"/>
            <a:ext cx="3447288" cy="108813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Meera K — Co-founder and Managing Trustee</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Gene Burd Award for Urban Journalism, 2025. Ashoka Fellow. Works on cities, community media, urban governance and civic technology.</a:t>
            </a:r>
            <a:endParaRPr lang="en-US" sz="1200" dirty="0"/>
          </a:p>
        </p:txBody>
      </p:sp>
      <p:sp>
        <p:nvSpPr>
          <p:cNvPr id="9" name="Shape 7"/>
          <p:cNvSpPr/>
          <p:nvPr/>
        </p:nvSpPr>
        <p:spPr>
          <a:xfrm>
            <a:off x="4654296" y="1426464"/>
            <a:ext cx="3904488" cy="137160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654296" y="1426464"/>
            <a:ext cx="64008" cy="1371600"/>
          </a:xfrm>
          <a:prstGeom prst="rect">
            <a:avLst/>
          </a:prstGeom>
          <a:solidFill>
            <a:srgbClr val="0B6E6E"/>
          </a:solidFill>
          <a:ln/>
        </p:spPr>
      </p:sp>
      <p:sp>
        <p:nvSpPr>
          <p:cNvPr id="11" name="Text 9"/>
          <p:cNvSpPr/>
          <p:nvPr/>
        </p:nvSpPr>
        <p:spPr>
          <a:xfrm>
            <a:off x="4892040" y="1581912"/>
            <a:ext cx="3447288" cy="108813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Satarupa Bhattacharya — Programme Director</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Twenty years in editorial and content. Oversees programmes and editorial policy at Citizen Matters.</a:t>
            </a:r>
            <a:endParaRPr lang="en-US" sz="1200" dirty="0"/>
          </a:p>
        </p:txBody>
      </p:sp>
      <p:sp>
        <p:nvSpPr>
          <p:cNvPr id="12" name="Shape 10"/>
          <p:cNvSpPr/>
          <p:nvPr/>
        </p:nvSpPr>
        <p:spPr>
          <a:xfrm>
            <a:off x="566928" y="2907792"/>
            <a:ext cx="3904488" cy="13258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566928" y="2907792"/>
            <a:ext cx="64008" cy="1325880"/>
          </a:xfrm>
          <a:prstGeom prst="rect">
            <a:avLst/>
          </a:prstGeom>
          <a:solidFill>
            <a:srgbClr val="B85416"/>
          </a:solidFill>
          <a:ln/>
        </p:spPr>
      </p:sp>
      <p:sp>
        <p:nvSpPr>
          <p:cNvPr id="14" name="Text 12"/>
          <p:cNvSpPr/>
          <p:nvPr/>
        </p:nvSpPr>
        <p:spPr>
          <a:xfrm>
            <a:off x="804672" y="3063240"/>
            <a:ext cx="3447288" cy="10424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What this grant hires</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Two engineers, a half-time product and programme lead, two curator operations managers, a bilingual content editor, a partnerships lead, contract design, and honoraria for the ward curator network.</a:t>
            </a:r>
            <a:endParaRPr lang="en-US" sz="1200" dirty="0"/>
          </a:p>
        </p:txBody>
      </p:sp>
      <p:sp>
        <p:nvSpPr>
          <p:cNvPr id="15" name="Shape 13"/>
          <p:cNvSpPr/>
          <p:nvPr/>
        </p:nvSpPr>
        <p:spPr>
          <a:xfrm>
            <a:off x="4654296" y="2907792"/>
            <a:ext cx="3904488" cy="132588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4654296" y="2907792"/>
            <a:ext cx="64008" cy="1325880"/>
          </a:xfrm>
          <a:prstGeom prst="rect">
            <a:avLst/>
          </a:prstGeom>
          <a:solidFill>
            <a:srgbClr val="B85416"/>
          </a:solidFill>
          <a:ln/>
        </p:spPr>
      </p:sp>
      <p:sp>
        <p:nvSpPr>
          <p:cNvPr id="17" name="Text 15"/>
          <p:cNvSpPr/>
          <p:nvPr/>
        </p:nvSpPr>
        <p:spPr>
          <a:xfrm>
            <a:off x="4892040" y="3063240"/>
            <a:ext cx="3447288" cy="1042416"/>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Said plainly</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Our bench is strong in journalism and urban data, thinner in software engineering — which is why engineering is the largest line in this budget. Open City is a civic-tech platform we already run.</a:t>
            </a:r>
            <a:endParaRPr lang="en-US" sz="1200" dirty="0"/>
          </a:p>
        </p:txBody>
      </p:sp>
      <p:sp>
        <p:nvSpPr>
          <p:cNvPr id="18" name="Text 16"/>
          <p:cNvSpPr/>
          <p:nvPr/>
        </p:nvSpPr>
        <p:spPr>
          <a:xfrm>
            <a:off x="566928" y="4370832"/>
            <a:ext cx="7498080" cy="274320"/>
          </a:xfrm>
          <a:prstGeom prst="rect">
            <a:avLst/>
          </a:prstGeom>
          <a:noFill/>
          <a:ln/>
        </p:spPr>
        <p:txBody>
          <a:bodyPr wrap="square" lIns="0" tIns="0" rIns="0" bIns="0" rtlCol="0" anchor="t"/>
          <a:lstStyle/>
          <a:p>
            <a:pPr indent="0" marL="0">
              <a:buNone/>
            </a:pPr>
            <a:r>
              <a:rPr lang="en-US" sz="1050" i="1" dirty="0">
                <a:solidFill>
                  <a:srgbClr val="4E5F6D"/>
                </a:solidFill>
                <a:latin typeface="Calibri" pitchFamily="34" charset="0"/>
                <a:ea typeface="Calibri" pitchFamily="34" charset="-122"/>
                <a:cs typeface="Calibri" pitchFamily="34" charset="-120"/>
              </a:rPr>
              <a:t>Roughly fourteen people across editorial, programmes, design and operations. Trustees include Ashwin Mahesh, Meenakshi Ramesh and Vikram Rai.</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USE OF FUNDS · COSTED AT OORVANI'S CONSULTANCY RATES, NOT MARKET SALARIES</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Two years — ₹2.30 crore</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7991856" cy="914400"/>
        </p:xfrm>
        <a:graphic>
          <a:graphicData uri="http://schemas.openxmlformats.org/drawingml/2006/table">
            <a:tbl>
              <a:tblPr/>
              <a:tblGrid>
                <a:gridCol w="2606040"/>
                <a:gridCol w="4105656"/>
                <a:gridCol w="1280160"/>
              </a:tblGrid>
              <a:tr h="25603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Year one — the election, and the accountability foundations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buys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Engineering (2)</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Election platform, then the ward accountability layer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24L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Curator honoraria</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~150 curators across the active election months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18L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Curator operations (2)</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Recruiting, training and quality across 369 wards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14L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Product, editorial and design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Bilingual product direction; every page and message in EN/KN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16L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Infrastructure, WhatsApp, AI, legal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Hosting, 25,000 users × 7 messages, affidavit parsing, DPDP compliance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19L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Partnerships, field and ward data</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RWAs, colleges, employers, press; RTI, digitisation, geodata</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15L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b="1" dirty="0">
                          <a:solidFill>
                            <a:srgbClr val="173243"/>
                          </a:solidFill>
                          <a:latin typeface="Calibri" pitchFamily="34" charset="0"/>
                          <a:ea typeface="Calibri" pitchFamily="34" charset="-122"/>
                          <a:cs typeface="Calibri" pitchFamily="34" charset="-120"/>
                        </a:rPr>
                        <a:t>Year one total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EDE8DE"/>
                    </a:solidFill>
                  </a:tcPr>
                </a:tc>
                <a:tc>
                  <a:txBody>
                    <a:bodyPr/>
                    <a:lstStyle/>
                    <a:p>
                      <a:pPr indent="0" marL="0">
                        <a:buNone/>
                      </a:pPr>
                      <a:r>
                        <a:rPr lang="en-US" sz="1050" b="1" dirty="0">
                          <a:solidFill>
                            <a:srgbClr val="173243"/>
                          </a:solidFill>
                          <a:latin typeface="Calibri" pitchFamily="34" charset="0"/>
                          <a:ea typeface="Calibri" pitchFamily="34" charset="-122"/>
                          <a:cs typeface="Calibri" pitchFamily="34" charset="-120"/>
                        </a:rPr>
                        <a:t>The election run, and the accountability layer begun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EDE8DE"/>
                    </a:solidFill>
                  </a:tcPr>
                </a:tc>
                <a:tc>
                  <a:txBody>
                    <a:bodyPr/>
                    <a:lstStyle/>
                    <a:p>
                      <a:pPr indent="0" marL="0">
                        <a:buNone/>
                      </a:pPr>
                      <a:r>
                        <a:rPr lang="en-US" sz="1050" b="1" dirty="0">
                          <a:solidFill>
                            <a:srgbClr val="173243"/>
                          </a:solidFill>
                          <a:latin typeface="Calibri" pitchFamily="34" charset="0"/>
                          <a:ea typeface="Calibri" pitchFamily="34" charset="-122"/>
                          <a:cs typeface="Calibri" pitchFamily="34" charset="-120"/>
                        </a:rPr>
                        <a:t>1.06 Cr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EDE8DE"/>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Year two — Bengaluru</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Accountability layer in operation; engineering tapers, data work rises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85L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Year two — second city</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Curators, ward data, translation, local partnerships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39L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25603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Two-year total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Bengaluru ₹1.91 Cr · second city ₹39 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2.30 Cr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NUMBER THAT MAKES SCALE CREDIBLE</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What a second city costs</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66928" y="1426464"/>
            <a:ext cx="3904488" cy="16459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566928" y="1426464"/>
            <a:ext cx="3904488" cy="82296"/>
          </a:xfrm>
          <a:prstGeom prst="rect">
            <a:avLst/>
          </a:prstGeom>
          <a:solidFill>
            <a:srgbClr val="0E1F2B"/>
          </a:solidFill>
          <a:ln/>
        </p:spPr>
      </p:sp>
      <p:sp>
        <p:nvSpPr>
          <p:cNvPr id="8" name="Text 6"/>
          <p:cNvSpPr/>
          <p:nvPr/>
        </p:nvSpPr>
        <p:spPr>
          <a:xfrm>
            <a:off x="841248" y="1719072"/>
            <a:ext cx="3355848" cy="749808"/>
          </a:xfrm>
          <a:prstGeom prst="rect">
            <a:avLst/>
          </a:prstGeom>
          <a:noFill/>
          <a:ln/>
        </p:spPr>
        <p:txBody>
          <a:bodyPr wrap="square" lIns="0" tIns="0" rIns="0" bIns="0" rtlCol="0" anchor="t"/>
          <a:lstStyle/>
          <a:p>
            <a:pPr indent="0" marL="0">
              <a:buNone/>
            </a:pPr>
            <a:r>
              <a:rPr lang="en-US" sz="4000" b="1" dirty="0">
                <a:solidFill>
                  <a:srgbClr val="0E1F2B"/>
                </a:solidFill>
                <a:latin typeface="Georgia" pitchFamily="34" charset="0"/>
                <a:ea typeface="Georgia" pitchFamily="34" charset="-122"/>
                <a:cs typeface="Georgia" pitchFamily="34" charset="-120"/>
              </a:rPr>
              <a:t>₹1.91 cr</a:t>
            </a:r>
            <a:endParaRPr lang="en-US" sz="4000" dirty="0"/>
          </a:p>
        </p:txBody>
      </p:sp>
      <p:sp>
        <p:nvSpPr>
          <p:cNvPr id="9" name="Text 7"/>
          <p:cNvSpPr/>
          <p:nvPr/>
        </p:nvSpPr>
        <p:spPr>
          <a:xfrm>
            <a:off x="841248" y="2523744"/>
            <a:ext cx="3355848" cy="365760"/>
          </a:xfrm>
          <a:prstGeom prst="rect">
            <a:avLst/>
          </a:prstGeom>
          <a:noFill/>
          <a:ln/>
        </p:spPr>
        <p:txBody>
          <a:bodyPr wrap="square" lIns="0" tIns="0" rIns="0" bIns="0" rtlCol="0" anchor="t"/>
          <a:lstStyle/>
          <a:p>
            <a:pPr indent="0" marL="0">
              <a:buNone/>
            </a:pPr>
            <a:r>
              <a:rPr lang="en-US" sz="1200" dirty="0">
                <a:solidFill>
                  <a:srgbClr val="4E5F6D"/>
                </a:solidFill>
                <a:latin typeface="Calibri" pitchFamily="34" charset="0"/>
                <a:ea typeface="Calibri" pitchFamily="34" charset="-122"/>
                <a:cs typeface="Calibri" pitchFamily="34" charset="-120"/>
              </a:rPr>
              <a:t>Bengaluru, over two years</a:t>
            </a:r>
            <a:endParaRPr lang="en-US" sz="1200" dirty="0"/>
          </a:p>
        </p:txBody>
      </p:sp>
      <p:sp>
        <p:nvSpPr>
          <p:cNvPr id="10" name="Shape 8"/>
          <p:cNvSpPr/>
          <p:nvPr/>
        </p:nvSpPr>
        <p:spPr>
          <a:xfrm>
            <a:off x="4654296" y="1426464"/>
            <a:ext cx="3904488" cy="1645920"/>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11" name="Shape 9"/>
          <p:cNvSpPr/>
          <p:nvPr/>
        </p:nvSpPr>
        <p:spPr>
          <a:xfrm>
            <a:off x="4654296" y="1426464"/>
            <a:ext cx="3904488" cy="82296"/>
          </a:xfrm>
          <a:prstGeom prst="rect">
            <a:avLst/>
          </a:prstGeom>
          <a:solidFill>
            <a:srgbClr val="B85416"/>
          </a:solidFill>
          <a:ln/>
        </p:spPr>
      </p:sp>
      <p:sp>
        <p:nvSpPr>
          <p:cNvPr id="12" name="Text 10"/>
          <p:cNvSpPr/>
          <p:nvPr/>
        </p:nvSpPr>
        <p:spPr>
          <a:xfrm>
            <a:off x="4928616" y="1719072"/>
            <a:ext cx="3355848" cy="749808"/>
          </a:xfrm>
          <a:prstGeom prst="rect">
            <a:avLst/>
          </a:prstGeom>
          <a:noFill/>
          <a:ln/>
        </p:spPr>
        <p:txBody>
          <a:bodyPr wrap="square" lIns="0" tIns="0" rIns="0" bIns="0" rtlCol="0" anchor="t"/>
          <a:lstStyle/>
          <a:p>
            <a:pPr indent="0" marL="0">
              <a:buNone/>
            </a:pPr>
            <a:r>
              <a:rPr lang="en-US" sz="4000" b="1" dirty="0">
                <a:solidFill>
                  <a:srgbClr val="B85416"/>
                </a:solidFill>
                <a:latin typeface="Georgia" pitchFamily="34" charset="0"/>
                <a:ea typeface="Georgia" pitchFamily="34" charset="-122"/>
                <a:cs typeface="Georgia" pitchFamily="34" charset="-120"/>
              </a:rPr>
              <a:t>₹39 lakh</a:t>
            </a:r>
            <a:endParaRPr lang="en-US" sz="4000" dirty="0"/>
          </a:p>
        </p:txBody>
      </p:sp>
      <p:sp>
        <p:nvSpPr>
          <p:cNvPr id="13" name="Text 11"/>
          <p:cNvSpPr/>
          <p:nvPr/>
        </p:nvSpPr>
        <p:spPr>
          <a:xfrm>
            <a:off x="4928616" y="2523744"/>
            <a:ext cx="3355848" cy="365760"/>
          </a:xfrm>
          <a:prstGeom prst="rect">
            <a:avLst/>
          </a:prstGeom>
          <a:noFill/>
          <a:ln/>
        </p:spPr>
        <p:txBody>
          <a:bodyPr wrap="square" lIns="0" tIns="0" rIns="0" bIns="0" rtlCol="0" anchor="t"/>
          <a:lstStyle/>
          <a:p>
            <a:pPr indent="0" marL="0">
              <a:buNone/>
            </a:pPr>
            <a:r>
              <a:rPr lang="en-US" sz="1200" dirty="0">
                <a:solidFill>
                  <a:srgbClr val="4E5F6D"/>
                </a:solidFill>
                <a:latin typeface="Calibri" pitchFamily="34" charset="0"/>
                <a:ea typeface="Calibri" pitchFamily="34" charset="-122"/>
                <a:cs typeface="Calibri" pitchFamily="34" charset="-120"/>
              </a:rPr>
              <a:t>The second city</a:t>
            </a:r>
            <a:endParaRPr lang="en-US" sz="1200" dirty="0"/>
          </a:p>
        </p:txBody>
      </p:sp>
      <p:sp>
        <p:nvSpPr>
          <p:cNvPr id="14" name="Text 12"/>
          <p:cNvSpPr/>
          <p:nvPr/>
        </p:nvSpPr>
        <p:spPr>
          <a:xfrm>
            <a:off x="566928" y="3310128"/>
            <a:ext cx="7991856" cy="868680"/>
          </a:xfrm>
          <a:prstGeom prst="rect">
            <a:avLst/>
          </a:prstGeom>
          <a:noFill/>
          <a:ln/>
        </p:spPr>
        <p:txBody>
          <a:bodyPr wrap="square" lIns="0" tIns="0" rIns="0" bIns="0" rtlCol="0" anchor="t"/>
          <a:lstStyle/>
          <a:p>
            <a:pPr indent="0" marL="0">
              <a:lnSpc>
                <a:spcPct val="122000"/>
              </a:lnSpc>
              <a:buNone/>
            </a:pPr>
            <a:r>
              <a:rPr lang="en-US" sz="1200" dirty="0">
                <a:solidFill>
                  <a:srgbClr val="173243"/>
                </a:solidFill>
                <a:latin typeface="Calibri" pitchFamily="34" charset="0"/>
                <a:ea typeface="Calibri" pitchFamily="34" charset="-122"/>
                <a:cs typeface="Calibri" pitchFamily="34" charset="-120"/>
              </a:rPr>
              <a:t>To be precise: ₹39 lakh is the incremental cost of adding a city to a platform and core team already funded by this grant — not the standalone cost of running a city from zero. We state that plainly, because a number that quietly omits its shared costs is a number designed to flatter. The comparison holds anyway.</a:t>
            </a:r>
            <a:endParaRPr lang="en-US" sz="1200" dirty="0"/>
          </a:p>
        </p:txBody>
      </p:sp>
      <p:sp>
        <p:nvSpPr>
          <p:cNvPr id="15" name="Text 13"/>
          <p:cNvSpPr/>
          <p:nvPr/>
        </p:nvSpPr>
        <p:spPr>
          <a:xfrm>
            <a:off x="566928" y="4261104"/>
            <a:ext cx="7498080" cy="365760"/>
          </a:xfrm>
          <a:prstGeom prst="rect">
            <a:avLst/>
          </a:prstGeom>
          <a:noFill/>
          <a:ln/>
        </p:spPr>
        <p:txBody>
          <a:bodyPr wrap="square" lIns="0" tIns="0" rIns="0" bIns="0" rtlCol="0" anchor="t"/>
          <a:lstStyle/>
          <a:p>
            <a:pPr indent="0" marL="0">
              <a:lnSpc>
                <a:spcPct val="115000"/>
              </a:lnSpc>
              <a:buNone/>
            </a:pPr>
            <a:r>
              <a:rPr lang="en-US" sz="1150" b="1" dirty="0">
                <a:solidFill>
                  <a:srgbClr val="0E1F2B"/>
                </a:solidFill>
                <a:latin typeface="Calibri" pitchFamily="34" charset="0"/>
                <a:ea typeface="Calibri" pitchFamily="34" charset="-122"/>
                <a:cs typeface="Calibri" pitchFamily="34" charset="-120"/>
              </a:rPr>
              <a:t>This is the argument for funding Bengaluru at full cost. The expensive city is the first one.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RISKS</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What could go wrong</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7991856" cy="914400"/>
        </p:xfrm>
        <a:graphic>
          <a:graphicData uri="http://schemas.openxmlformats.org/drawingml/2006/table">
            <a:tbl>
              <a:tblPr/>
              <a:tblGrid>
                <a:gridCol w="3108960"/>
                <a:gridCol w="4882896"/>
              </a:tblGrid>
              <a:tr h="42976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we do about it</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The election date slips again. Three court deadlines have already passed unmet.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Our calendar is anchored to relative dates. A delay lengthens the accountability phase rather than cancelling it.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Ward budget and works data proves hard to obtain.</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Delimitation data is in hand. Budget and works data is pursued through RTI, with digitisation funded as an explicit line. Where a ward's data cannot be obtained, we publish that fact.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We are accused of partisanship.</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A source on every field, an audit log on every change, no paid advertising, funders named, and a blackout during the legal silence period.</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The election audience does not stay.</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Consent to contact people about civic tools beyond this election is collected at registration, today. Corporator report cards give returning citizens a reason they already understand.</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The grant doubles Oorvani's budget.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A scoped programme with named roles and a defined end — not general expansion. Most added cost is honoraria and data, not permanent headcount.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429768">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No second city has a poll in the window.</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950" dirty="0">
                          <a:solidFill>
                            <a:srgbClr val="173243"/>
                          </a:solidFill>
                          <a:latin typeface="Calibri" pitchFamily="34" charset="0"/>
                          <a:ea typeface="Calibri" pitchFamily="34" charset="-122"/>
                          <a:cs typeface="Calibri" pitchFamily="34" charset="-120"/>
                        </a:rPr>
                        <a:t>The constraint is a calendar, not a partnership. Those funds are ring-fenced and returned or redeployed by agreement.</a:t>
                      </a:r>
                      <a:endParaRPr lang="en-US" sz="9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THE ASK</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₹2.30 crore — of which ₹25 lakh cannot wait</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66928" y="1426464"/>
            <a:ext cx="7991856" cy="658368"/>
          </a:xfrm>
          <a:prstGeom prst="rect">
            <a:avLst/>
          </a:prstGeom>
          <a:noFill/>
          <a:ln/>
        </p:spPr>
        <p:txBody>
          <a:bodyPr wrap="square" lIns="0" tIns="0" rIns="0" bIns="0" rtlCol="0" anchor="t"/>
          <a:lstStyle/>
          <a:p>
            <a:pPr indent="0" marL="0">
              <a:lnSpc>
                <a:spcPct val="120000"/>
              </a:lnSpc>
              <a:buNone/>
            </a:pPr>
            <a:r>
              <a:rPr lang="en-US" sz="1150" dirty="0">
                <a:solidFill>
                  <a:srgbClr val="173243"/>
                </a:solidFill>
                <a:latin typeface="Calibri" pitchFamily="34" charset="0"/>
                <a:ea typeface="Calibri" pitchFamily="34" charset="-122"/>
                <a:cs typeface="Calibri" pitchFamily="34" charset="-120"/>
              </a:rPr>
              <a:t>Bengaluru votes by 31 December 2026. A grant of this size takes three to six months to disburse, so most of this money will arrive at or after the election — which is the plan, because the election is the acquisition event and accountability is the product. But one part cannot wait.</a:t>
            </a:r>
            <a:endParaRPr lang="en-US" sz="1150" dirty="0"/>
          </a:p>
        </p:txBody>
      </p:sp>
      <p:sp>
        <p:nvSpPr>
          <p:cNvPr id="7" name="Shape 5"/>
          <p:cNvSpPr/>
          <p:nvPr/>
        </p:nvSpPr>
        <p:spPr>
          <a:xfrm>
            <a:off x="566928" y="2212848"/>
            <a:ext cx="3904488" cy="1810512"/>
          </a:xfrm>
          <a:prstGeom prst="rect">
            <a:avLst/>
          </a:prstGeom>
          <a:solidFill>
            <a:srgbClr val="FFFFFF"/>
          </a:solidFill>
          <a:ln w="9525">
            <a:solidFill>
              <a:srgbClr val="D9D3C8"/>
            </a:solidFill>
            <a:prstDash val="solid"/>
          </a:ln>
          <a:effectLst>
            <a:outerShdw sx="100000" sy="100000" kx="0" ky="0" algn="bl" rotWithShape="0" blurRad="101600" dist="25400" dir="8100000">
              <a:srgbClr val="000000">
                <a:alpha val="10000"/>
              </a:srgbClr>
            </a:outerShdw>
          </a:effectLst>
        </p:spPr>
      </p:sp>
      <p:sp>
        <p:nvSpPr>
          <p:cNvPr id="8" name="Shape 6"/>
          <p:cNvSpPr/>
          <p:nvPr/>
        </p:nvSpPr>
        <p:spPr>
          <a:xfrm>
            <a:off x="566928" y="2212848"/>
            <a:ext cx="64008" cy="1810512"/>
          </a:xfrm>
          <a:prstGeom prst="rect">
            <a:avLst/>
          </a:prstGeom>
          <a:solidFill>
            <a:srgbClr val="B85416"/>
          </a:solidFill>
          <a:ln/>
        </p:spPr>
      </p:sp>
      <p:sp>
        <p:nvSpPr>
          <p:cNvPr id="9" name="Text 7"/>
          <p:cNvSpPr/>
          <p:nvPr/>
        </p:nvSpPr>
        <p:spPr>
          <a:xfrm>
            <a:off x="804672" y="2368296"/>
            <a:ext cx="3447288" cy="420624"/>
          </a:xfrm>
          <a:prstGeom prst="rect">
            <a:avLst/>
          </a:prstGeom>
          <a:noFill/>
          <a:ln/>
        </p:spPr>
        <p:txBody>
          <a:bodyPr wrap="square" lIns="0" tIns="0" rIns="0" bIns="0" rtlCol="0" anchor="t"/>
          <a:lstStyle/>
          <a:p>
            <a:pPr indent="0" marL="0">
              <a:buNone/>
            </a:pPr>
            <a:r>
              <a:rPr lang="en-US" sz="2500" b="1" dirty="0">
                <a:solidFill>
                  <a:srgbClr val="B85416"/>
                </a:solidFill>
                <a:latin typeface="Georgia" pitchFamily="34" charset="0"/>
                <a:ea typeface="Georgia" pitchFamily="34" charset="-122"/>
                <a:cs typeface="Georgia" pitchFamily="34" charset="-120"/>
              </a:rPr>
              <a:t>₹25 lakh</a:t>
            </a:r>
            <a:endParaRPr lang="en-US" sz="2500" dirty="0"/>
          </a:p>
        </p:txBody>
      </p:sp>
      <p:sp>
        <p:nvSpPr>
          <p:cNvPr id="10" name="Text 8"/>
          <p:cNvSpPr/>
          <p:nvPr/>
        </p:nvSpPr>
        <p:spPr>
          <a:xfrm>
            <a:off x="804672" y="2843784"/>
            <a:ext cx="3447288" cy="1051560"/>
          </a:xfrm>
          <a:prstGeom prst="rect">
            <a:avLst/>
          </a:prstGeom>
          <a:noFill/>
          <a:ln/>
        </p:spPr>
        <p:txBody>
          <a:bodyPr wrap="square" lIns="0" tIns="0" rIns="0" bIns="0" rtlCol="0" anchor="t"/>
          <a:lstStyle/>
          <a:p>
            <a:pPr indent="0" marL="0">
              <a:lnSpc>
                <a:spcPct val="116000"/>
              </a:lnSpc>
              <a:spcAft>
                <a:spcPts val="500"/>
              </a:spcAft>
              <a:buNone/>
            </a:pPr>
            <a:r>
              <a:rPr lang="en-US" sz="1200" b="1" dirty="0">
                <a:solidFill>
                  <a:srgbClr val="0E1F2B"/>
                </a:solidFill>
                <a:latin typeface="Calibri" pitchFamily="34" charset="0"/>
                <a:ea typeface="Calibri" pitchFamily="34" charset="-122"/>
                <a:cs typeface="Calibri" pitchFamily="34" charset="-120"/>
              </a:rPr>
              <a:t>The bridge — needed now</a:t>
            </a:r>
            <a:endParaRPr lang="en-US" sz="1200" dirty="0"/>
          </a:p>
          <a:p>
            <a:pPr indent="0" marL="0">
              <a:lnSpc>
                <a:spcPct val="116000"/>
              </a:lnSpc>
              <a:buNone/>
            </a:pPr>
            <a:r>
              <a:rPr lang="en-US" sz="1050" dirty="0">
                <a:solidFill>
                  <a:srgbClr val="4E5F6D"/>
                </a:solidFill>
                <a:latin typeface="Calibri" pitchFamily="34" charset="0"/>
                <a:ea typeface="Calibri" pitchFamily="34" charset="-122"/>
                <a:cs typeface="Calibri" pitchFamily="34" charset="-120"/>
              </a:rPr>
              <a:t>Drawn forward from the total, not added to it. Curator honoraria through the election months, the comms programme at election scale including the electoral roll deadline alert, and final engineering and legal. A single donor can write this quickly.</a:t>
            </a:r>
            <a:endParaRPr lang="en-US" sz="1200" dirty="0"/>
          </a:p>
        </p:txBody>
      </p:sp>
      <p:sp>
        <p:nvSpPr>
          <p:cNvPr id="11" name="Text 9"/>
          <p:cNvSpPr/>
          <p:nvPr/>
        </p:nvSpPr>
        <p:spPr>
          <a:xfrm>
            <a:off x="4654296" y="2212848"/>
            <a:ext cx="3904488" cy="274320"/>
          </a:xfrm>
          <a:prstGeom prst="rect">
            <a:avLst/>
          </a:prstGeom>
          <a:noFill/>
          <a:ln/>
        </p:spPr>
        <p:txBody>
          <a:bodyPr wrap="square" lIns="0" tIns="0" rIns="0" bIns="0" rtlCol="0" anchor="t"/>
          <a:lstStyle/>
          <a:p>
            <a:pPr indent="0" marL="0">
              <a:buNone/>
            </a:pPr>
            <a:r>
              <a:rPr lang="en-US" sz="1200" b="1" dirty="0">
                <a:solidFill>
                  <a:srgbClr val="0E1F2B"/>
                </a:solidFill>
                <a:latin typeface="Calibri" pitchFamily="34" charset="0"/>
                <a:ea typeface="Calibri" pitchFamily="34" charset="-122"/>
                <a:cs typeface="Calibri" pitchFamily="34" charset="-120"/>
              </a:rPr>
              <a:t>The programme — ₹2.05 crore over two years</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654296" y="2560320"/>
          <a:ext cx="3904488" cy="914400"/>
        </p:xfrm>
        <a:graphic>
          <a:graphicData uri="http://schemas.openxmlformats.org/drawingml/2006/table">
            <a:tbl>
              <a:tblPr/>
              <a:tblGrid>
                <a:gridCol w="2807208"/>
                <a:gridCol w="1097280"/>
              </a:tblGrid>
              <a:tr h="310896">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Ward accountability layer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70L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The curator network</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55L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Bilingual reach</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41L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10896">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Second-city pilot</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39L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
        <p:nvSpPr>
          <p:cNvPr id="13" name="Text 10"/>
          <p:cNvSpPr/>
          <p:nvPr/>
        </p:nvSpPr>
        <p:spPr>
          <a:xfrm>
            <a:off x="4654296" y="4297680"/>
            <a:ext cx="3904488" cy="411480"/>
          </a:xfrm>
          <a:prstGeom prst="rect">
            <a:avLst/>
          </a:prstGeom>
          <a:noFill/>
          <a:ln/>
        </p:spPr>
        <p:txBody>
          <a:bodyPr wrap="square" lIns="0" tIns="0" rIns="0" bIns="0" rtlCol="0" anchor="t"/>
          <a:lstStyle/>
          <a:p>
            <a:pPr indent="0" marL="0">
              <a:lnSpc>
                <a:spcPct val="115000"/>
              </a:lnSpc>
              <a:buNone/>
            </a:pPr>
            <a:r>
              <a:rPr lang="en-US" sz="1000" i="1" dirty="0">
                <a:solidFill>
                  <a:srgbClr val="4E5F6D"/>
                </a:solidFill>
                <a:latin typeface="Calibri" pitchFamily="34" charset="0"/>
                <a:ea typeface="Calibri" pitchFamily="34" charset="-122"/>
                <a:cs typeface="Calibri" pitchFamily="34" charset="-120"/>
              </a:rPr>
              <a:t>Each component stands alone, with its own price and its own outcome. We seek one lead funder and two or three co-funders.</a:t>
            </a:r>
            <a:endParaRPr lang="en-US" sz="1000" dirty="0"/>
          </a:p>
        </p:txBody>
      </p:sp>
      <p:sp>
        <p:nvSpPr>
          <p:cNvPr id="14" name="Text 11"/>
          <p:cNvSpPr/>
          <p:nvPr/>
        </p:nvSpPr>
        <p:spPr>
          <a:xfrm>
            <a:off x="566928" y="4297680"/>
            <a:ext cx="3904488" cy="411480"/>
          </a:xfrm>
          <a:prstGeom prst="rect">
            <a:avLst/>
          </a:prstGeom>
          <a:noFill/>
          <a:ln/>
        </p:spPr>
        <p:txBody>
          <a:bodyPr wrap="square" lIns="0" tIns="0" rIns="0" bIns="0" rtlCol="0" anchor="t"/>
          <a:lstStyle/>
          <a:p>
            <a:pPr indent="0" marL="0">
              <a:lnSpc>
                <a:spcPct val="115000"/>
              </a:lnSpc>
              <a:buNone/>
            </a:pPr>
            <a:r>
              <a:rPr lang="en-US" sz="1000" i="1" dirty="0">
                <a:solidFill>
                  <a:srgbClr val="4E5F6D"/>
                </a:solidFill>
                <a:latin typeface="Calibri" pitchFamily="34" charset="0"/>
                <a:ea typeface="Calibri" pitchFamily="34" charset="-122"/>
                <a:cs typeface="Calibri" pitchFamily="34" charset="-120"/>
              </a:rPr>
              <a:t>Beyond money: introductions to apartment federations, colleges and large employers — distribution is our binding constraint, not engineering.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F2B"/>
        </a:solidFill>
      </p:bgPr>
    </p:bg>
    <p:spTree>
      <p:nvGrpSpPr>
        <p:cNvPr id="1" name=""/>
        <p:cNvGrpSpPr/>
        <p:nvPr/>
      </p:nvGrpSpPr>
      <p:grpSpPr>
        <a:xfrm>
          <a:off x="0" y="0"/>
          <a:ext cx="0" cy="0"/>
          <a:chOff x="0" y="0"/>
          <a:chExt cx="0" cy="0"/>
        </a:xfrm>
      </p:grpSpPr>
      <p:sp>
        <p:nvSpPr>
          <p:cNvPr id="2" name="Shape 0"/>
          <p:cNvSpPr/>
          <p:nvPr/>
        </p:nvSpPr>
        <p:spPr>
          <a:xfrm>
            <a:off x="5870448" y="566928"/>
            <a:ext cx="237744" cy="237744"/>
          </a:xfrm>
          <a:prstGeom prst="rect">
            <a:avLst/>
          </a:prstGeom>
          <a:solidFill>
            <a:srgbClr val="3D9A97">
              <a:alpha val="22000"/>
            </a:srgbClr>
          </a:solidFill>
          <a:ln/>
        </p:spPr>
      </p:sp>
      <p:sp>
        <p:nvSpPr>
          <p:cNvPr id="3" name="Shape 1"/>
          <p:cNvSpPr/>
          <p:nvPr/>
        </p:nvSpPr>
        <p:spPr>
          <a:xfrm>
            <a:off x="6176772" y="566928"/>
            <a:ext cx="237744" cy="237744"/>
          </a:xfrm>
          <a:prstGeom prst="rect">
            <a:avLst/>
          </a:prstGeom>
          <a:solidFill>
            <a:srgbClr val="3D9A97">
              <a:alpha val="22000"/>
            </a:srgbClr>
          </a:solidFill>
          <a:ln/>
        </p:spPr>
      </p:sp>
      <p:sp>
        <p:nvSpPr>
          <p:cNvPr id="4" name="Shape 2"/>
          <p:cNvSpPr/>
          <p:nvPr/>
        </p:nvSpPr>
        <p:spPr>
          <a:xfrm>
            <a:off x="6483096" y="566928"/>
            <a:ext cx="237744" cy="237744"/>
          </a:xfrm>
          <a:prstGeom prst="rect">
            <a:avLst/>
          </a:prstGeom>
          <a:solidFill>
            <a:srgbClr val="3D9A97">
              <a:alpha val="22000"/>
            </a:srgbClr>
          </a:solidFill>
          <a:ln/>
        </p:spPr>
      </p:sp>
      <p:sp>
        <p:nvSpPr>
          <p:cNvPr id="5" name="Shape 3"/>
          <p:cNvSpPr/>
          <p:nvPr/>
        </p:nvSpPr>
        <p:spPr>
          <a:xfrm>
            <a:off x="6789420" y="566928"/>
            <a:ext cx="237744" cy="237744"/>
          </a:xfrm>
          <a:prstGeom prst="rect">
            <a:avLst/>
          </a:prstGeom>
          <a:solidFill>
            <a:srgbClr val="3D9A97">
              <a:alpha val="22000"/>
            </a:srgbClr>
          </a:solidFill>
          <a:ln/>
        </p:spPr>
      </p:sp>
      <p:sp>
        <p:nvSpPr>
          <p:cNvPr id="6" name="Shape 4"/>
          <p:cNvSpPr/>
          <p:nvPr/>
        </p:nvSpPr>
        <p:spPr>
          <a:xfrm>
            <a:off x="7095744" y="566928"/>
            <a:ext cx="237744" cy="237744"/>
          </a:xfrm>
          <a:prstGeom prst="rect">
            <a:avLst/>
          </a:prstGeom>
          <a:solidFill>
            <a:srgbClr val="B85416"/>
          </a:solidFill>
          <a:ln/>
        </p:spPr>
      </p:sp>
      <p:sp>
        <p:nvSpPr>
          <p:cNvPr id="7" name="Shape 5"/>
          <p:cNvSpPr/>
          <p:nvPr/>
        </p:nvSpPr>
        <p:spPr>
          <a:xfrm>
            <a:off x="7402068" y="566928"/>
            <a:ext cx="237744" cy="237744"/>
          </a:xfrm>
          <a:prstGeom prst="rect">
            <a:avLst/>
          </a:prstGeom>
          <a:solidFill>
            <a:srgbClr val="3D9A97">
              <a:alpha val="22000"/>
            </a:srgbClr>
          </a:solidFill>
          <a:ln/>
        </p:spPr>
      </p:sp>
      <p:sp>
        <p:nvSpPr>
          <p:cNvPr id="8" name="Shape 6"/>
          <p:cNvSpPr/>
          <p:nvPr/>
        </p:nvSpPr>
        <p:spPr>
          <a:xfrm>
            <a:off x="7708392" y="566928"/>
            <a:ext cx="237744" cy="237744"/>
          </a:xfrm>
          <a:prstGeom prst="rect">
            <a:avLst/>
          </a:prstGeom>
          <a:solidFill>
            <a:srgbClr val="3D9A97">
              <a:alpha val="22000"/>
            </a:srgbClr>
          </a:solidFill>
          <a:ln/>
        </p:spPr>
      </p:sp>
      <p:sp>
        <p:nvSpPr>
          <p:cNvPr id="9" name="Shape 7"/>
          <p:cNvSpPr/>
          <p:nvPr/>
        </p:nvSpPr>
        <p:spPr>
          <a:xfrm>
            <a:off x="8014716" y="566928"/>
            <a:ext cx="237744" cy="237744"/>
          </a:xfrm>
          <a:prstGeom prst="rect">
            <a:avLst/>
          </a:prstGeom>
          <a:solidFill>
            <a:srgbClr val="3D9A97">
              <a:alpha val="22000"/>
            </a:srgbClr>
          </a:solidFill>
          <a:ln/>
        </p:spPr>
      </p:sp>
      <p:sp>
        <p:nvSpPr>
          <p:cNvPr id="10" name="Shape 8"/>
          <p:cNvSpPr/>
          <p:nvPr/>
        </p:nvSpPr>
        <p:spPr>
          <a:xfrm>
            <a:off x="8321040" y="566928"/>
            <a:ext cx="237744" cy="237744"/>
          </a:xfrm>
          <a:prstGeom prst="rect">
            <a:avLst/>
          </a:prstGeom>
          <a:solidFill>
            <a:srgbClr val="3D9A97">
              <a:alpha val="22000"/>
            </a:srgbClr>
          </a:solidFill>
          <a:ln/>
        </p:spPr>
      </p:sp>
      <p:sp>
        <p:nvSpPr>
          <p:cNvPr id="11" name="Shape 9"/>
          <p:cNvSpPr/>
          <p:nvPr/>
        </p:nvSpPr>
        <p:spPr>
          <a:xfrm>
            <a:off x="5870448" y="873252"/>
            <a:ext cx="237744" cy="237744"/>
          </a:xfrm>
          <a:prstGeom prst="rect">
            <a:avLst/>
          </a:prstGeom>
          <a:solidFill>
            <a:srgbClr val="3D9A97">
              <a:alpha val="22000"/>
            </a:srgbClr>
          </a:solidFill>
          <a:ln/>
        </p:spPr>
      </p:sp>
      <p:sp>
        <p:nvSpPr>
          <p:cNvPr id="12" name="Shape 10"/>
          <p:cNvSpPr/>
          <p:nvPr/>
        </p:nvSpPr>
        <p:spPr>
          <a:xfrm>
            <a:off x="6176772" y="873252"/>
            <a:ext cx="237744" cy="237744"/>
          </a:xfrm>
          <a:prstGeom prst="rect">
            <a:avLst/>
          </a:prstGeom>
          <a:solidFill>
            <a:srgbClr val="3D9A97">
              <a:alpha val="22000"/>
            </a:srgbClr>
          </a:solidFill>
          <a:ln/>
        </p:spPr>
      </p:sp>
      <p:sp>
        <p:nvSpPr>
          <p:cNvPr id="13" name="Shape 11"/>
          <p:cNvSpPr/>
          <p:nvPr/>
        </p:nvSpPr>
        <p:spPr>
          <a:xfrm>
            <a:off x="6483096" y="873252"/>
            <a:ext cx="237744" cy="237744"/>
          </a:xfrm>
          <a:prstGeom prst="rect">
            <a:avLst/>
          </a:prstGeom>
          <a:solidFill>
            <a:srgbClr val="3D9A97">
              <a:alpha val="22000"/>
            </a:srgbClr>
          </a:solidFill>
          <a:ln/>
        </p:spPr>
      </p:sp>
      <p:sp>
        <p:nvSpPr>
          <p:cNvPr id="14" name="Shape 12"/>
          <p:cNvSpPr/>
          <p:nvPr/>
        </p:nvSpPr>
        <p:spPr>
          <a:xfrm>
            <a:off x="6789420" y="873252"/>
            <a:ext cx="237744" cy="237744"/>
          </a:xfrm>
          <a:prstGeom prst="rect">
            <a:avLst/>
          </a:prstGeom>
          <a:solidFill>
            <a:srgbClr val="3D9A97">
              <a:alpha val="22000"/>
            </a:srgbClr>
          </a:solidFill>
          <a:ln/>
        </p:spPr>
      </p:sp>
      <p:sp>
        <p:nvSpPr>
          <p:cNvPr id="15" name="Shape 13"/>
          <p:cNvSpPr/>
          <p:nvPr/>
        </p:nvSpPr>
        <p:spPr>
          <a:xfrm>
            <a:off x="7095744" y="873252"/>
            <a:ext cx="237744" cy="237744"/>
          </a:xfrm>
          <a:prstGeom prst="rect">
            <a:avLst/>
          </a:prstGeom>
          <a:solidFill>
            <a:srgbClr val="3D9A97">
              <a:alpha val="22000"/>
            </a:srgbClr>
          </a:solidFill>
          <a:ln/>
        </p:spPr>
      </p:sp>
      <p:sp>
        <p:nvSpPr>
          <p:cNvPr id="16" name="Shape 14"/>
          <p:cNvSpPr/>
          <p:nvPr/>
        </p:nvSpPr>
        <p:spPr>
          <a:xfrm>
            <a:off x="7402068" y="873252"/>
            <a:ext cx="237744" cy="237744"/>
          </a:xfrm>
          <a:prstGeom prst="rect">
            <a:avLst/>
          </a:prstGeom>
          <a:solidFill>
            <a:srgbClr val="3D9A97">
              <a:alpha val="22000"/>
            </a:srgbClr>
          </a:solidFill>
          <a:ln/>
        </p:spPr>
      </p:sp>
      <p:sp>
        <p:nvSpPr>
          <p:cNvPr id="17" name="Shape 15"/>
          <p:cNvSpPr/>
          <p:nvPr/>
        </p:nvSpPr>
        <p:spPr>
          <a:xfrm>
            <a:off x="7708392" y="873252"/>
            <a:ext cx="237744" cy="237744"/>
          </a:xfrm>
          <a:prstGeom prst="rect">
            <a:avLst/>
          </a:prstGeom>
          <a:solidFill>
            <a:srgbClr val="3D9A97">
              <a:alpha val="22000"/>
            </a:srgbClr>
          </a:solidFill>
          <a:ln/>
        </p:spPr>
      </p:sp>
      <p:sp>
        <p:nvSpPr>
          <p:cNvPr id="18" name="Shape 16"/>
          <p:cNvSpPr/>
          <p:nvPr/>
        </p:nvSpPr>
        <p:spPr>
          <a:xfrm>
            <a:off x="8014716" y="873252"/>
            <a:ext cx="237744" cy="237744"/>
          </a:xfrm>
          <a:prstGeom prst="rect">
            <a:avLst/>
          </a:prstGeom>
          <a:solidFill>
            <a:srgbClr val="3D9A97">
              <a:alpha val="22000"/>
            </a:srgbClr>
          </a:solidFill>
          <a:ln/>
        </p:spPr>
      </p:sp>
      <p:sp>
        <p:nvSpPr>
          <p:cNvPr id="19" name="Shape 17"/>
          <p:cNvSpPr/>
          <p:nvPr/>
        </p:nvSpPr>
        <p:spPr>
          <a:xfrm>
            <a:off x="8321040" y="873252"/>
            <a:ext cx="237744" cy="237744"/>
          </a:xfrm>
          <a:prstGeom prst="rect">
            <a:avLst/>
          </a:prstGeom>
          <a:solidFill>
            <a:srgbClr val="3D9A97">
              <a:alpha val="22000"/>
            </a:srgbClr>
          </a:solidFill>
          <a:ln/>
        </p:spPr>
      </p:sp>
      <p:sp>
        <p:nvSpPr>
          <p:cNvPr id="20" name="Shape 18"/>
          <p:cNvSpPr/>
          <p:nvPr/>
        </p:nvSpPr>
        <p:spPr>
          <a:xfrm>
            <a:off x="5870448" y="1179576"/>
            <a:ext cx="237744" cy="237744"/>
          </a:xfrm>
          <a:prstGeom prst="rect">
            <a:avLst/>
          </a:prstGeom>
          <a:solidFill>
            <a:srgbClr val="3D9A97">
              <a:alpha val="22000"/>
            </a:srgbClr>
          </a:solidFill>
          <a:ln/>
        </p:spPr>
      </p:sp>
      <p:sp>
        <p:nvSpPr>
          <p:cNvPr id="21" name="Shape 19"/>
          <p:cNvSpPr/>
          <p:nvPr/>
        </p:nvSpPr>
        <p:spPr>
          <a:xfrm>
            <a:off x="6176772" y="1179576"/>
            <a:ext cx="237744" cy="237744"/>
          </a:xfrm>
          <a:prstGeom prst="rect">
            <a:avLst/>
          </a:prstGeom>
          <a:solidFill>
            <a:srgbClr val="3D9A97">
              <a:alpha val="22000"/>
            </a:srgbClr>
          </a:solidFill>
          <a:ln/>
        </p:spPr>
      </p:sp>
      <p:sp>
        <p:nvSpPr>
          <p:cNvPr id="22" name="Shape 20"/>
          <p:cNvSpPr/>
          <p:nvPr/>
        </p:nvSpPr>
        <p:spPr>
          <a:xfrm>
            <a:off x="6483096" y="1179576"/>
            <a:ext cx="237744" cy="237744"/>
          </a:xfrm>
          <a:prstGeom prst="rect">
            <a:avLst/>
          </a:prstGeom>
          <a:solidFill>
            <a:srgbClr val="3D9A97">
              <a:alpha val="22000"/>
            </a:srgbClr>
          </a:solidFill>
          <a:ln/>
        </p:spPr>
      </p:sp>
      <p:sp>
        <p:nvSpPr>
          <p:cNvPr id="23" name="Shape 21"/>
          <p:cNvSpPr/>
          <p:nvPr/>
        </p:nvSpPr>
        <p:spPr>
          <a:xfrm>
            <a:off x="6789420" y="1179576"/>
            <a:ext cx="237744" cy="237744"/>
          </a:xfrm>
          <a:prstGeom prst="rect">
            <a:avLst/>
          </a:prstGeom>
          <a:solidFill>
            <a:srgbClr val="B85416"/>
          </a:solidFill>
          <a:ln/>
        </p:spPr>
      </p:sp>
      <p:sp>
        <p:nvSpPr>
          <p:cNvPr id="24" name="Shape 22"/>
          <p:cNvSpPr/>
          <p:nvPr/>
        </p:nvSpPr>
        <p:spPr>
          <a:xfrm>
            <a:off x="7095744" y="1179576"/>
            <a:ext cx="237744" cy="237744"/>
          </a:xfrm>
          <a:prstGeom prst="rect">
            <a:avLst/>
          </a:prstGeom>
          <a:solidFill>
            <a:srgbClr val="3D9A97">
              <a:alpha val="22000"/>
            </a:srgbClr>
          </a:solidFill>
          <a:ln/>
        </p:spPr>
      </p:sp>
      <p:sp>
        <p:nvSpPr>
          <p:cNvPr id="25" name="Shape 23"/>
          <p:cNvSpPr/>
          <p:nvPr/>
        </p:nvSpPr>
        <p:spPr>
          <a:xfrm>
            <a:off x="7402068" y="1179576"/>
            <a:ext cx="237744" cy="237744"/>
          </a:xfrm>
          <a:prstGeom prst="rect">
            <a:avLst/>
          </a:prstGeom>
          <a:solidFill>
            <a:srgbClr val="3D9A97">
              <a:alpha val="22000"/>
            </a:srgbClr>
          </a:solidFill>
          <a:ln/>
        </p:spPr>
      </p:sp>
      <p:sp>
        <p:nvSpPr>
          <p:cNvPr id="26" name="Shape 24"/>
          <p:cNvSpPr/>
          <p:nvPr/>
        </p:nvSpPr>
        <p:spPr>
          <a:xfrm>
            <a:off x="7708392" y="1179576"/>
            <a:ext cx="237744" cy="237744"/>
          </a:xfrm>
          <a:prstGeom prst="rect">
            <a:avLst/>
          </a:prstGeom>
          <a:solidFill>
            <a:srgbClr val="3D9A97">
              <a:alpha val="22000"/>
            </a:srgbClr>
          </a:solidFill>
          <a:ln/>
        </p:spPr>
      </p:sp>
      <p:sp>
        <p:nvSpPr>
          <p:cNvPr id="27" name="Shape 25"/>
          <p:cNvSpPr/>
          <p:nvPr/>
        </p:nvSpPr>
        <p:spPr>
          <a:xfrm>
            <a:off x="8014716" y="1179576"/>
            <a:ext cx="237744" cy="237744"/>
          </a:xfrm>
          <a:prstGeom prst="rect">
            <a:avLst/>
          </a:prstGeom>
          <a:solidFill>
            <a:srgbClr val="3D9A97">
              <a:alpha val="22000"/>
            </a:srgbClr>
          </a:solidFill>
          <a:ln/>
        </p:spPr>
      </p:sp>
      <p:sp>
        <p:nvSpPr>
          <p:cNvPr id="28" name="Shape 26"/>
          <p:cNvSpPr/>
          <p:nvPr/>
        </p:nvSpPr>
        <p:spPr>
          <a:xfrm>
            <a:off x="8321040" y="1179576"/>
            <a:ext cx="237744" cy="237744"/>
          </a:xfrm>
          <a:prstGeom prst="rect">
            <a:avLst/>
          </a:prstGeom>
          <a:solidFill>
            <a:srgbClr val="3D9A97">
              <a:alpha val="22000"/>
            </a:srgbClr>
          </a:solidFill>
          <a:ln/>
        </p:spPr>
      </p:sp>
      <p:sp>
        <p:nvSpPr>
          <p:cNvPr id="29" name="Shape 27"/>
          <p:cNvSpPr/>
          <p:nvPr/>
        </p:nvSpPr>
        <p:spPr>
          <a:xfrm>
            <a:off x="5870448" y="1485900"/>
            <a:ext cx="237744" cy="237744"/>
          </a:xfrm>
          <a:prstGeom prst="rect">
            <a:avLst/>
          </a:prstGeom>
          <a:solidFill>
            <a:srgbClr val="3D9A97">
              <a:alpha val="22000"/>
            </a:srgbClr>
          </a:solidFill>
          <a:ln/>
        </p:spPr>
      </p:sp>
      <p:sp>
        <p:nvSpPr>
          <p:cNvPr id="30" name="Shape 28"/>
          <p:cNvSpPr/>
          <p:nvPr/>
        </p:nvSpPr>
        <p:spPr>
          <a:xfrm>
            <a:off x="6176772" y="1485900"/>
            <a:ext cx="237744" cy="237744"/>
          </a:xfrm>
          <a:prstGeom prst="rect">
            <a:avLst/>
          </a:prstGeom>
          <a:solidFill>
            <a:srgbClr val="3D9A97">
              <a:alpha val="22000"/>
            </a:srgbClr>
          </a:solidFill>
          <a:ln/>
        </p:spPr>
      </p:sp>
      <p:sp>
        <p:nvSpPr>
          <p:cNvPr id="31" name="Shape 29"/>
          <p:cNvSpPr/>
          <p:nvPr/>
        </p:nvSpPr>
        <p:spPr>
          <a:xfrm>
            <a:off x="6483096" y="1485900"/>
            <a:ext cx="237744" cy="237744"/>
          </a:xfrm>
          <a:prstGeom prst="rect">
            <a:avLst/>
          </a:prstGeom>
          <a:solidFill>
            <a:srgbClr val="3D9A97">
              <a:alpha val="22000"/>
            </a:srgbClr>
          </a:solidFill>
          <a:ln/>
        </p:spPr>
      </p:sp>
      <p:sp>
        <p:nvSpPr>
          <p:cNvPr id="32" name="Shape 30"/>
          <p:cNvSpPr/>
          <p:nvPr/>
        </p:nvSpPr>
        <p:spPr>
          <a:xfrm>
            <a:off x="6789420" y="1485900"/>
            <a:ext cx="237744" cy="237744"/>
          </a:xfrm>
          <a:prstGeom prst="rect">
            <a:avLst/>
          </a:prstGeom>
          <a:solidFill>
            <a:srgbClr val="3D9A97">
              <a:alpha val="22000"/>
            </a:srgbClr>
          </a:solidFill>
          <a:ln/>
        </p:spPr>
      </p:sp>
      <p:sp>
        <p:nvSpPr>
          <p:cNvPr id="33" name="Shape 31"/>
          <p:cNvSpPr/>
          <p:nvPr/>
        </p:nvSpPr>
        <p:spPr>
          <a:xfrm>
            <a:off x="7095744" y="1485900"/>
            <a:ext cx="237744" cy="237744"/>
          </a:xfrm>
          <a:prstGeom prst="rect">
            <a:avLst/>
          </a:prstGeom>
          <a:solidFill>
            <a:srgbClr val="3D9A97">
              <a:alpha val="22000"/>
            </a:srgbClr>
          </a:solidFill>
          <a:ln/>
        </p:spPr>
      </p:sp>
      <p:sp>
        <p:nvSpPr>
          <p:cNvPr id="34" name="Shape 32"/>
          <p:cNvSpPr/>
          <p:nvPr/>
        </p:nvSpPr>
        <p:spPr>
          <a:xfrm>
            <a:off x="7402068" y="1485900"/>
            <a:ext cx="237744" cy="237744"/>
          </a:xfrm>
          <a:prstGeom prst="rect">
            <a:avLst/>
          </a:prstGeom>
          <a:solidFill>
            <a:srgbClr val="3D9A97">
              <a:alpha val="22000"/>
            </a:srgbClr>
          </a:solidFill>
          <a:ln/>
        </p:spPr>
      </p:sp>
      <p:sp>
        <p:nvSpPr>
          <p:cNvPr id="35" name="Shape 33"/>
          <p:cNvSpPr/>
          <p:nvPr/>
        </p:nvSpPr>
        <p:spPr>
          <a:xfrm>
            <a:off x="7708392" y="1485900"/>
            <a:ext cx="237744" cy="237744"/>
          </a:xfrm>
          <a:prstGeom prst="rect">
            <a:avLst/>
          </a:prstGeom>
          <a:solidFill>
            <a:srgbClr val="3D9A97">
              <a:alpha val="22000"/>
            </a:srgbClr>
          </a:solidFill>
          <a:ln/>
        </p:spPr>
      </p:sp>
      <p:sp>
        <p:nvSpPr>
          <p:cNvPr id="36" name="Shape 34"/>
          <p:cNvSpPr/>
          <p:nvPr/>
        </p:nvSpPr>
        <p:spPr>
          <a:xfrm>
            <a:off x="8014716" y="1485900"/>
            <a:ext cx="237744" cy="237744"/>
          </a:xfrm>
          <a:prstGeom prst="rect">
            <a:avLst/>
          </a:prstGeom>
          <a:solidFill>
            <a:srgbClr val="3D9A97">
              <a:alpha val="22000"/>
            </a:srgbClr>
          </a:solidFill>
          <a:ln/>
        </p:spPr>
      </p:sp>
      <p:sp>
        <p:nvSpPr>
          <p:cNvPr id="37" name="Shape 35"/>
          <p:cNvSpPr/>
          <p:nvPr/>
        </p:nvSpPr>
        <p:spPr>
          <a:xfrm>
            <a:off x="8321040" y="1485900"/>
            <a:ext cx="237744" cy="237744"/>
          </a:xfrm>
          <a:prstGeom prst="rect">
            <a:avLst/>
          </a:prstGeom>
          <a:solidFill>
            <a:srgbClr val="3D9A97">
              <a:alpha val="22000"/>
            </a:srgbClr>
          </a:solidFill>
          <a:ln/>
        </p:spPr>
      </p:sp>
      <p:sp>
        <p:nvSpPr>
          <p:cNvPr id="38" name="Shape 36"/>
          <p:cNvSpPr/>
          <p:nvPr/>
        </p:nvSpPr>
        <p:spPr>
          <a:xfrm>
            <a:off x="5870448" y="1792224"/>
            <a:ext cx="237744" cy="237744"/>
          </a:xfrm>
          <a:prstGeom prst="rect">
            <a:avLst/>
          </a:prstGeom>
          <a:solidFill>
            <a:srgbClr val="3D9A97">
              <a:alpha val="22000"/>
            </a:srgbClr>
          </a:solidFill>
          <a:ln/>
        </p:spPr>
      </p:sp>
      <p:sp>
        <p:nvSpPr>
          <p:cNvPr id="39" name="Shape 37"/>
          <p:cNvSpPr/>
          <p:nvPr/>
        </p:nvSpPr>
        <p:spPr>
          <a:xfrm>
            <a:off x="6176772" y="1792224"/>
            <a:ext cx="237744" cy="237744"/>
          </a:xfrm>
          <a:prstGeom prst="rect">
            <a:avLst/>
          </a:prstGeom>
          <a:solidFill>
            <a:srgbClr val="3D9A97">
              <a:alpha val="22000"/>
            </a:srgbClr>
          </a:solidFill>
          <a:ln/>
        </p:spPr>
      </p:sp>
      <p:sp>
        <p:nvSpPr>
          <p:cNvPr id="40" name="Shape 38"/>
          <p:cNvSpPr/>
          <p:nvPr/>
        </p:nvSpPr>
        <p:spPr>
          <a:xfrm>
            <a:off x="6483096" y="1792224"/>
            <a:ext cx="237744" cy="237744"/>
          </a:xfrm>
          <a:prstGeom prst="rect">
            <a:avLst/>
          </a:prstGeom>
          <a:solidFill>
            <a:srgbClr val="B85416"/>
          </a:solidFill>
          <a:ln/>
        </p:spPr>
      </p:sp>
      <p:sp>
        <p:nvSpPr>
          <p:cNvPr id="41" name="Shape 39"/>
          <p:cNvSpPr/>
          <p:nvPr/>
        </p:nvSpPr>
        <p:spPr>
          <a:xfrm>
            <a:off x="6789420" y="1792224"/>
            <a:ext cx="237744" cy="237744"/>
          </a:xfrm>
          <a:prstGeom prst="rect">
            <a:avLst/>
          </a:prstGeom>
          <a:solidFill>
            <a:srgbClr val="3D9A97">
              <a:alpha val="22000"/>
            </a:srgbClr>
          </a:solidFill>
          <a:ln/>
        </p:spPr>
      </p:sp>
      <p:sp>
        <p:nvSpPr>
          <p:cNvPr id="42" name="Shape 40"/>
          <p:cNvSpPr/>
          <p:nvPr/>
        </p:nvSpPr>
        <p:spPr>
          <a:xfrm>
            <a:off x="7095744" y="1792224"/>
            <a:ext cx="237744" cy="237744"/>
          </a:xfrm>
          <a:prstGeom prst="rect">
            <a:avLst/>
          </a:prstGeom>
          <a:solidFill>
            <a:srgbClr val="3D9A97">
              <a:alpha val="22000"/>
            </a:srgbClr>
          </a:solidFill>
          <a:ln/>
        </p:spPr>
      </p:sp>
      <p:sp>
        <p:nvSpPr>
          <p:cNvPr id="43" name="Shape 41"/>
          <p:cNvSpPr/>
          <p:nvPr/>
        </p:nvSpPr>
        <p:spPr>
          <a:xfrm>
            <a:off x="7402068" y="1792224"/>
            <a:ext cx="237744" cy="237744"/>
          </a:xfrm>
          <a:prstGeom prst="rect">
            <a:avLst/>
          </a:prstGeom>
          <a:solidFill>
            <a:srgbClr val="3D9A97">
              <a:alpha val="22000"/>
            </a:srgbClr>
          </a:solidFill>
          <a:ln/>
        </p:spPr>
      </p:sp>
      <p:sp>
        <p:nvSpPr>
          <p:cNvPr id="44" name="Shape 42"/>
          <p:cNvSpPr/>
          <p:nvPr/>
        </p:nvSpPr>
        <p:spPr>
          <a:xfrm>
            <a:off x="7708392" y="1792224"/>
            <a:ext cx="237744" cy="237744"/>
          </a:xfrm>
          <a:prstGeom prst="rect">
            <a:avLst/>
          </a:prstGeom>
          <a:solidFill>
            <a:srgbClr val="3D9A97">
              <a:alpha val="22000"/>
            </a:srgbClr>
          </a:solidFill>
          <a:ln/>
        </p:spPr>
      </p:sp>
      <p:sp>
        <p:nvSpPr>
          <p:cNvPr id="45" name="Shape 43"/>
          <p:cNvSpPr/>
          <p:nvPr/>
        </p:nvSpPr>
        <p:spPr>
          <a:xfrm>
            <a:off x="8014716" y="1792224"/>
            <a:ext cx="237744" cy="237744"/>
          </a:xfrm>
          <a:prstGeom prst="rect">
            <a:avLst/>
          </a:prstGeom>
          <a:solidFill>
            <a:srgbClr val="3D9A97">
              <a:alpha val="22000"/>
            </a:srgbClr>
          </a:solidFill>
          <a:ln/>
        </p:spPr>
      </p:sp>
      <p:sp>
        <p:nvSpPr>
          <p:cNvPr id="46" name="Shape 44"/>
          <p:cNvSpPr/>
          <p:nvPr/>
        </p:nvSpPr>
        <p:spPr>
          <a:xfrm>
            <a:off x="8321040" y="1792224"/>
            <a:ext cx="237744" cy="237744"/>
          </a:xfrm>
          <a:prstGeom prst="rect">
            <a:avLst/>
          </a:prstGeom>
          <a:solidFill>
            <a:srgbClr val="3D9A97">
              <a:alpha val="22000"/>
            </a:srgbClr>
          </a:solidFill>
          <a:ln/>
        </p:spPr>
      </p:sp>
      <p:sp>
        <p:nvSpPr>
          <p:cNvPr id="47" name="Shape 45"/>
          <p:cNvSpPr/>
          <p:nvPr/>
        </p:nvSpPr>
        <p:spPr>
          <a:xfrm>
            <a:off x="5870448" y="2098548"/>
            <a:ext cx="237744" cy="237744"/>
          </a:xfrm>
          <a:prstGeom prst="rect">
            <a:avLst/>
          </a:prstGeom>
          <a:solidFill>
            <a:srgbClr val="3D9A97">
              <a:alpha val="22000"/>
            </a:srgbClr>
          </a:solidFill>
          <a:ln/>
        </p:spPr>
      </p:sp>
      <p:sp>
        <p:nvSpPr>
          <p:cNvPr id="48" name="Shape 46"/>
          <p:cNvSpPr/>
          <p:nvPr/>
        </p:nvSpPr>
        <p:spPr>
          <a:xfrm>
            <a:off x="6176772" y="2098548"/>
            <a:ext cx="237744" cy="237744"/>
          </a:xfrm>
          <a:prstGeom prst="rect">
            <a:avLst/>
          </a:prstGeom>
          <a:solidFill>
            <a:srgbClr val="3D9A97">
              <a:alpha val="22000"/>
            </a:srgbClr>
          </a:solidFill>
          <a:ln/>
        </p:spPr>
      </p:sp>
      <p:sp>
        <p:nvSpPr>
          <p:cNvPr id="49" name="Shape 47"/>
          <p:cNvSpPr/>
          <p:nvPr/>
        </p:nvSpPr>
        <p:spPr>
          <a:xfrm>
            <a:off x="6483096" y="2098548"/>
            <a:ext cx="237744" cy="237744"/>
          </a:xfrm>
          <a:prstGeom prst="rect">
            <a:avLst/>
          </a:prstGeom>
          <a:solidFill>
            <a:srgbClr val="3D9A97">
              <a:alpha val="22000"/>
            </a:srgbClr>
          </a:solidFill>
          <a:ln/>
        </p:spPr>
      </p:sp>
      <p:sp>
        <p:nvSpPr>
          <p:cNvPr id="50" name="Shape 48"/>
          <p:cNvSpPr/>
          <p:nvPr/>
        </p:nvSpPr>
        <p:spPr>
          <a:xfrm>
            <a:off x="6789420" y="2098548"/>
            <a:ext cx="237744" cy="237744"/>
          </a:xfrm>
          <a:prstGeom prst="rect">
            <a:avLst/>
          </a:prstGeom>
          <a:solidFill>
            <a:srgbClr val="3D9A97">
              <a:alpha val="22000"/>
            </a:srgbClr>
          </a:solidFill>
          <a:ln/>
        </p:spPr>
      </p:sp>
      <p:sp>
        <p:nvSpPr>
          <p:cNvPr id="51" name="Shape 49"/>
          <p:cNvSpPr/>
          <p:nvPr/>
        </p:nvSpPr>
        <p:spPr>
          <a:xfrm>
            <a:off x="7095744" y="2098548"/>
            <a:ext cx="237744" cy="237744"/>
          </a:xfrm>
          <a:prstGeom prst="rect">
            <a:avLst/>
          </a:prstGeom>
          <a:solidFill>
            <a:srgbClr val="3D9A97">
              <a:alpha val="22000"/>
            </a:srgbClr>
          </a:solidFill>
          <a:ln/>
        </p:spPr>
      </p:sp>
      <p:sp>
        <p:nvSpPr>
          <p:cNvPr id="52" name="Shape 50"/>
          <p:cNvSpPr/>
          <p:nvPr/>
        </p:nvSpPr>
        <p:spPr>
          <a:xfrm>
            <a:off x="7402068" y="2098548"/>
            <a:ext cx="237744" cy="237744"/>
          </a:xfrm>
          <a:prstGeom prst="rect">
            <a:avLst/>
          </a:prstGeom>
          <a:solidFill>
            <a:srgbClr val="3D9A97">
              <a:alpha val="22000"/>
            </a:srgbClr>
          </a:solidFill>
          <a:ln/>
        </p:spPr>
      </p:sp>
      <p:sp>
        <p:nvSpPr>
          <p:cNvPr id="53" name="Shape 51"/>
          <p:cNvSpPr/>
          <p:nvPr/>
        </p:nvSpPr>
        <p:spPr>
          <a:xfrm>
            <a:off x="7708392" y="2098548"/>
            <a:ext cx="237744" cy="237744"/>
          </a:xfrm>
          <a:prstGeom prst="rect">
            <a:avLst/>
          </a:prstGeom>
          <a:solidFill>
            <a:srgbClr val="3D9A97">
              <a:alpha val="22000"/>
            </a:srgbClr>
          </a:solidFill>
          <a:ln/>
        </p:spPr>
      </p:sp>
      <p:sp>
        <p:nvSpPr>
          <p:cNvPr id="54" name="Shape 52"/>
          <p:cNvSpPr/>
          <p:nvPr/>
        </p:nvSpPr>
        <p:spPr>
          <a:xfrm>
            <a:off x="8014716" y="2098548"/>
            <a:ext cx="237744" cy="237744"/>
          </a:xfrm>
          <a:prstGeom prst="rect">
            <a:avLst/>
          </a:prstGeom>
          <a:solidFill>
            <a:srgbClr val="B85416"/>
          </a:solidFill>
          <a:ln/>
        </p:spPr>
      </p:sp>
      <p:sp>
        <p:nvSpPr>
          <p:cNvPr id="55" name="Shape 53"/>
          <p:cNvSpPr/>
          <p:nvPr/>
        </p:nvSpPr>
        <p:spPr>
          <a:xfrm>
            <a:off x="8321040" y="2098548"/>
            <a:ext cx="237744" cy="237744"/>
          </a:xfrm>
          <a:prstGeom prst="rect">
            <a:avLst/>
          </a:prstGeom>
          <a:solidFill>
            <a:srgbClr val="3D9A97">
              <a:alpha val="22000"/>
            </a:srgbClr>
          </a:solidFill>
          <a:ln/>
        </p:spPr>
      </p:sp>
      <p:sp>
        <p:nvSpPr>
          <p:cNvPr id="56" name="Shape 54"/>
          <p:cNvSpPr/>
          <p:nvPr/>
        </p:nvSpPr>
        <p:spPr>
          <a:xfrm>
            <a:off x="5870448" y="2404872"/>
            <a:ext cx="237744" cy="237744"/>
          </a:xfrm>
          <a:prstGeom prst="rect">
            <a:avLst/>
          </a:prstGeom>
          <a:solidFill>
            <a:srgbClr val="3D9A97">
              <a:alpha val="22000"/>
            </a:srgbClr>
          </a:solidFill>
          <a:ln/>
        </p:spPr>
      </p:sp>
      <p:sp>
        <p:nvSpPr>
          <p:cNvPr id="57" name="Shape 55"/>
          <p:cNvSpPr/>
          <p:nvPr/>
        </p:nvSpPr>
        <p:spPr>
          <a:xfrm>
            <a:off x="6176772" y="2404872"/>
            <a:ext cx="237744" cy="237744"/>
          </a:xfrm>
          <a:prstGeom prst="rect">
            <a:avLst/>
          </a:prstGeom>
          <a:solidFill>
            <a:srgbClr val="3D9A97">
              <a:alpha val="22000"/>
            </a:srgbClr>
          </a:solidFill>
          <a:ln/>
        </p:spPr>
      </p:sp>
      <p:sp>
        <p:nvSpPr>
          <p:cNvPr id="58" name="Shape 56"/>
          <p:cNvSpPr/>
          <p:nvPr/>
        </p:nvSpPr>
        <p:spPr>
          <a:xfrm>
            <a:off x="6483096" y="2404872"/>
            <a:ext cx="237744" cy="237744"/>
          </a:xfrm>
          <a:prstGeom prst="rect">
            <a:avLst/>
          </a:prstGeom>
          <a:solidFill>
            <a:srgbClr val="3D9A97">
              <a:alpha val="22000"/>
            </a:srgbClr>
          </a:solidFill>
          <a:ln/>
        </p:spPr>
      </p:sp>
      <p:sp>
        <p:nvSpPr>
          <p:cNvPr id="59" name="Shape 57"/>
          <p:cNvSpPr/>
          <p:nvPr/>
        </p:nvSpPr>
        <p:spPr>
          <a:xfrm>
            <a:off x="6789420" y="2404872"/>
            <a:ext cx="237744" cy="237744"/>
          </a:xfrm>
          <a:prstGeom prst="rect">
            <a:avLst/>
          </a:prstGeom>
          <a:solidFill>
            <a:srgbClr val="3D9A97">
              <a:alpha val="22000"/>
            </a:srgbClr>
          </a:solidFill>
          <a:ln/>
        </p:spPr>
      </p:sp>
      <p:sp>
        <p:nvSpPr>
          <p:cNvPr id="60" name="Shape 58"/>
          <p:cNvSpPr/>
          <p:nvPr/>
        </p:nvSpPr>
        <p:spPr>
          <a:xfrm>
            <a:off x="7095744" y="2404872"/>
            <a:ext cx="237744" cy="237744"/>
          </a:xfrm>
          <a:prstGeom prst="rect">
            <a:avLst/>
          </a:prstGeom>
          <a:solidFill>
            <a:srgbClr val="3D9A97">
              <a:alpha val="22000"/>
            </a:srgbClr>
          </a:solidFill>
          <a:ln/>
        </p:spPr>
      </p:sp>
      <p:sp>
        <p:nvSpPr>
          <p:cNvPr id="61" name="Shape 59"/>
          <p:cNvSpPr/>
          <p:nvPr/>
        </p:nvSpPr>
        <p:spPr>
          <a:xfrm>
            <a:off x="7402068" y="2404872"/>
            <a:ext cx="237744" cy="237744"/>
          </a:xfrm>
          <a:prstGeom prst="rect">
            <a:avLst/>
          </a:prstGeom>
          <a:solidFill>
            <a:srgbClr val="3D9A97">
              <a:alpha val="22000"/>
            </a:srgbClr>
          </a:solidFill>
          <a:ln/>
        </p:spPr>
      </p:sp>
      <p:sp>
        <p:nvSpPr>
          <p:cNvPr id="62" name="Shape 60"/>
          <p:cNvSpPr/>
          <p:nvPr/>
        </p:nvSpPr>
        <p:spPr>
          <a:xfrm>
            <a:off x="7708392" y="2404872"/>
            <a:ext cx="237744" cy="237744"/>
          </a:xfrm>
          <a:prstGeom prst="rect">
            <a:avLst/>
          </a:prstGeom>
          <a:solidFill>
            <a:srgbClr val="3D9A97">
              <a:alpha val="22000"/>
            </a:srgbClr>
          </a:solidFill>
          <a:ln/>
        </p:spPr>
      </p:sp>
      <p:sp>
        <p:nvSpPr>
          <p:cNvPr id="63" name="Shape 61"/>
          <p:cNvSpPr/>
          <p:nvPr/>
        </p:nvSpPr>
        <p:spPr>
          <a:xfrm>
            <a:off x="8014716" y="2404872"/>
            <a:ext cx="237744" cy="237744"/>
          </a:xfrm>
          <a:prstGeom prst="rect">
            <a:avLst/>
          </a:prstGeom>
          <a:solidFill>
            <a:srgbClr val="3D9A97">
              <a:alpha val="22000"/>
            </a:srgbClr>
          </a:solidFill>
          <a:ln/>
        </p:spPr>
      </p:sp>
      <p:sp>
        <p:nvSpPr>
          <p:cNvPr id="64" name="Shape 62"/>
          <p:cNvSpPr/>
          <p:nvPr/>
        </p:nvSpPr>
        <p:spPr>
          <a:xfrm>
            <a:off x="8321040" y="2404872"/>
            <a:ext cx="237744" cy="237744"/>
          </a:xfrm>
          <a:prstGeom prst="rect">
            <a:avLst/>
          </a:prstGeom>
          <a:solidFill>
            <a:srgbClr val="3D9A97">
              <a:alpha val="22000"/>
            </a:srgbClr>
          </a:solidFill>
          <a:ln/>
        </p:spPr>
      </p:sp>
      <p:sp>
        <p:nvSpPr>
          <p:cNvPr id="65" name="Shape 63"/>
          <p:cNvSpPr/>
          <p:nvPr/>
        </p:nvSpPr>
        <p:spPr>
          <a:xfrm>
            <a:off x="5870448" y="2711196"/>
            <a:ext cx="237744" cy="237744"/>
          </a:xfrm>
          <a:prstGeom prst="rect">
            <a:avLst/>
          </a:prstGeom>
          <a:solidFill>
            <a:srgbClr val="3D9A97">
              <a:alpha val="22000"/>
            </a:srgbClr>
          </a:solidFill>
          <a:ln/>
        </p:spPr>
      </p:sp>
      <p:sp>
        <p:nvSpPr>
          <p:cNvPr id="66" name="Shape 64"/>
          <p:cNvSpPr/>
          <p:nvPr/>
        </p:nvSpPr>
        <p:spPr>
          <a:xfrm>
            <a:off x="6176772" y="2711196"/>
            <a:ext cx="237744" cy="237744"/>
          </a:xfrm>
          <a:prstGeom prst="rect">
            <a:avLst/>
          </a:prstGeom>
          <a:solidFill>
            <a:srgbClr val="3D9A97">
              <a:alpha val="22000"/>
            </a:srgbClr>
          </a:solidFill>
          <a:ln/>
        </p:spPr>
      </p:sp>
      <p:sp>
        <p:nvSpPr>
          <p:cNvPr id="67" name="Shape 65"/>
          <p:cNvSpPr/>
          <p:nvPr/>
        </p:nvSpPr>
        <p:spPr>
          <a:xfrm>
            <a:off x="6483096" y="2711196"/>
            <a:ext cx="237744" cy="237744"/>
          </a:xfrm>
          <a:prstGeom prst="rect">
            <a:avLst/>
          </a:prstGeom>
          <a:solidFill>
            <a:srgbClr val="3D9A97">
              <a:alpha val="22000"/>
            </a:srgbClr>
          </a:solidFill>
          <a:ln/>
        </p:spPr>
      </p:sp>
      <p:sp>
        <p:nvSpPr>
          <p:cNvPr id="68" name="Shape 66"/>
          <p:cNvSpPr/>
          <p:nvPr/>
        </p:nvSpPr>
        <p:spPr>
          <a:xfrm>
            <a:off x="6789420" y="2711196"/>
            <a:ext cx="237744" cy="237744"/>
          </a:xfrm>
          <a:prstGeom prst="rect">
            <a:avLst/>
          </a:prstGeom>
          <a:solidFill>
            <a:srgbClr val="3D9A97">
              <a:alpha val="22000"/>
            </a:srgbClr>
          </a:solidFill>
          <a:ln/>
        </p:spPr>
      </p:sp>
      <p:sp>
        <p:nvSpPr>
          <p:cNvPr id="69" name="Shape 67"/>
          <p:cNvSpPr/>
          <p:nvPr/>
        </p:nvSpPr>
        <p:spPr>
          <a:xfrm>
            <a:off x="7095744" y="2711196"/>
            <a:ext cx="237744" cy="237744"/>
          </a:xfrm>
          <a:prstGeom prst="rect">
            <a:avLst/>
          </a:prstGeom>
          <a:solidFill>
            <a:srgbClr val="3D9A97">
              <a:alpha val="22000"/>
            </a:srgbClr>
          </a:solidFill>
          <a:ln/>
        </p:spPr>
      </p:sp>
      <p:sp>
        <p:nvSpPr>
          <p:cNvPr id="70" name="Shape 68"/>
          <p:cNvSpPr/>
          <p:nvPr/>
        </p:nvSpPr>
        <p:spPr>
          <a:xfrm>
            <a:off x="7402068" y="2711196"/>
            <a:ext cx="237744" cy="237744"/>
          </a:xfrm>
          <a:prstGeom prst="rect">
            <a:avLst/>
          </a:prstGeom>
          <a:solidFill>
            <a:srgbClr val="B85416"/>
          </a:solidFill>
          <a:ln/>
        </p:spPr>
      </p:sp>
      <p:sp>
        <p:nvSpPr>
          <p:cNvPr id="71" name="Shape 69"/>
          <p:cNvSpPr/>
          <p:nvPr/>
        </p:nvSpPr>
        <p:spPr>
          <a:xfrm>
            <a:off x="7708392" y="2711196"/>
            <a:ext cx="237744" cy="237744"/>
          </a:xfrm>
          <a:prstGeom prst="rect">
            <a:avLst/>
          </a:prstGeom>
          <a:solidFill>
            <a:srgbClr val="3D9A97">
              <a:alpha val="22000"/>
            </a:srgbClr>
          </a:solidFill>
          <a:ln/>
        </p:spPr>
      </p:sp>
      <p:sp>
        <p:nvSpPr>
          <p:cNvPr id="72" name="Shape 70"/>
          <p:cNvSpPr/>
          <p:nvPr/>
        </p:nvSpPr>
        <p:spPr>
          <a:xfrm>
            <a:off x="8014716" y="2711196"/>
            <a:ext cx="237744" cy="237744"/>
          </a:xfrm>
          <a:prstGeom prst="rect">
            <a:avLst/>
          </a:prstGeom>
          <a:solidFill>
            <a:srgbClr val="3D9A97">
              <a:alpha val="22000"/>
            </a:srgbClr>
          </a:solidFill>
          <a:ln/>
        </p:spPr>
      </p:sp>
      <p:sp>
        <p:nvSpPr>
          <p:cNvPr id="73" name="Shape 71"/>
          <p:cNvSpPr/>
          <p:nvPr/>
        </p:nvSpPr>
        <p:spPr>
          <a:xfrm>
            <a:off x="8321040" y="2711196"/>
            <a:ext cx="237744" cy="237744"/>
          </a:xfrm>
          <a:prstGeom prst="rect">
            <a:avLst/>
          </a:prstGeom>
          <a:solidFill>
            <a:srgbClr val="3D9A97">
              <a:alpha val="22000"/>
            </a:srgbClr>
          </a:solidFill>
          <a:ln/>
        </p:spPr>
      </p:sp>
      <p:sp>
        <p:nvSpPr>
          <p:cNvPr id="74" name="Shape 72"/>
          <p:cNvSpPr/>
          <p:nvPr/>
        </p:nvSpPr>
        <p:spPr>
          <a:xfrm>
            <a:off x="5870448" y="3017520"/>
            <a:ext cx="237744" cy="237744"/>
          </a:xfrm>
          <a:prstGeom prst="rect">
            <a:avLst/>
          </a:prstGeom>
          <a:solidFill>
            <a:srgbClr val="3D9A97">
              <a:alpha val="22000"/>
            </a:srgbClr>
          </a:solidFill>
          <a:ln/>
        </p:spPr>
      </p:sp>
      <p:sp>
        <p:nvSpPr>
          <p:cNvPr id="75" name="Shape 73"/>
          <p:cNvSpPr/>
          <p:nvPr/>
        </p:nvSpPr>
        <p:spPr>
          <a:xfrm>
            <a:off x="6176772" y="3017520"/>
            <a:ext cx="237744" cy="237744"/>
          </a:xfrm>
          <a:prstGeom prst="rect">
            <a:avLst/>
          </a:prstGeom>
          <a:solidFill>
            <a:srgbClr val="3D9A97">
              <a:alpha val="22000"/>
            </a:srgbClr>
          </a:solidFill>
          <a:ln/>
        </p:spPr>
      </p:sp>
      <p:sp>
        <p:nvSpPr>
          <p:cNvPr id="76" name="Shape 74"/>
          <p:cNvSpPr/>
          <p:nvPr/>
        </p:nvSpPr>
        <p:spPr>
          <a:xfrm>
            <a:off x="6483096" y="3017520"/>
            <a:ext cx="237744" cy="237744"/>
          </a:xfrm>
          <a:prstGeom prst="rect">
            <a:avLst/>
          </a:prstGeom>
          <a:solidFill>
            <a:srgbClr val="3D9A97">
              <a:alpha val="22000"/>
            </a:srgbClr>
          </a:solidFill>
          <a:ln/>
        </p:spPr>
      </p:sp>
      <p:sp>
        <p:nvSpPr>
          <p:cNvPr id="77" name="Shape 75"/>
          <p:cNvSpPr/>
          <p:nvPr/>
        </p:nvSpPr>
        <p:spPr>
          <a:xfrm>
            <a:off x="6789420" y="3017520"/>
            <a:ext cx="237744" cy="237744"/>
          </a:xfrm>
          <a:prstGeom prst="rect">
            <a:avLst/>
          </a:prstGeom>
          <a:solidFill>
            <a:srgbClr val="3D9A97">
              <a:alpha val="22000"/>
            </a:srgbClr>
          </a:solidFill>
          <a:ln/>
        </p:spPr>
      </p:sp>
      <p:sp>
        <p:nvSpPr>
          <p:cNvPr id="78" name="Shape 76"/>
          <p:cNvSpPr/>
          <p:nvPr/>
        </p:nvSpPr>
        <p:spPr>
          <a:xfrm>
            <a:off x="7095744" y="3017520"/>
            <a:ext cx="237744" cy="237744"/>
          </a:xfrm>
          <a:prstGeom prst="rect">
            <a:avLst/>
          </a:prstGeom>
          <a:solidFill>
            <a:srgbClr val="3D9A97">
              <a:alpha val="22000"/>
            </a:srgbClr>
          </a:solidFill>
          <a:ln/>
        </p:spPr>
      </p:sp>
      <p:sp>
        <p:nvSpPr>
          <p:cNvPr id="79" name="Shape 77"/>
          <p:cNvSpPr/>
          <p:nvPr/>
        </p:nvSpPr>
        <p:spPr>
          <a:xfrm>
            <a:off x="7402068" y="3017520"/>
            <a:ext cx="237744" cy="237744"/>
          </a:xfrm>
          <a:prstGeom prst="rect">
            <a:avLst/>
          </a:prstGeom>
          <a:solidFill>
            <a:srgbClr val="3D9A97">
              <a:alpha val="22000"/>
            </a:srgbClr>
          </a:solidFill>
          <a:ln/>
        </p:spPr>
      </p:sp>
      <p:sp>
        <p:nvSpPr>
          <p:cNvPr id="80" name="Shape 78"/>
          <p:cNvSpPr/>
          <p:nvPr/>
        </p:nvSpPr>
        <p:spPr>
          <a:xfrm>
            <a:off x="7708392" y="3017520"/>
            <a:ext cx="237744" cy="237744"/>
          </a:xfrm>
          <a:prstGeom prst="rect">
            <a:avLst/>
          </a:prstGeom>
          <a:solidFill>
            <a:srgbClr val="3D9A97">
              <a:alpha val="22000"/>
            </a:srgbClr>
          </a:solidFill>
          <a:ln/>
        </p:spPr>
      </p:sp>
      <p:sp>
        <p:nvSpPr>
          <p:cNvPr id="81" name="Shape 79"/>
          <p:cNvSpPr/>
          <p:nvPr/>
        </p:nvSpPr>
        <p:spPr>
          <a:xfrm>
            <a:off x="8014716" y="3017520"/>
            <a:ext cx="237744" cy="237744"/>
          </a:xfrm>
          <a:prstGeom prst="rect">
            <a:avLst/>
          </a:prstGeom>
          <a:solidFill>
            <a:srgbClr val="3D9A97">
              <a:alpha val="22000"/>
            </a:srgbClr>
          </a:solidFill>
          <a:ln/>
        </p:spPr>
      </p:sp>
      <p:sp>
        <p:nvSpPr>
          <p:cNvPr id="82" name="Shape 80"/>
          <p:cNvSpPr/>
          <p:nvPr/>
        </p:nvSpPr>
        <p:spPr>
          <a:xfrm>
            <a:off x="8321040" y="3017520"/>
            <a:ext cx="237744" cy="237744"/>
          </a:xfrm>
          <a:prstGeom prst="rect">
            <a:avLst/>
          </a:prstGeom>
          <a:solidFill>
            <a:srgbClr val="3D9A97">
              <a:alpha val="22000"/>
            </a:srgbClr>
          </a:solidFill>
          <a:ln/>
        </p:spPr>
      </p:sp>
      <p:sp>
        <p:nvSpPr>
          <p:cNvPr id="83" name="Shape 81"/>
          <p:cNvSpPr/>
          <p:nvPr/>
        </p:nvSpPr>
        <p:spPr>
          <a:xfrm>
            <a:off x="5870448" y="3323844"/>
            <a:ext cx="237744" cy="237744"/>
          </a:xfrm>
          <a:prstGeom prst="rect">
            <a:avLst/>
          </a:prstGeom>
          <a:solidFill>
            <a:srgbClr val="3D9A97">
              <a:alpha val="22000"/>
            </a:srgbClr>
          </a:solidFill>
          <a:ln/>
        </p:spPr>
      </p:sp>
      <p:sp>
        <p:nvSpPr>
          <p:cNvPr id="84" name="Shape 82"/>
          <p:cNvSpPr/>
          <p:nvPr/>
        </p:nvSpPr>
        <p:spPr>
          <a:xfrm>
            <a:off x="6176772" y="3323844"/>
            <a:ext cx="237744" cy="237744"/>
          </a:xfrm>
          <a:prstGeom prst="rect">
            <a:avLst/>
          </a:prstGeom>
          <a:solidFill>
            <a:srgbClr val="3D9A97">
              <a:alpha val="22000"/>
            </a:srgbClr>
          </a:solidFill>
          <a:ln/>
        </p:spPr>
      </p:sp>
      <p:sp>
        <p:nvSpPr>
          <p:cNvPr id="85" name="Shape 83"/>
          <p:cNvSpPr/>
          <p:nvPr/>
        </p:nvSpPr>
        <p:spPr>
          <a:xfrm>
            <a:off x="6483096" y="3323844"/>
            <a:ext cx="237744" cy="237744"/>
          </a:xfrm>
          <a:prstGeom prst="rect">
            <a:avLst/>
          </a:prstGeom>
          <a:solidFill>
            <a:srgbClr val="3D9A97">
              <a:alpha val="22000"/>
            </a:srgbClr>
          </a:solidFill>
          <a:ln/>
        </p:spPr>
      </p:sp>
      <p:sp>
        <p:nvSpPr>
          <p:cNvPr id="86" name="Shape 84"/>
          <p:cNvSpPr/>
          <p:nvPr/>
        </p:nvSpPr>
        <p:spPr>
          <a:xfrm>
            <a:off x="6789420" y="3323844"/>
            <a:ext cx="237744" cy="237744"/>
          </a:xfrm>
          <a:prstGeom prst="rect">
            <a:avLst/>
          </a:prstGeom>
          <a:solidFill>
            <a:srgbClr val="3D9A97">
              <a:alpha val="22000"/>
            </a:srgbClr>
          </a:solidFill>
          <a:ln/>
        </p:spPr>
      </p:sp>
      <p:sp>
        <p:nvSpPr>
          <p:cNvPr id="87" name="Shape 85"/>
          <p:cNvSpPr/>
          <p:nvPr/>
        </p:nvSpPr>
        <p:spPr>
          <a:xfrm>
            <a:off x="7095744" y="3323844"/>
            <a:ext cx="237744" cy="237744"/>
          </a:xfrm>
          <a:prstGeom prst="rect">
            <a:avLst/>
          </a:prstGeom>
          <a:solidFill>
            <a:srgbClr val="B85416"/>
          </a:solidFill>
          <a:ln/>
        </p:spPr>
      </p:sp>
      <p:sp>
        <p:nvSpPr>
          <p:cNvPr id="88" name="Shape 86"/>
          <p:cNvSpPr/>
          <p:nvPr/>
        </p:nvSpPr>
        <p:spPr>
          <a:xfrm>
            <a:off x="7402068" y="3323844"/>
            <a:ext cx="237744" cy="237744"/>
          </a:xfrm>
          <a:prstGeom prst="rect">
            <a:avLst/>
          </a:prstGeom>
          <a:solidFill>
            <a:srgbClr val="3D9A97">
              <a:alpha val="22000"/>
            </a:srgbClr>
          </a:solidFill>
          <a:ln/>
        </p:spPr>
      </p:sp>
      <p:sp>
        <p:nvSpPr>
          <p:cNvPr id="89" name="Shape 87"/>
          <p:cNvSpPr/>
          <p:nvPr/>
        </p:nvSpPr>
        <p:spPr>
          <a:xfrm>
            <a:off x="7708392" y="3323844"/>
            <a:ext cx="237744" cy="237744"/>
          </a:xfrm>
          <a:prstGeom prst="rect">
            <a:avLst/>
          </a:prstGeom>
          <a:solidFill>
            <a:srgbClr val="3D9A97">
              <a:alpha val="22000"/>
            </a:srgbClr>
          </a:solidFill>
          <a:ln/>
        </p:spPr>
      </p:sp>
      <p:sp>
        <p:nvSpPr>
          <p:cNvPr id="90" name="Shape 88"/>
          <p:cNvSpPr/>
          <p:nvPr/>
        </p:nvSpPr>
        <p:spPr>
          <a:xfrm>
            <a:off x="8014716" y="3323844"/>
            <a:ext cx="237744" cy="237744"/>
          </a:xfrm>
          <a:prstGeom prst="rect">
            <a:avLst/>
          </a:prstGeom>
          <a:solidFill>
            <a:srgbClr val="3D9A97">
              <a:alpha val="22000"/>
            </a:srgbClr>
          </a:solidFill>
          <a:ln/>
        </p:spPr>
      </p:sp>
      <p:sp>
        <p:nvSpPr>
          <p:cNvPr id="91" name="Shape 89"/>
          <p:cNvSpPr/>
          <p:nvPr/>
        </p:nvSpPr>
        <p:spPr>
          <a:xfrm>
            <a:off x="8321040" y="3323844"/>
            <a:ext cx="237744" cy="237744"/>
          </a:xfrm>
          <a:prstGeom prst="rect">
            <a:avLst/>
          </a:prstGeom>
          <a:solidFill>
            <a:srgbClr val="3D9A97">
              <a:alpha val="22000"/>
            </a:srgbClr>
          </a:solidFill>
          <a:ln/>
        </p:spPr>
      </p:sp>
      <p:sp>
        <p:nvSpPr>
          <p:cNvPr id="92" name="Shape 90"/>
          <p:cNvSpPr/>
          <p:nvPr/>
        </p:nvSpPr>
        <p:spPr>
          <a:xfrm>
            <a:off x="5870448" y="3630168"/>
            <a:ext cx="237744" cy="237744"/>
          </a:xfrm>
          <a:prstGeom prst="rect">
            <a:avLst/>
          </a:prstGeom>
          <a:solidFill>
            <a:srgbClr val="3D9A97">
              <a:alpha val="22000"/>
            </a:srgbClr>
          </a:solidFill>
          <a:ln/>
        </p:spPr>
      </p:sp>
      <p:sp>
        <p:nvSpPr>
          <p:cNvPr id="93" name="Shape 91"/>
          <p:cNvSpPr/>
          <p:nvPr/>
        </p:nvSpPr>
        <p:spPr>
          <a:xfrm>
            <a:off x="6176772" y="3630168"/>
            <a:ext cx="237744" cy="237744"/>
          </a:xfrm>
          <a:prstGeom prst="rect">
            <a:avLst/>
          </a:prstGeom>
          <a:solidFill>
            <a:srgbClr val="3D9A97">
              <a:alpha val="22000"/>
            </a:srgbClr>
          </a:solidFill>
          <a:ln/>
        </p:spPr>
      </p:sp>
      <p:sp>
        <p:nvSpPr>
          <p:cNvPr id="94" name="Shape 92"/>
          <p:cNvSpPr/>
          <p:nvPr/>
        </p:nvSpPr>
        <p:spPr>
          <a:xfrm>
            <a:off x="6483096" y="3630168"/>
            <a:ext cx="237744" cy="237744"/>
          </a:xfrm>
          <a:prstGeom prst="rect">
            <a:avLst/>
          </a:prstGeom>
          <a:solidFill>
            <a:srgbClr val="3D9A97">
              <a:alpha val="22000"/>
            </a:srgbClr>
          </a:solidFill>
          <a:ln/>
        </p:spPr>
      </p:sp>
      <p:sp>
        <p:nvSpPr>
          <p:cNvPr id="95" name="Shape 93"/>
          <p:cNvSpPr/>
          <p:nvPr/>
        </p:nvSpPr>
        <p:spPr>
          <a:xfrm>
            <a:off x="6789420" y="3630168"/>
            <a:ext cx="237744" cy="237744"/>
          </a:xfrm>
          <a:prstGeom prst="rect">
            <a:avLst/>
          </a:prstGeom>
          <a:solidFill>
            <a:srgbClr val="3D9A97">
              <a:alpha val="22000"/>
            </a:srgbClr>
          </a:solidFill>
          <a:ln/>
        </p:spPr>
      </p:sp>
      <p:sp>
        <p:nvSpPr>
          <p:cNvPr id="96" name="Shape 94"/>
          <p:cNvSpPr/>
          <p:nvPr/>
        </p:nvSpPr>
        <p:spPr>
          <a:xfrm>
            <a:off x="7095744" y="3630168"/>
            <a:ext cx="237744" cy="237744"/>
          </a:xfrm>
          <a:prstGeom prst="rect">
            <a:avLst/>
          </a:prstGeom>
          <a:solidFill>
            <a:srgbClr val="3D9A97">
              <a:alpha val="22000"/>
            </a:srgbClr>
          </a:solidFill>
          <a:ln/>
        </p:spPr>
      </p:sp>
      <p:sp>
        <p:nvSpPr>
          <p:cNvPr id="97" name="Shape 95"/>
          <p:cNvSpPr/>
          <p:nvPr/>
        </p:nvSpPr>
        <p:spPr>
          <a:xfrm>
            <a:off x="7402068" y="3630168"/>
            <a:ext cx="237744" cy="237744"/>
          </a:xfrm>
          <a:prstGeom prst="rect">
            <a:avLst/>
          </a:prstGeom>
          <a:solidFill>
            <a:srgbClr val="3D9A97">
              <a:alpha val="22000"/>
            </a:srgbClr>
          </a:solidFill>
          <a:ln/>
        </p:spPr>
      </p:sp>
      <p:sp>
        <p:nvSpPr>
          <p:cNvPr id="98" name="Shape 96"/>
          <p:cNvSpPr/>
          <p:nvPr/>
        </p:nvSpPr>
        <p:spPr>
          <a:xfrm>
            <a:off x="7708392" y="3630168"/>
            <a:ext cx="237744" cy="237744"/>
          </a:xfrm>
          <a:prstGeom prst="rect">
            <a:avLst/>
          </a:prstGeom>
          <a:solidFill>
            <a:srgbClr val="3D9A97">
              <a:alpha val="22000"/>
            </a:srgbClr>
          </a:solidFill>
          <a:ln/>
        </p:spPr>
      </p:sp>
      <p:sp>
        <p:nvSpPr>
          <p:cNvPr id="99" name="Shape 97"/>
          <p:cNvSpPr/>
          <p:nvPr/>
        </p:nvSpPr>
        <p:spPr>
          <a:xfrm>
            <a:off x="8014716" y="3630168"/>
            <a:ext cx="237744" cy="237744"/>
          </a:xfrm>
          <a:prstGeom prst="rect">
            <a:avLst/>
          </a:prstGeom>
          <a:solidFill>
            <a:srgbClr val="B85416"/>
          </a:solidFill>
          <a:ln/>
        </p:spPr>
      </p:sp>
      <p:sp>
        <p:nvSpPr>
          <p:cNvPr id="100" name="Shape 98"/>
          <p:cNvSpPr/>
          <p:nvPr/>
        </p:nvSpPr>
        <p:spPr>
          <a:xfrm>
            <a:off x="8321040" y="3630168"/>
            <a:ext cx="237744" cy="237744"/>
          </a:xfrm>
          <a:prstGeom prst="rect">
            <a:avLst/>
          </a:prstGeom>
          <a:solidFill>
            <a:srgbClr val="3D9A97">
              <a:alpha val="22000"/>
            </a:srgbClr>
          </a:solidFill>
          <a:ln/>
        </p:spPr>
      </p:sp>
      <p:sp>
        <p:nvSpPr>
          <p:cNvPr id="101" name="Shape 99"/>
          <p:cNvSpPr/>
          <p:nvPr/>
        </p:nvSpPr>
        <p:spPr>
          <a:xfrm>
            <a:off x="5870448" y="3936492"/>
            <a:ext cx="237744" cy="237744"/>
          </a:xfrm>
          <a:prstGeom prst="rect">
            <a:avLst/>
          </a:prstGeom>
          <a:solidFill>
            <a:srgbClr val="3D9A97">
              <a:alpha val="22000"/>
            </a:srgbClr>
          </a:solidFill>
          <a:ln/>
        </p:spPr>
      </p:sp>
      <p:sp>
        <p:nvSpPr>
          <p:cNvPr id="102" name="Shape 100"/>
          <p:cNvSpPr/>
          <p:nvPr/>
        </p:nvSpPr>
        <p:spPr>
          <a:xfrm>
            <a:off x="6176772" y="3936492"/>
            <a:ext cx="237744" cy="237744"/>
          </a:xfrm>
          <a:prstGeom prst="rect">
            <a:avLst/>
          </a:prstGeom>
          <a:solidFill>
            <a:srgbClr val="3D9A97">
              <a:alpha val="22000"/>
            </a:srgbClr>
          </a:solidFill>
          <a:ln/>
        </p:spPr>
      </p:sp>
      <p:sp>
        <p:nvSpPr>
          <p:cNvPr id="103" name="Shape 101"/>
          <p:cNvSpPr/>
          <p:nvPr/>
        </p:nvSpPr>
        <p:spPr>
          <a:xfrm>
            <a:off x="6483096" y="3936492"/>
            <a:ext cx="237744" cy="237744"/>
          </a:xfrm>
          <a:prstGeom prst="rect">
            <a:avLst/>
          </a:prstGeom>
          <a:solidFill>
            <a:srgbClr val="3D9A97">
              <a:alpha val="22000"/>
            </a:srgbClr>
          </a:solidFill>
          <a:ln/>
        </p:spPr>
      </p:sp>
      <p:sp>
        <p:nvSpPr>
          <p:cNvPr id="104" name="Shape 102"/>
          <p:cNvSpPr/>
          <p:nvPr/>
        </p:nvSpPr>
        <p:spPr>
          <a:xfrm>
            <a:off x="6789420" y="3936492"/>
            <a:ext cx="237744" cy="237744"/>
          </a:xfrm>
          <a:prstGeom prst="rect">
            <a:avLst/>
          </a:prstGeom>
          <a:solidFill>
            <a:srgbClr val="3D9A97">
              <a:alpha val="22000"/>
            </a:srgbClr>
          </a:solidFill>
          <a:ln/>
        </p:spPr>
      </p:sp>
      <p:sp>
        <p:nvSpPr>
          <p:cNvPr id="105" name="Shape 103"/>
          <p:cNvSpPr/>
          <p:nvPr/>
        </p:nvSpPr>
        <p:spPr>
          <a:xfrm>
            <a:off x="7095744" y="3936492"/>
            <a:ext cx="237744" cy="237744"/>
          </a:xfrm>
          <a:prstGeom prst="rect">
            <a:avLst/>
          </a:prstGeom>
          <a:solidFill>
            <a:srgbClr val="3D9A97">
              <a:alpha val="22000"/>
            </a:srgbClr>
          </a:solidFill>
          <a:ln/>
        </p:spPr>
      </p:sp>
      <p:sp>
        <p:nvSpPr>
          <p:cNvPr id="106" name="Shape 104"/>
          <p:cNvSpPr/>
          <p:nvPr/>
        </p:nvSpPr>
        <p:spPr>
          <a:xfrm>
            <a:off x="7402068" y="3936492"/>
            <a:ext cx="237744" cy="237744"/>
          </a:xfrm>
          <a:prstGeom prst="rect">
            <a:avLst/>
          </a:prstGeom>
          <a:solidFill>
            <a:srgbClr val="3D9A97">
              <a:alpha val="22000"/>
            </a:srgbClr>
          </a:solidFill>
          <a:ln/>
        </p:spPr>
      </p:sp>
      <p:sp>
        <p:nvSpPr>
          <p:cNvPr id="107" name="Shape 105"/>
          <p:cNvSpPr/>
          <p:nvPr/>
        </p:nvSpPr>
        <p:spPr>
          <a:xfrm>
            <a:off x="7708392" y="3936492"/>
            <a:ext cx="237744" cy="237744"/>
          </a:xfrm>
          <a:prstGeom prst="rect">
            <a:avLst/>
          </a:prstGeom>
          <a:solidFill>
            <a:srgbClr val="3D9A97">
              <a:alpha val="22000"/>
            </a:srgbClr>
          </a:solidFill>
          <a:ln/>
        </p:spPr>
      </p:sp>
      <p:sp>
        <p:nvSpPr>
          <p:cNvPr id="108" name="Shape 106"/>
          <p:cNvSpPr/>
          <p:nvPr/>
        </p:nvSpPr>
        <p:spPr>
          <a:xfrm>
            <a:off x="8014716" y="3936492"/>
            <a:ext cx="237744" cy="237744"/>
          </a:xfrm>
          <a:prstGeom prst="rect">
            <a:avLst/>
          </a:prstGeom>
          <a:solidFill>
            <a:srgbClr val="3D9A97">
              <a:alpha val="22000"/>
            </a:srgbClr>
          </a:solidFill>
          <a:ln/>
        </p:spPr>
      </p:sp>
      <p:sp>
        <p:nvSpPr>
          <p:cNvPr id="109" name="Shape 107"/>
          <p:cNvSpPr/>
          <p:nvPr/>
        </p:nvSpPr>
        <p:spPr>
          <a:xfrm>
            <a:off x="8321040" y="3936492"/>
            <a:ext cx="237744" cy="237744"/>
          </a:xfrm>
          <a:prstGeom prst="rect">
            <a:avLst/>
          </a:prstGeom>
          <a:solidFill>
            <a:srgbClr val="3D9A97">
              <a:alpha val="22000"/>
            </a:srgbClr>
          </a:solidFill>
          <a:ln/>
        </p:spPr>
      </p:sp>
      <p:sp>
        <p:nvSpPr>
          <p:cNvPr id="110" name="Text 108"/>
          <p:cNvSpPr/>
          <p:nvPr/>
        </p:nvSpPr>
        <p:spPr>
          <a:xfrm>
            <a:off x="594360" y="731520"/>
            <a:ext cx="5120640" cy="256032"/>
          </a:xfrm>
          <a:prstGeom prst="rect">
            <a:avLst/>
          </a:prstGeom>
          <a:noFill/>
          <a:ln/>
        </p:spPr>
        <p:txBody>
          <a:bodyPr wrap="square" lIns="0" tIns="0" rIns="0" bIns="0" rtlCol="0" anchor="t"/>
          <a:lstStyle/>
          <a:p>
            <a:pPr indent="0" marL="0">
              <a:buNone/>
            </a:pPr>
            <a:r>
              <a:rPr lang="en-US" sz="1100" b="1" spc="300" kern="0" dirty="0">
                <a:solidFill>
                  <a:srgbClr val="3D9A97"/>
                </a:solidFill>
                <a:latin typeface="Calibri" pitchFamily="34" charset="0"/>
                <a:ea typeface="Calibri" pitchFamily="34" charset="-122"/>
                <a:cs typeface="Calibri" pitchFamily="34" charset="-120"/>
              </a:rPr>
              <a:t>CONTACT</a:t>
            </a:r>
            <a:endParaRPr lang="en-US" sz="1100" dirty="0"/>
          </a:p>
        </p:txBody>
      </p:sp>
      <p:sp>
        <p:nvSpPr>
          <p:cNvPr id="111" name="Text 109"/>
          <p:cNvSpPr/>
          <p:nvPr/>
        </p:nvSpPr>
        <p:spPr>
          <a:xfrm>
            <a:off x="594360" y="1115568"/>
            <a:ext cx="5166360" cy="2057400"/>
          </a:xfrm>
          <a:prstGeom prst="rect">
            <a:avLst/>
          </a:prstGeom>
          <a:noFill/>
          <a:ln/>
        </p:spPr>
        <p:txBody>
          <a:bodyPr wrap="square" lIns="0" tIns="0" rIns="0" bIns="0" rtlCol="0" anchor="t"/>
          <a:lstStyle/>
          <a:p>
            <a:pPr indent="0" marL="0">
              <a:lnSpc>
                <a:spcPct val="112000"/>
              </a:lnSpc>
              <a:buNone/>
            </a:pPr>
            <a:r>
              <a:rPr lang="en-US" sz="2400" b="1" dirty="0">
                <a:solidFill>
                  <a:srgbClr val="FFFFFF"/>
                </a:solidFill>
                <a:latin typeface="Georgia" pitchFamily="34" charset="0"/>
                <a:ea typeface="Georgia" pitchFamily="34" charset="-122"/>
                <a:cs typeface="Georgia" pitchFamily="34" charset="-120"/>
              </a:rPr>
              <a:t>Bengaluru is going to vote.</a:t>
            </a:r>
            <a:endParaRPr lang="en-US" sz="2400" dirty="0"/>
          </a:p>
          <a:p>
            <a:pPr indent="0" marL="0">
              <a:lnSpc>
                <a:spcPct val="112000"/>
              </a:lnSpc>
              <a:buNone/>
            </a:pPr>
            <a:r>
              <a:rPr lang="en-US" sz="2400" b="1" dirty="0">
                <a:solidFill>
                  <a:srgbClr val="FFFFFF"/>
                </a:solidFill>
                <a:latin typeface="Georgia" pitchFamily="34" charset="0"/>
                <a:ea typeface="Georgia" pitchFamily="34" charset="-122"/>
                <a:cs typeface="Georgia" pitchFamily="34" charset="-120"/>
              </a:rPr>
              <a:t>The question is what comes next.</a:t>
            </a:r>
            <a:endParaRPr lang="en-US" sz="2400" dirty="0"/>
          </a:p>
        </p:txBody>
      </p:sp>
      <p:sp>
        <p:nvSpPr>
          <p:cNvPr id="112" name="Text 110"/>
          <p:cNvSpPr/>
          <p:nvPr/>
        </p:nvSpPr>
        <p:spPr>
          <a:xfrm>
            <a:off x="594360" y="3154680"/>
            <a:ext cx="5120640" cy="1371600"/>
          </a:xfrm>
          <a:prstGeom prst="rect">
            <a:avLst/>
          </a:prstGeom>
          <a:noFill/>
          <a:ln/>
        </p:spPr>
        <p:txBody>
          <a:bodyPr wrap="square" lIns="0" tIns="0" rIns="0" bIns="0" rtlCol="0" anchor="t"/>
          <a:lstStyle/>
          <a:p>
            <a:pPr indent="0" marL="0">
              <a:lnSpc>
                <a:spcPct val="128000"/>
              </a:lnSpc>
              <a:buNone/>
            </a:pPr>
            <a:r>
              <a:rPr lang="en-US" sz="1300" dirty="0">
                <a:solidFill>
                  <a:srgbClr val="C3D0DA"/>
                </a:solidFill>
                <a:latin typeface="Calibri" pitchFamily="34" charset="0"/>
                <a:ea typeface="Calibri" pitchFamily="34" charset="-122"/>
                <a:cs typeface="Calibri" pitchFamily="34" charset="-120"/>
              </a:rPr>
              <a:t>Meera K — Co-founder and Managing Trustee, Oorvani Foundation</a:t>
            </a:r>
            <a:endParaRPr lang="en-US" sz="1300" dirty="0"/>
          </a:p>
          <a:p>
            <a:pPr indent="0" marL="0">
              <a:lnSpc>
                <a:spcPct val="128000"/>
              </a:lnSpc>
              <a:buNone/>
            </a:pPr>
            <a:endParaRPr lang="en-US" sz="1300" dirty="0"/>
          </a:p>
          <a:p>
            <a:pPr indent="0" marL="0">
              <a:lnSpc>
                <a:spcPct val="128000"/>
              </a:lnSpc>
              <a:buNone/>
            </a:pPr>
            <a:r>
              <a:rPr lang="en-US" sz="1300" dirty="0">
                <a:solidFill>
                  <a:srgbClr val="C3D0DA"/>
                </a:solidFill>
                <a:latin typeface="Calibri" pitchFamily="34" charset="0"/>
                <a:ea typeface="Calibri" pitchFamily="34" charset="-122"/>
                <a:cs typeface="Calibri" pitchFamily="34" charset="-120"/>
              </a:rPr>
              <a:t>oorvani.org · citizenmatters.in · opencity.in</a:t>
            </a:r>
            <a:endParaRPr lang="en-US" sz="1300" dirty="0"/>
          </a:p>
        </p:txBody>
      </p:sp>
      <p:sp>
        <p:nvSpPr>
          <p:cNvPr id="113" name="Text 111"/>
          <p:cNvSpPr/>
          <p:nvPr/>
        </p:nvSpPr>
        <p:spPr>
          <a:xfrm>
            <a:off x="594360" y="4526280"/>
            <a:ext cx="5120640" cy="274320"/>
          </a:xfrm>
          <a:prstGeom prst="rect">
            <a:avLst/>
          </a:prstGeom>
          <a:noFill/>
          <a:ln/>
        </p:spPr>
        <p:txBody>
          <a:bodyPr wrap="square" lIns="0" tIns="0" rIns="0" bIns="0" rtlCol="0" anchor="t"/>
          <a:lstStyle/>
          <a:p>
            <a:pPr indent="0" marL="0">
              <a:buNone/>
            </a:pPr>
            <a:r>
              <a:rPr lang="en-US" sz="950" dirty="0">
                <a:solidFill>
                  <a:srgbClr val="8FA3B3"/>
                </a:solidFill>
                <a:latin typeface="Calibri" pitchFamily="34" charset="0"/>
                <a:ea typeface="Calibri" pitchFamily="34" charset="-122"/>
                <a:cs typeface="Calibri" pitchFamily="34" charset="-120"/>
              </a:rPr>
              <a:t>Charitable trust BNG-BMH244/2013-14 · 12A and 80G current · CSR-1 registered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APPENDIX</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Governance and compliance</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7991856" cy="914400"/>
        </p:xfrm>
        <a:graphic>
          <a:graphicData uri="http://schemas.openxmlformats.org/drawingml/2006/table">
            <a:tbl>
              <a:tblPr/>
              <a:tblGrid>
                <a:gridCol w="2194560"/>
                <a:gridCol w="5797296"/>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Item</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Detail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Legal form</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Charitable trust, registered 6 August 2013 — BNG-BMH244/2013-14</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Tax exemption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12A current (AAATO4080EE20214); 80G current (AAATO4080EF20212), renewed 23 September 2021</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CSR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CSR-1 registered — Indian corporate CSR funding is available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Foreign contributions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No FCRA. International funders are out of scope for this raise.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Auditor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P N R &amp; Co., Chartered Accountants, Firm Regn. 002495S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FY 2024-25</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Income ₹1,05,35,516 · Expenditure ₹1,06,58,444</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Disclosure record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Twelve consecutive annual reports published, FY 2013-14 to FY 2024-25</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Trustees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Meera K, Meenakshi Ramesh, Ashwin Mahesh</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B6E6E"/>
          </a:solidFill>
          <a:ln/>
        </p:spPr>
      </p:sp>
      <p:sp>
        <p:nvSpPr>
          <p:cNvPr id="3" name="Text 1"/>
          <p:cNvSpPr/>
          <p:nvPr/>
        </p:nvSpPr>
        <p:spPr>
          <a:xfrm>
            <a:off x="566928" y="310896"/>
            <a:ext cx="7991856" cy="237744"/>
          </a:xfrm>
          <a:prstGeom prst="rect">
            <a:avLst/>
          </a:prstGeom>
          <a:noFill/>
          <a:ln/>
        </p:spPr>
        <p:txBody>
          <a:bodyPr wrap="square" lIns="0" tIns="0" rIns="0" bIns="0" rtlCol="0" anchor="t"/>
          <a:lstStyle/>
          <a:p>
            <a:pPr indent="0" marL="0">
              <a:buNone/>
            </a:pPr>
            <a:r>
              <a:rPr lang="en-US" sz="1000" b="1" spc="300" kern="0" dirty="0">
                <a:solidFill>
                  <a:srgbClr val="0B6E6E"/>
                </a:solidFill>
                <a:latin typeface="Calibri" pitchFamily="34" charset="0"/>
                <a:ea typeface="Calibri" pitchFamily="34" charset="-122"/>
                <a:cs typeface="Calibri" pitchFamily="34" charset="-120"/>
              </a:rPr>
              <a:t>APPENDIX</a:t>
            </a:r>
            <a:endParaRPr lang="en-US" sz="1000" dirty="0"/>
          </a:p>
        </p:txBody>
      </p:sp>
      <p:sp>
        <p:nvSpPr>
          <p:cNvPr id="4" name="Text 2"/>
          <p:cNvSpPr/>
          <p:nvPr/>
        </p:nvSpPr>
        <p:spPr>
          <a:xfrm>
            <a:off x="566928" y="585216"/>
            <a:ext cx="7991856" cy="768096"/>
          </a:xfrm>
          <a:prstGeom prst="rect">
            <a:avLst/>
          </a:prstGeom>
          <a:noFill/>
          <a:ln/>
        </p:spPr>
        <p:txBody>
          <a:bodyPr wrap="square" lIns="0" tIns="0" rIns="0" bIns="0" rtlCol="0" anchor="t"/>
          <a:lstStyle/>
          <a:p>
            <a:pPr indent="0" marL="0">
              <a:lnSpc>
                <a:spcPct val="106000"/>
              </a:lnSpc>
              <a:buNone/>
            </a:pPr>
            <a:r>
              <a:rPr lang="en-US" sz="2600" b="1" dirty="0">
                <a:solidFill>
                  <a:srgbClr val="0E1F2B"/>
                </a:solidFill>
                <a:latin typeface="Georgia" pitchFamily="34" charset="0"/>
                <a:ea typeface="Georgia" pitchFamily="34" charset="-122"/>
                <a:cs typeface="Georgia" pitchFamily="34" charset="-120"/>
              </a:rPr>
              <a:t>The comms programme</a:t>
            </a:r>
            <a:endParaRPr lang="en-US" sz="2600" dirty="0"/>
          </a:p>
        </p:txBody>
      </p:sp>
      <p:sp>
        <p:nvSpPr>
          <p:cNvPr id="5" name="Text 3"/>
          <p:cNvSpPr/>
          <p:nvPr/>
        </p:nvSpPr>
        <p:spPr>
          <a:xfrm>
            <a:off x="8229600" y="4626864"/>
            <a:ext cx="329184" cy="219456"/>
          </a:xfrm>
          <a:prstGeom prst="rect">
            <a:avLst/>
          </a:prstGeom>
          <a:noFill/>
          <a:ln/>
        </p:spPr>
        <p:txBody>
          <a:bodyPr wrap="square" lIns="0" tIns="0" rIns="0" bIns="0" rtlCol="0" anchor="t"/>
          <a:lstStyle/>
          <a:p>
            <a:pPr algn="r" indent="0" marL="0">
              <a:buNone/>
            </a:pPr>
            <a:r>
              <a:rPr lang="en-US" sz="900" dirty="0">
                <a:solidFill>
                  <a:srgbClr val="4E5F6D"/>
                </a:solidFill>
                <a:latin typeface="Calibri" pitchFamily="34" charset="0"/>
                <a:ea typeface="Calibri" pitchFamily="34" charset="-122"/>
                <a:cs typeface="Calibri" pitchFamily="34" charset="-120"/>
              </a:rPr>
              <a:t>23</a:t>
            </a:r>
            <a:endParaRPr lang="en-US" sz="900" dirty="0"/>
          </a:p>
        </p:txBody>
      </p:sp>
      <p:sp>
        <p:nvSpPr>
          <p:cNvPr id="6" name="Text 4"/>
          <p:cNvSpPr/>
          <p:nvPr/>
        </p:nvSpPr>
        <p:spPr>
          <a:xfrm>
            <a:off x="566928" y="1426464"/>
            <a:ext cx="7991856" cy="274320"/>
          </a:xfrm>
          <a:prstGeom prst="rect">
            <a:avLst/>
          </a:prstGeom>
          <a:noFill/>
          <a:ln/>
        </p:spPr>
        <p:txBody>
          <a:bodyPr wrap="square" lIns="0" tIns="0" rIns="0" bIns="0" rtlCol="0" anchor="t"/>
          <a:lstStyle/>
          <a:p>
            <a:pPr indent="0" marL="0">
              <a:lnSpc>
                <a:spcPct val="118000"/>
              </a:lnSpc>
              <a:buNone/>
            </a:pPr>
            <a:r>
              <a:rPr lang="en-US" sz="1100" dirty="0">
                <a:solidFill>
                  <a:srgbClr val="173243"/>
                </a:solidFill>
                <a:latin typeface="Calibri" pitchFamily="34" charset="0"/>
                <a:ea typeface="Calibri" pitchFamily="34" charset="-122"/>
                <a:cs typeface="Calibri" pitchFamily="34" charset="-120"/>
              </a:rPr>
              <a:t>Seven ward-scoped sends across the campaign, in the citizen's saved language.</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792224"/>
          <a:ext cx="7991856" cy="914400"/>
        </p:xfrm>
        <a:graphic>
          <a:graphicData uri="http://schemas.openxmlformats.org/drawingml/2006/table">
            <a:tbl>
              <a:tblPr/>
              <a:tblGrid>
                <a:gridCol w="1920240"/>
                <a:gridCol w="6071616"/>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When</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Message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0E1F2B"/>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On register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Confirms ward, language, and what they will receive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Roll close −7d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Last date to join the electoral roll — the highest-value message we send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Scrutiny complete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Candidates have filed in your ward (provisional)</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E−3w</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Vote on your ward's top three issues</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E−2w</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Final candidate list; report cards complete</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E−1w</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Your ward's top issues; compare candidates; booth locator</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E−3d</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c>
                  <a:txBody>
                    <a:bodyPr/>
                    <a:lstStyle/>
                    <a:p>
                      <a:pPr indent="0" marL="0">
                        <a:buNone/>
                      </a:pPr>
                      <a:r>
                        <a:rPr lang="en-US" sz="1050" dirty="0">
                          <a:solidFill>
                            <a:srgbClr val="173243"/>
                          </a:solidFill>
                          <a:latin typeface="Calibri" pitchFamily="34" charset="0"/>
                          <a:ea typeface="Calibri" pitchFamily="34" charset="-122"/>
                          <a:cs typeface="Calibri" pitchFamily="34" charset="-120"/>
                        </a:rPr>
                        <a:t>Booth, timings, ID to carry — then the campaign goes dark</a:t>
                      </a:r>
                      <a:endParaRPr lang="en-US" sz="1050" dirty="0">
                        <a:latin typeface="Calibri" charset="0"/>
                        <a:ea typeface="Calibri" charset="0"/>
                        <a:cs typeface="Calibri" charset="0"/>
                      </a:endParaRPr>
                    </a:p>
                  </a:txBody>
                  <a:tcPr marL="91440" marR="91440" marT="45720" marB="45720" anchor="ctr">
                    <a:lnL w="6350" cap="flat" cmpd="sng" algn="ctr">
                      <a:solidFill>
                        <a:srgbClr val="D9D3C8"/>
                      </a:solidFill>
                      <a:prstDash val="solid"/>
                      <a:round/>
                      <a:headEnd type="none" w="med" len="med"/>
                      <a:tailEnd type="none" w="med" len="med"/>
                    </a:lnL>
                    <a:lnR w="6350" cap="flat" cmpd="sng" algn="ctr">
                      <a:solidFill>
                        <a:srgbClr val="D9D3C8"/>
                      </a:solidFill>
                      <a:prstDash val="solid"/>
                      <a:round/>
                      <a:headEnd type="none" w="med" len="med"/>
                      <a:tailEnd type="none" w="med" len="med"/>
                    </a:lnR>
                    <a:lnT w="6350" cap="flat" cmpd="sng" algn="ctr">
                      <a:solidFill>
                        <a:srgbClr val="D9D3C8"/>
                      </a:solidFill>
                      <a:prstDash val="solid"/>
                      <a:round/>
                      <a:headEnd type="none" w="med" len="med"/>
                      <a:tailEnd type="none" w="med" len="med"/>
                    </a:lnT>
                    <a:lnB w="6350" cap="flat" cmpd="sng" algn="ctr">
                      <a:solidFill>
                        <a:srgbClr val="D9D3C8"/>
                      </a:solidFill>
                      <a:prstDash val="solid"/>
                      <a:round/>
                      <a:headEnd type="none" w="med" len="med"/>
                      <a:tailEnd type="none" w="med" len="med"/>
                    </a:lnB>
                    <a:solidFill>
                      <a:srgbClr val="FFFFFF"/>
                    </a:solidFill>
                  </a:tcPr>
                </a:tc>
              </a:tr>
            </a:tbl>
          </a:graphicData>
        </a:graphic>
      </p:graphicFrame>
      <p:sp>
        <p:nvSpPr>
          <p:cNvPr id="8" name="Text 5"/>
          <p:cNvSpPr/>
          <p:nvPr/>
        </p:nvSpPr>
        <p:spPr>
          <a:xfrm>
            <a:off x="566928" y="4370832"/>
            <a:ext cx="7498080" cy="365760"/>
          </a:xfrm>
          <a:prstGeom prst="rect">
            <a:avLst/>
          </a:prstGeom>
          <a:noFill/>
          <a:ln/>
        </p:spPr>
        <p:txBody>
          <a:bodyPr wrap="square" lIns="0" tIns="0" rIns="0" bIns="0" rtlCol="0" anchor="t"/>
          <a:lstStyle/>
          <a:p>
            <a:pPr indent="0" marL="0">
              <a:lnSpc>
                <a:spcPct val="115000"/>
              </a:lnSpc>
              <a:buNone/>
            </a:pPr>
            <a:r>
              <a:rPr lang="en-US" sz="1150" b="1" dirty="0">
                <a:solidFill>
                  <a:srgbClr val="B85416"/>
                </a:solidFill>
                <a:latin typeface="Calibri" pitchFamily="34" charset="0"/>
                <a:ea typeface="Calibri" pitchFamily="34" charset="-122"/>
                <a:cs typeface="Calibri" pitchFamily="34" charset="-120"/>
              </a:rPr>
              <a:t>Missing the electoral roll deadline is the one failure in this funnel that cannot be undone.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Bengaluru votes. Then what?</dc:title>
  <dc:subject>PptxGenJS Presentation</dc:subject>
  <dc:creator>Oorvani Foundation</dc:creator>
  <cp:lastModifiedBy>Oorvani Foundation</cp:lastModifiedBy>
  <cp:revision>1</cp:revision>
  <dcterms:created xsi:type="dcterms:W3CDTF">2026-07-24T08:19:51Z</dcterms:created>
  <dcterms:modified xsi:type="dcterms:W3CDTF">2026-07-24T08:19:51Z</dcterms:modified>
</cp:coreProperties>
</file>